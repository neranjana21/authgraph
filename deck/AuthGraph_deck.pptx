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691a95ac-0180-9356-7dea-9768130260d4}">
          <p14:sldIdLst>
            <p14:sldId id="256"/>
            <p14:sldId id="257"/>
            <p14:sldId id="258"/>
            <p14:sldId id="259"/>
            <p14:sldId id="260"/>
          </p14:sldIdLst>
        </p14:section>
        <p14:section name="Method" id="{c64b1849-92c0-d36f-95ce-294e8d48929e}">
          <p14:sldIdLst>
            <p14:sldId id="261"/>
            <p14:sldId id="262"/>
            <p14:sldId id="263"/>
            <p14:sldId id="264"/>
          </p14:sldIdLst>
        </p14:section>
        <p14:section name="Results" id="{63239820-f19f-df10-6aac-059ad93e5174}">
          <p14:sldIdLst>
            <p14:sldId id="265"/>
            <p14:sldId id="266"/>
            <p14:sldId id="267"/>
            <p14:sldId id="268"/>
            <p14:sldId id="269"/>
          </p14:sldIdLst>
        </p14:section>
        <p14:section name="Trust and demo" id="{c7c913dd-30d8-66aa-7ec3-f78dc3764648}">
          <p14:sldIdLst>
            <p14:sldId id="270"/>
            <p14:sldId id="271"/>
            <p14:sldId id="272"/>
          </p14:sldIdLst>
        </p14:section>
        <p14:section name="Wrap-up" id="{8e8e516a-4bbd-b5ad-3c01-d5acb066ee31}">
          <p14:sldIdLst>
            <p14:sldId id="273"/>
            <p14:sldId id="274"/>
          </p14:sldIdLst>
        </p14:section>
        <p14:section name="Appendix" id="{04932230-d100-1d4f-b3d4-51a4ae160012}">
          <p14:sldIdLst>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3CEDB"/>
                </a:solidFill>
                <a:latin typeface="+mn-lt"/>
              </a:defRPr>
            </a:pPr>
            <a:r>
              <a:rPr sz="1300" b="0" i="0" u="none" strike="noStrike">
                <a:solidFill>
                  <a:srgbClr val="C3CEDB"/>
                </a:solidFill>
                <a:latin typeface="+mn-lt"/>
              </a:rPr>
              <a:t>F1 on held-out extensions (mean of 5 splits; axis starts at 0.80)</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8B9BB4"/>
            </a:solidFill>
            <a:effectLst/>
          </c:spPr>
          <c:invertIfNegative val="0"/>
          <c:dLbls>
            <c:numFmt formatCode="0.000" sourceLinked="0"/>
            <c:txPr>
              <a:bodyPr/>
              <a:lstStyle/>
              <a:p>
                <a:pPr>
                  <a:defRPr b="0" i="0" strike="noStrike" sz="1100" u="none">
                    <a:solidFill>
                      <a:srgbClr val="E5ECF4"/>
                    </a:solidFill>
                    <a:latin typeface="+mn-lt"/>
                  </a:defRPr>
                </a:pPr>
              </a:p>
            </c:txPr>
            <c:showLegendKey val="0"/>
            <c:showVal val="1"/>
            <c:showCatName val="0"/>
            <c:showSerName val="0"/>
            <c:showPercent val="0"/>
            <c:showBubbleSize val="0"/>
            <c:showLeaderLines val="0"/>
          </c:dLbls>
          <c:dPt>
            <c:idx val="0"/>
            <c:invertIfNegative val="0"/>
            <c:bubble3D val="0"/>
            <c:spPr>
              <a:solidFill>
                <a:srgbClr val="8B9BB4"/>
              </a:solidFill>
              <a:effectLst/>
            </c:spPr>
          </c:dPt>
          <c:dPt>
            <c:idx val="1"/>
            <c:invertIfNegative val="0"/>
            <c:bubble3D val="0"/>
            <c:spPr>
              <a:solidFill>
                <a:srgbClr val="6B7A91"/>
              </a:solidFill>
              <a:effectLst/>
            </c:spPr>
          </c:dPt>
          <c:dPt>
            <c:idx val="2"/>
            <c:invertIfNegative val="0"/>
            <c:bubble3D val="0"/>
            <c:spPr>
              <a:solidFill>
                <a:srgbClr val="F2C14E"/>
              </a:solidFill>
              <a:effectLst/>
            </c:spPr>
          </c:dPt>
          <c:dPt>
            <c:idx val="3"/>
            <c:invertIfNegative val="0"/>
            <c:bubble3D val="0"/>
            <c:spPr>
              <a:solidFill>
                <a:srgbClr val="F59E0B"/>
              </a:solidFill>
              <a:effectLst/>
            </c:spPr>
          </c:dPt>
          <c:dPt>
            <c:idx val="4"/>
            <c:invertIfNegative val="0"/>
            <c:bubble3D val="0"/>
            <c:spPr>
              <a:solidFill>
                <a:srgbClr val="E879F9"/>
              </a:solidFill>
              <a:effectLst/>
            </c:spPr>
          </c:dPt>
          <c:dPt>
            <c:idx val="5"/>
            <c:invertIfNegative val="0"/>
            <c:bubble3D val="0"/>
            <c:spPr>
              <a:solidFill>
                <a:srgbClr val="3B82F6"/>
              </a:solidFill>
              <a:effectLst/>
            </c:spPr>
          </c:dPt>
          <c:dPt>
            <c:idx val="6"/>
            <c:invertIfNegative val="0"/>
            <c:bubble3D val="0"/>
            <c:spPr>
              <a:solidFill>
                <a:srgbClr val="22B8CF"/>
              </a:solidFill>
              <a:effectLst/>
            </c:spPr>
          </c:dPt>
          <c:dPt>
            <c:idx val="7"/>
            <c:invertIfNegative val="0"/>
            <c:bubble3D val="0"/>
            <c:spPr>
              <a:solidFill>
                <a:srgbClr val="A78BFA"/>
              </a:solidFill>
              <a:effectLst/>
            </c:spPr>
          </c:dPt>
          <c:cat>
            <c:multiLvlStrRef>
              <c:f>Sheet1!$A$2:$A$9</c:f>
              <c:multiLvlStrCache>
                <c:ptCount val="8"/>
                <c:lvl>
                  <c:pt idx="0">
                    <c:v>Rule R1</c:v>
                  </c:pt>
                  <c:pt idx="1">
                    <c:v>Rule R2</c:v>
                  </c:pt>
                  <c:pt idx="2">
                    <c:v>RF (counts)</c:v>
                  </c:pt>
                  <c:pt idx="3">
                    <c:v>RF (+reach.)</c:v>
                  </c:pt>
                  <c:pt idx="4">
                    <c:v>MLP</c:v>
                  </c:pt>
                  <c:pt idx="5">
                    <c:v>GCN</c:v>
                  </c:pt>
                  <c:pt idx="6">
                    <c:v>GraphSAGE</c:v>
                  </c:pt>
                  <c:pt idx="7">
                    <c:v>R-GCN</c:v>
                  </c:pt>
                </c:lvl>
              </c:multiLvlStrCache>
            </c:multiLvlStrRef>
          </c:cat>
          <c:val>
            <c:numRef>
              <c:f>Sheet1!$B$2:$B$9</c:f>
              <c:numCache>
                <c:formatCode>General</c:formatCode>
                <c:ptCount val="8"/>
                <c:pt idx="0">
                  <c:v>0.923</c:v>
                </c:pt>
                <c:pt idx="1">
                  <c:v>0.945</c:v>
                </c:pt>
                <c:pt idx="2">
                  <c:v>0.984</c:v>
                </c:pt>
                <c:pt idx="3">
                  <c:v>0.974</c:v>
                </c:pt>
                <c:pt idx="4">
                  <c:v>0.957</c:v>
                </c:pt>
                <c:pt idx="5">
                  <c:v>0.934</c:v>
                </c:pt>
                <c:pt idx="6">
                  <c:v>0.988</c:v>
                </c:pt>
                <c:pt idx="7">
                  <c:v>0.904</c:v>
                </c:pt>
              </c:numCache>
            </c:numRef>
          </c:val>
        </c:ser>
        <c:dLbls>
          <c:numFmt formatCode="0.000" sourceLinked="0"/>
          <c:txPr>
            <a:bodyPr/>
            <a:lstStyle/>
            <a:p>
              <a:pPr>
                <a:defRPr b="0" i="0" strike="noStrike" sz="1100" u="none">
                  <a:solidFill>
                    <a:srgbClr val="E5ECF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3CEDB"/>
                </a:solidFill>
                <a:latin typeface="+mn-lt"/>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22314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C3CEDB"/>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3CEDB"/>
                </a:solidFill>
                <a:latin typeface="+mn-lt"/>
              </a:defRPr>
            </a:pPr>
            <a:r>
              <a:rPr sz="1300" b="0" i="0" u="none" strike="noStrike">
                <a:solidFill>
                  <a:srgbClr val="C3CEDB"/>
                </a:solidFill>
                <a:latin typeface="+mn-lt"/>
              </a:rPr>
              <a:t>Wasm flows (S3 + S5) removed from training; mean of 5 splits</a:t>
            </a:r>
          </a:p>
        </c:rich>
      </c:tx>
      <c:layout/>
      <c:overlay val="0"/>
    </c:title>
    <c:autoTitleDeleted val="0"/>
    <c:plotArea>
      <c:layout/>
      <c:barChart>
        <c:barDir val="col"/>
        <c:grouping val="clustered"/>
        <c:varyColors val="0"/>
        <c:ser>
          <c:idx val="0"/>
          <c:order val="0"/>
          <c:tx>
            <c:strRef>
              <c:f>Sheet1!$B$1</c:f>
              <c:strCache>
                <c:ptCount val="1"/>
                <c:pt idx="0">
                  <c:v>Recall on never-seen flows</c:v>
                </c:pt>
              </c:strCache>
            </c:strRef>
          </c:tx>
          <c:spPr>
            <a:solidFill>
              <a:srgbClr val="22B8CF"/>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Sheet1!$A$2:$A$9</c:f>
              <c:multiLvlStrCache>
                <c:ptCount val="8"/>
                <c:lvl>
                  <c:pt idx="0">
                    <c:v>Rule R1</c:v>
                  </c:pt>
                  <c:pt idx="1">
                    <c:v>Rule R2</c:v>
                  </c:pt>
                  <c:pt idx="2">
                    <c:v>RF (counts)</c:v>
                  </c:pt>
                  <c:pt idx="3">
                    <c:v>RF (+reach.)</c:v>
                  </c:pt>
                  <c:pt idx="4">
                    <c:v>MLP</c:v>
                  </c:pt>
                  <c:pt idx="5">
                    <c:v>GCN</c:v>
                  </c:pt>
                  <c:pt idx="6">
                    <c:v>GraphSAGE</c:v>
                  </c:pt>
                  <c:pt idx="7">
                    <c:v>R-GCN</c:v>
                  </c:pt>
                </c:lvl>
              </c:multiLvlStrCache>
            </c:multiLvlStrRef>
          </c:cat>
          <c:val>
            <c:numRef>
              <c:f>Sheet1!$B$2:$B$9</c:f>
              <c:numCache>
                <c:formatCode>General</c:formatCode>
                <c:ptCount val="8"/>
                <c:pt idx="0">
                  <c:v>1</c:v>
                </c:pt>
                <c:pt idx="1">
                  <c:v>0.646</c:v>
                </c:pt>
                <c:pt idx="2">
                  <c:v>0.646</c:v>
                </c:pt>
                <c:pt idx="3">
                  <c:v>0.688</c:v>
                </c:pt>
                <c:pt idx="4">
                  <c:v>0.617</c:v>
                </c:pt>
                <c:pt idx="5">
                  <c:v>0.694</c:v>
                </c:pt>
                <c:pt idx="6">
                  <c:v>0.929</c:v>
                </c:pt>
                <c:pt idx="7">
                  <c:v>0.45</c:v>
                </c:pt>
              </c:numCache>
            </c:numRef>
          </c:val>
        </c:ser>
        <c:ser>
          <c:idx val="1"/>
          <c:order val="1"/>
          <c:tx>
            <c:strRef>
              <c:f>Sheet1!$C$1</c:f>
              <c:strCache>
                <c:ptCount val="1"/>
                <c:pt idx="0">
                  <c:v>False-positive rate</c:v>
                </c:pt>
              </c:strCache>
            </c:strRef>
          </c:tx>
          <c:spPr>
            <a:solidFill>
              <a:srgbClr val="FF5C5C"/>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Sheet1!$A$2:$A$9</c:f>
              <c:multiLvlStrCache>
                <c:ptCount val="8"/>
                <c:lvl>
                  <c:pt idx="0">
                    <c:v>Rule R1</c:v>
                  </c:pt>
                  <c:pt idx="1">
                    <c:v>Rule R2</c:v>
                  </c:pt>
                  <c:pt idx="2">
                    <c:v>RF (counts)</c:v>
                  </c:pt>
                  <c:pt idx="3">
                    <c:v>RF (+reach.)</c:v>
                  </c:pt>
                  <c:pt idx="4">
                    <c:v>MLP</c:v>
                  </c:pt>
                  <c:pt idx="5">
                    <c:v>GCN</c:v>
                  </c:pt>
                  <c:pt idx="6">
                    <c:v>GraphSAGE</c:v>
                  </c:pt>
                  <c:pt idx="7">
                    <c:v>R-GCN</c:v>
                  </c:pt>
                </c:lvl>
              </c:multiLvlStrCache>
            </c:multiLvlStrRef>
          </c:cat>
          <c:val>
            <c:numRef>
              <c:f>Sheet1!$C$2:$C$9</c:f>
              <c:numCache>
                <c:formatCode>General</c:formatCode>
                <c:ptCount val="8"/>
                <c:pt idx="0">
                  <c:v>0.167</c:v>
                </c:pt>
                <c:pt idx="1">
                  <c:v>0</c:v>
                </c:pt>
                <c:pt idx="2">
                  <c:v>0</c:v>
                </c:pt>
                <c:pt idx="3">
                  <c:v>0</c:v>
                </c:pt>
                <c:pt idx="4">
                  <c:v>0.033</c:v>
                </c:pt>
                <c:pt idx="5">
                  <c:v>0.087</c:v>
                </c:pt>
                <c:pt idx="6">
                  <c:v>0.037</c:v>
                </c:pt>
                <c:pt idx="7">
                  <c:v>0.071</c:v>
                </c:pt>
              </c:numCache>
            </c:numRef>
          </c:val>
        </c:ser>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3CEDB"/>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22314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C3CEDB"/>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C3CED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3CEDB"/>
                </a:solidFill>
                <a:latin typeface="+mn-lt"/>
              </a:defRPr>
            </a:pPr>
            <a:r>
              <a:rPr sz="1300" b="0" i="0" u="none" strike="noStrike">
                <a:solidFill>
                  <a:srgbClr val="C3CEDB"/>
                </a:solidFill>
                <a:latin typeface="+mn-lt"/>
              </a:rPr>
              <a:t>Recall on the held-out suspicious family (mean of 5 splits)</a:t>
            </a:r>
          </a:p>
        </c:rich>
      </c:tx>
      <c:layout/>
      <c:overlay val="0"/>
    </c:title>
    <c:autoTitleDeleted val="0"/>
    <c:plotArea>
      <c:layout/>
      <c:barChart>
        <c:barDir val="col"/>
        <c:grouping val="clustered"/>
        <c:varyColors val="0"/>
        <c:ser>
          <c:idx val="0"/>
          <c:order val="0"/>
          <c:tx>
            <c:strRef>
              <c:f>Sheet1!$B$1</c:f>
              <c:strCache>
                <c:ptCount val="1"/>
                <c:pt idx="0">
                  <c:v>Leave out S3 (credential via Wasm)</c:v>
                </c:pt>
              </c:strCache>
            </c:strRef>
          </c:tx>
          <c:spPr>
            <a:solidFill>
              <a:srgbClr val="A78BFA"/>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Sheet1!$A$2:$A$7</c:f>
              <c:multiLvlStrCache>
                <c:ptCount val="6"/>
                <c:lvl>
                  <c:pt idx="0">
                    <c:v>Rule R2</c:v>
                  </c:pt>
                  <c:pt idx="1">
                    <c:v>RF (counts)</c:v>
                  </c:pt>
                  <c:pt idx="2">
                    <c:v>MLP</c:v>
                  </c:pt>
                  <c:pt idx="3">
                    <c:v>GCN</c:v>
                  </c:pt>
                  <c:pt idx="4">
                    <c:v>GraphSAGE</c:v>
                  </c:pt>
                  <c:pt idx="5">
                    <c:v>R-GCN</c:v>
                  </c:pt>
                </c:lvl>
              </c:multiLvlStrCache>
            </c:multiLvlStrRef>
          </c:cat>
          <c:val>
            <c:numRef>
              <c:f>Sheet1!$B$2:$B$7</c:f>
              <c:numCache>
                <c:formatCode>General</c:formatCode>
                <c:ptCount val="6"/>
                <c:pt idx="0">
                  <c:v>0.458</c:v>
                </c:pt>
                <c:pt idx="1">
                  <c:v>0.592</c:v>
                </c:pt>
                <c:pt idx="2">
                  <c:v>0.7</c:v>
                </c:pt>
                <c:pt idx="3">
                  <c:v>0.975</c:v>
                </c:pt>
                <c:pt idx="4">
                  <c:v>1</c:v>
                </c:pt>
                <c:pt idx="5">
                  <c:v>0.521</c:v>
                </c:pt>
              </c:numCache>
            </c:numRef>
          </c:val>
        </c:ser>
        <c:ser>
          <c:idx val="1"/>
          <c:order val="1"/>
          <c:tx>
            <c:strRef>
              <c:f>Sheet1!$C$1</c:f>
              <c:strCache>
                <c:ptCount val="1"/>
                <c:pt idx="0">
                  <c:v>Leave out S5 (staged multi-component)</c:v>
                </c:pt>
              </c:strCache>
            </c:strRef>
          </c:tx>
          <c:spPr>
            <a:solidFill>
              <a:srgbClr val="F2C14E"/>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Sheet1!$A$2:$A$7</c:f>
              <c:multiLvlStrCache>
                <c:ptCount val="6"/>
                <c:lvl>
                  <c:pt idx="0">
                    <c:v>Rule R2</c:v>
                  </c:pt>
                  <c:pt idx="1">
                    <c:v>RF (counts)</c:v>
                  </c:pt>
                  <c:pt idx="2">
                    <c:v>MLP</c:v>
                  </c:pt>
                  <c:pt idx="3">
                    <c:v>GCN</c:v>
                  </c:pt>
                  <c:pt idx="4">
                    <c:v>GraphSAGE</c:v>
                  </c:pt>
                  <c:pt idx="5">
                    <c:v>R-GCN</c:v>
                  </c:pt>
                </c:lvl>
              </c:multiLvlStrCache>
            </c:multiLvlStrRef>
          </c:cat>
          <c:val>
            <c:numRef>
              <c:f>Sheet1!$C$2:$C$7</c:f>
              <c:numCache>
                <c:formatCode>General</c:formatCode>
                <c:ptCount val="6"/>
                <c:pt idx="0">
                  <c:v>0.833</c:v>
                </c:pt>
                <c:pt idx="1">
                  <c:v>0.963</c:v>
                </c:pt>
                <c:pt idx="2">
                  <c:v>0.754</c:v>
                </c:pt>
                <c:pt idx="3">
                  <c:v>0.733</c:v>
                </c:pt>
                <c:pt idx="4">
                  <c:v>0.954</c:v>
                </c:pt>
                <c:pt idx="5">
                  <c:v>0.525</c:v>
                </c:pt>
              </c:numCache>
            </c:numRef>
          </c:val>
        </c:ser>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3CEDB"/>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22314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C3CEDB"/>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C3CED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3CEDB"/>
                </a:solidFill>
                <a:latin typeface="+mn-lt"/>
              </a:defRPr>
            </a:pPr>
            <a:r>
              <a:rPr sz="1300" b="0" i="0" u="none" strike="noStrike">
                <a:solidFill>
                  <a:srgbClr val="C3CEDB"/>
                </a:solidFill>
                <a:latin typeface="+mn-lt"/>
              </a:rPr>
              <a:t>F1 after removing information (mean of 5 splits; axis starts at 0.75)</a:t>
            </a:r>
          </a:p>
        </c:rich>
      </c:tx>
      <c:layout/>
      <c:overlay val="0"/>
    </c:title>
    <c:autoTitleDeleted val="0"/>
    <c:plotArea>
      <c:layout/>
      <c:barChart>
        <c:barDir val="col"/>
        <c:grouping val="clustered"/>
        <c:varyColors val="0"/>
        <c:ser>
          <c:idx val="0"/>
          <c:order val="0"/>
          <c:tx>
            <c:strRef>
              <c:f>Sheet1!$B$1</c:f>
              <c:strCache>
                <c:ptCount val="1"/>
                <c:pt idx="0">
                  <c:v>GraphSAGE</c:v>
                </c:pt>
              </c:strCache>
            </c:strRef>
          </c:tx>
          <c:spPr>
            <a:solidFill>
              <a:srgbClr val="22B8CF"/>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Sheet1!$A$2:$A$6</c:f>
              <c:multiLvlStrCache>
                <c:ptCount val="5"/>
                <c:lvl>
                  <c:pt idx="0">
                    <c:v>Full graph</c:v>
                  </c:pt>
                  <c:pt idx="1">
                    <c:v>− auth nodes</c:v>
                  </c:pt>
                  <c:pt idx="2">
                    <c:v>− JS/Wasm nodes</c:v>
                  </c:pt>
                  <c:pt idx="3">
                    <c:v>− destinations</c:v>
                  </c:pt>
                  <c:pt idx="4">
                    <c:v>− taint edges</c:v>
                  </c:pt>
                </c:lvl>
              </c:multiLvlStrCache>
            </c:multiLvlStrRef>
          </c:cat>
          <c:val>
            <c:numRef>
              <c:f>Sheet1!$B$2:$B$6</c:f>
              <c:numCache>
                <c:formatCode>General</c:formatCode>
                <c:ptCount val="5"/>
                <c:pt idx="0">
                  <c:v>0.988</c:v>
                </c:pt>
                <c:pt idx="1">
                  <c:v>0.917</c:v>
                </c:pt>
                <c:pt idx="2">
                  <c:v>0.988</c:v>
                </c:pt>
                <c:pt idx="3">
                  <c:v>0.899</c:v>
                </c:pt>
                <c:pt idx="4">
                  <c:v>0.948</c:v>
                </c:pt>
              </c:numCache>
            </c:numRef>
          </c:val>
        </c:ser>
        <c:ser>
          <c:idx val="1"/>
          <c:order val="1"/>
          <c:tx>
            <c:strRef>
              <c:f>Sheet1!$C$1</c:f>
              <c:strCache>
                <c:ptCount val="1"/>
                <c:pt idx="0">
                  <c:v>RF (counts)</c:v>
                </c:pt>
              </c:strCache>
            </c:strRef>
          </c:tx>
          <c:spPr>
            <a:solidFill>
              <a:srgbClr val="F2C14E"/>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Sheet1!$A$2:$A$6</c:f>
              <c:multiLvlStrCache>
                <c:ptCount val="5"/>
                <c:lvl>
                  <c:pt idx="0">
                    <c:v>Full graph</c:v>
                  </c:pt>
                  <c:pt idx="1">
                    <c:v>− auth nodes</c:v>
                  </c:pt>
                  <c:pt idx="2">
                    <c:v>− JS/Wasm nodes</c:v>
                  </c:pt>
                  <c:pt idx="3">
                    <c:v>− destinations</c:v>
                  </c:pt>
                  <c:pt idx="4">
                    <c:v>− taint edges</c:v>
                  </c:pt>
                </c:lvl>
              </c:multiLvlStrCache>
            </c:multiLvlStrRef>
          </c:cat>
          <c:val>
            <c:numRef>
              <c:f>Sheet1!$C$2:$C$6</c:f>
              <c:numCache>
                <c:formatCode>General</c:formatCode>
                <c:ptCount val="5"/>
                <c:pt idx="0">
                  <c:v>0.984</c:v>
                </c:pt>
                <c:pt idx="1">
                  <c:v>0.872</c:v>
                </c:pt>
                <c:pt idx="2">
                  <c:v>0.946</c:v>
                </c:pt>
                <c:pt idx="3">
                  <c:v>0.891</c:v>
                </c:pt>
                <c:pt idx="4">
                  <c:v>0.91</c:v>
                </c:pt>
              </c:numCache>
            </c:numRef>
          </c:val>
        </c:ser>
        <c:ser>
          <c:idx val="2"/>
          <c:order val="2"/>
          <c:tx>
            <c:strRef>
              <c:f>Sheet1!$D$1</c:f>
              <c:strCache>
                <c:ptCount val="1"/>
                <c:pt idx="0">
                  <c:v>R-GCN</c:v>
                </c:pt>
              </c:strCache>
            </c:strRef>
          </c:tx>
          <c:spPr>
            <a:solidFill>
              <a:srgbClr val="A78BFA"/>
            </a:solidFill>
            <a:effectLst/>
          </c:spPr>
          <c:invertIfNegative val="0"/>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cat>
            <c:multiLvlStrRef>
              <c:f>Sheet1!$A$2:$A$6</c:f>
              <c:multiLvlStrCache>
                <c:ptCount val="5"/>
                <c:lvl>
                  <c:pt idx="0">
                    <c:v>Full graph</c:v>
                  </c:pt>
                  <c:pt idx="1">
                    <c:v>− auth nodes</c:v>
                  </c:pt>
                  <c:pt idx="2">
                    <c:v>− JS/Wasm nodes</c:v>
                  </c:pt>
                  <c:pt idx="3">
                    <c:v>− destinations</c:v>
                  </c:pt>
                  <c:pt idx="4">
                    <c:v>− taint edges</c:v>
                  </c:pt>
                </c:lvl>
              </c:multiLvlStrCache>
            </c:multiLvlStrRef>
          </c:cat>
          <c:val>
            <c:numRef>
              <c:f>Sheet1!$D$2:$D$6</c:f>
              <c:numCache>
                <c:formatCode>General</c:formatCode>
                <c:ptCount val="5"/>
                <c:pt idx="0">
                  <c:v>0.904</c:v>
                </c:pt>
                <c:pt idx="1">
                  <c:v>0.839</c:v>
                </c:pt>
                <c:pt idx="2">
                  <c:v>0.901</c:v>
                </c:pt>
                <c:pt idx="3">
                  <c:v>0.877</c:v>
                </c:pt>
                <c:pt idx="4">
                  <c:v>0.851</c:v>
                </c:pt>
              </c:numCache>
            </c:numRef>
          </c:val>
        </c:ser>
        <c:dLbls>
          <c:numFmt formatCode="0.00" sourceLinked="0"/>
          <c:txPr>
            <a:bodyPr/>
            <a:lstStyle/>
            <a:p>
              <a:pPr>
                <a:defRPr b="0" i="0" strike="noStrike" sz="1000" u="none">
                  <a:solidFill>
                    <a:srgbClr val="E5EC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3CEDB"/>
                </a:solidFill>
                <a:latin typeface="+mn-lt"/>
              </a:defRPr>
            </a:pPr>
            <a:endParaRPr lang="en-US"/>
          </a:p>
        </c:txPr>
        <c:crossAx val="2094734552"/>
        <c:crosses val="autoZero"/>
        <c:auto val="1"/>
        <c:lblAlgn val="ctr"/>
        <c:noMultiLvlLbl val="1"/>
      </c:catAx>
      <c:valAx>
        <c:axId val="2094734552"/>
        <c:scaling>
          <c:orientation val="minMax"/>
          <c:max val="1"/>
          <c:min val="0.75"/>
        </c:scaling>
        <c:delete val="0"/>
        <c:axPos val="l"/>
        <c:majorGridlines>
          <c:spPr>
            <a:ln w="6350" cap="flat">
              <a:solidFill>
                <a:srgbClr val="22314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C3CEDB"/>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C3CED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3CEDB"/>
                </a:solidFill>
                <a:latin typeface="+mn-lt"/>
              </a:defRPr>
            </a:pPr>
            <a:r>
              <a:rPr sz="1300" b="0" i="0" u="none" strike="noStrike">
                <a:solidFill>
                  <a:srgbClr val="C3CEDB"/>
                </a:solidFill>
                <a:latin typeface="+mn-lt"/>
              </a:rPr>
              <a:t>Sessions scoring ≥ 99.9%</a:t>
            </a:r>
          </a:p>
        </c:rich>
      </c:tx>
      <c:layout/>
      <c:overlay val="0"/>
    </c:title>
    <c:autoTitleDeleted val="0"/>
    <c:plotArea>
      <c:layout/>
      <c:barChart>
        <c:barDir val="col"/>
        <c:grouping val="clustered"/>
        <c:varyColors val="0"/>
        <c:ser>
          <c:idx val="0"/>
          <c:order val="0"/>
          <c:tx>
            <c:strRef>
              <c:f>Sheet1!$B$1</c:f>
              <c:strCache>
                <c:ptCount val="1"/>
                <c:pt idx="0">
                  <c:v>Single model</c:v>
                </c:pt>
              </c:strCache>
            </c:strRef>
          </c:tx>
          <c:spPr>
            <a:solidFill>
              <a:srgbClr val="8B9BB4"/>
            </a:solidFill>
            <a:effectLst/>
          </c:spPr>
          <c:invertIfNegative val="0"/>
          <c:dLbls>
            <c:numFmt formatCode="0&quot;%&quot;" sourceLinked="0"/>
            <c:txPr>
              <a:bodyPr/>
              <a:lstStyle/>
              <a:p>
                <a:pPr>
                  <a:defRPr b="0" i="0" strike="noStrike" sz="1100" u="none">
                    <a:solidFill>
                      <a:srgbClr val="E5ECF4"/>
                    </a:solidFill>
                    <a:latin typeface="+mn-lt"/>
                  </a:defRPr>
                </a:pPr>
              </a:p>
            </c:txPr>
            <c:showLegendKey val="0"/>
            <c:showVal val="1"/>
            <c:showCatName val="0"/>
            <c:showSerName val="0"/>
            <c:showPercent val="0"/>
            <c:showBubbleSize val="0"/>
            <c:showLeaderLines val="0"/>
          </c:dLbls>
          <c:cat>
            <c:multiLvlStrRef>
              <c:f>Sheet1!$A$2:$A$3</c:f>
              <c:multiLvlStrCache>
                <c:ptCount val="2"/>
                <c:lvl>
                  <c:pt idx="0">
                    <c:v>GraphSAGE</c:v>
                  </c:pt>
                  <c:pt idx="1">
                    <c:v>R-GCN</c:v>
                  </c:pt>
                </c:lvl>
              </c:multiLvlStrCache>
            </c:multiLvlStrRef>
          </c:cat>
          <c:val>
            <c:numRef>
              <c:f>Sheet1!$B$2:$B$3</c:f>
              <c:numCache>
                <c:formatCode>General</c:formatCode>
                <c:ptCount val="2"/>
                <c:pt idx="0">
                  <c:v>90</c:v>
                </c:pt>
                <c:pt idx="1">
                  <c:v>45</c:v>
                </c:pt>
              </c:numCache>
            </c:numRef>
          </c:val>
        </c:ser>
        <c:ser>
          <c:idx val="1"/>
          <c:order val="1"/>
          <c:tx>
            <c:strRef>
              <c:f>Sheet1!$C$1</c:f>
              <c:strCache>
                <c:ptCount val="1"/>
                <c:pt idx="0">
                  <c:v>10-model ensemble</c:v>
                </c:pt>
              </c:strCache>
            </c:strRef>
          </c:tx>
          <c:spPr>
            <a:solidFill>
              <a:srgbClr val="22B8CF"/>
            </a:solidFill>
            <a:effectLst/>
          </c:spPr>
          <c:invertIfNegative val="0"/>
          <c:dLbls>
            <c:numFmt formatCode="0&quot;%&quot;" sourceLinked="0"/>
            <c:txPr>
              <a:bodyPr/>
              <a:lstStyle/>
              <a:p>
                <a:pPr>
                  <a:defRPr b="0" i="0" strike="noStrike" sz="1100" u="none">
                    <a:solidFill>
                      <a:srgbClr val="E5ECF4"/>
                    </a:solidFill>
                    <a:latin typeface="+mn-lt"/>
                  </a:defRPr>
                </a:pPr>
              </a:p>
            </c:txPr>
            <c:showLegendKey val="0"/>
            <c:showVal val="1"/>
            <c:showCatName val="0"/>
            <c:showSerName val="0"/>
            <c:showPercent val="0"/>
            <c:showBubbleSize val="0"/>
            <c:showLeaderLines val="0"/>
          </c:dLbls>
          <c:cat>
            <c:multiLvlStrRef>
              <c:f>Sheet1!$A$2:$A$3</c:f>
              <c:multiLvlStrCache>
                <c:ptCount val="2"/>
                <c:lvl>
                  <c:pt idx="0">
                    <c:v>GraphSAGE</c:v>
                  </c:pt>
                  <c:pt idx="1">
                    <c:v>R-GCN</c:v>
                  </c:pt>
                </c:lvl>
              </c:multiLvlStrCache>
            </c:multiLvlStrRef>
          </c:cat>
          <c:val>
            <c:numRef>
              <c:f>Sheet1!$C$2:$C$3</c:f>
              <c:numCache>
                <c:formatCode>General</c:formatCode>
                <c:ptCount val="2"/>
                <c:pt idx="0">
                  <c:v>69</c:v>
                </c:pt>
                <c:pt idx="1">
                  <c:v>8</c:v>
                </c:pt>
              </c:numCache>
            </c:numRef>
          </c:val>
        </c:ser>
        <c:dLbls>
          <c:numFmt formatCode="0&quot;%&quot;" sourceLinked="0"/>
          <c:txPr>
            <a:bodyPr/>
            <a:lstStyle/>
            <a:p>
              <a:pPr>
                <a:defRPr b="0" i="0" strike="noStrike" sz="1100" u="none">
                  <a:solidFill>
                    <a:srgbClr val="E5ECF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3CED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2314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C3CEDB"/>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C3CED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 s). Browser extensions can legitimately read cookies and page data, so the security question is not 'is a credential read?' but 'where does it go?'. This project builds a controlled lab that produces real browser telemetry, turns it into an authentication-aware graph, and tests whether graph neural networks detect unauthorized credential flows — including flows that pass through WebAssembly. The picture is the actual output of the system: a session graph with the suspicious credential-to-sink path highlighted in red. Everything runs on localhost with synthetic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(60 s). Top row is a perfectly legitimate extension: it reads the session cookie and sends it to the approved API. Bottom row reads the same cookie through the same API, but routes it through JavaScript or a WebAssembly module and sends it to a destination that is not approved. A detector that only looks at 'cookie API was called' cannot tell these apart. That is why the project models the whole flow as a graph and also builds hard negatives into the dataset — benign sessions that read credentials and use approved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(60 s). Four numbers carry the story. First, the evidence base: 576 real browser sessions, no credential value ever stored. Second, the research moment: with Wasm-involving flows removed from training, GraphSAGE still catches 93% of them, while a taint rule catches 65% and flat count-based models catch 62 to 69%. Third, the honest negative result: our proposed R-GCN reached only 0.45. Fourth, the confidence score: we never print 100%; we quote the lower bound of what was actually observed. Caveat to state out loud: this is synthetic data from a controlled lab, so it demonstrates the method, not real-world prevalence.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(60 s). Be explicit about what is not new. DoubleX and Arcanum are the closest prior art: one static, one dynamic. Graph-based malware detection with heterogeneous GNNs is established. What this project adds is narrower and testable: an authentication-aware graph representation and a controlled comparison against baselines, specifically under unseen flow patterns and with taint lost across the Wasm boundary. Two references (MalSage, the Electronics Wasm paper) were found through search snippets; they should be read in full before a formal citation. Say that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 MODEL AND SAFETY (45 s). All 'attacks' are controlled proof-of-concept behaviours inside an isolated browser profile against a local Flask app. No real user, site, cookie or token is ever involved, and the collector stores only body length and a short hash. We verified this: a search for the token strings in all 7,258 telemetry events found zero. The ground-truth label is a property of the scenario design, which matters for how we interpret the rule baselines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(60 s). Walk left to right. The lab generates extensions; each one is a real Manifest V3 extension loaded into Chromium via Playwright, performing real chrome.cookies, storage, DOM, fetch and WebAssembly calls. Telemetry is written as JSONL with hashed credential IDs, and every request is cross-checked against a server-side log. A graph builder converts each session into a typed graph; detectors score it; an occlusion explainer returns the path. Honest limitation to mention: the telemetry is self-reported by instrumented lab extensions, not captured at browser level the way Arcanum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(60 s). 12 scenario families, 12 generated extensions each, 4 sessions per extension, all run in real Chromium. Six benign families and six controlled-suspicious families. Two benign families are deliberate hard negatives: B4 reads a credential and sends it to the approved API, B5 reads a credential but sends only unrelated data to an analytics host. The integrity panel is measured: no credential value in any event, no schema failures, and the number of requests in telemetry equals the server log in every session. One design choice you must disclose: with probability 0.5 the Wasm output loses its taint tag, modelling a JS-level tracker that cannot see inside Wasm. That gives 34 taint-lost suspicious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(60 s). Each session becomes a heterogeneous graph: components such as the content script and service worker, JavaScript and Wasm modules, browser APIs, credentials, storage objects, requests and destination domains. Orange is the credential; the red path is what the explainer highlights: credential to request to an unapproved domain. Taint information is represented by two dedicated relations, flows_cred and carries, so we can remove them in an ablation and see how much the structure alone contributes. Domain nodes only carry 'approved' and 'is an IP'; no extension names, module names or scenario labels leak into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 (60 s). Three rules guard against self-deception. First, no leakage: the split is by extension, so no extension appears in both train and test, and unseen-flow tests withhold whole scenario families. Second, fair tuning: all three GNNs get the same validation-only grid; the test sets are never touched. Third, nothing hidden: every run is in experiments.csv and the first untuned run is kept alongside the tuned one. Disclose: scikit-learn's tree module was blocked by a local Windows policy, so the Random Forest is a small NumPy implementation; we did not bypass the policy. Std over five splits understates uncertainty because test sets overlap across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1 (60 s). On the standard extension-level split, almost everything works, because when taint is visible the task is nearly trivial: even a Random Forest on counts gets 0.98. GraphSAGE is the best learned model at 0.988. Rule R1, the 'credential plus unapproved request' co-occurrence rule, gets perfect recall but flags 16.7% of benign sessions. R-GCN trails at 0.904. The honest reading: this split does not discriminate between methods. That is why the next two slides, unseen flows and taint-lost sessions, are the informative tests. Note the axis starts at 0.80 to make differences visible;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2 — THE RESEARCH MOMENT (90 s). We removed every Wasm-involving suspicious family, S3 and S5, from training. The test is 96 never-seen suspicious sessions plus 48 benign ones from unseen extensions. GraphSAGE still detects 93% at a 3.7% false-positive rate. The taint rule only reaches 65%, because the taint tag is lost inside Wasm. Flat count-based models reach 62 to 69%. Rule R1 has perfect recall but only because it flags every session that touches a credential and an unapproved host, which is why its false-positive rate is 16.7%. Then, unprompted: our proposed R-GCN reached only 0.45. Do not oversell the 0.93: this is one synthetic distribution and five overlapping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3 (60 s). Leaving out only S3 (credential via Wasm) or only S5 (staged across components) tells the same story: GraphSAGE generalises, the taint rule and flat models are less reliable, and R-GCN struggles. The right panel is the sharpest evidence for why a graph helps: in the 25 test sessions where taint was lost inside Wasm, Rule R2 detects none by construction, while GraphSAGE detects all of them. Caveat: part of that advantage may be dataset regularities, such as a credential connected to an unapproved domain in a small graph, which real extensions would not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(45 s). We removed one kind of information at a time and retrained everything. Removing destination information hurts the most, and removing credential nodes hurts next: the model genuinely uses the destination and the authentication context. Taint edges help by about four F1 points for GraphSAGE, but without them it still reaches 0.948, so structure alone carries a lot. Removing the JS and Wasm nodes barely changes GraphSAGE. Be careful to state that the y-axis starts at 0.75; all models are high on this standard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RESULT (60 s). We expected the heterogeneous R-GCN to win. It did not, in either run. The untuned version had 349 thousand parameters; after a validation-only search with basis decomposition it has 5.5 thousand, and it is still worse than GraphSAGE. The diagnosis is a hypothesis, not a finding: on two of five splits it stopped at epoch 10 and 21 with training loss still near 0.2, and per-relation weights may not transfer to relation combinations never seen in training with only about 350 graphs. We did not tune on the test data, we kept the untuned run, and we did not rewrite the story around the model we wished had won. That is the point of reporting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(60 s). The system does not just say 'suspicious'. It removes each node and edge in turn, re-scores the graph, and reports how much the log-odds fall. The red path in the screenshot is the highest-importance route from the credential, through the POST request, to the unapproved sink. Two honesty points: importance is occlusion on the model output, not attention weights; and when the score is saturated and no single removal matters, the dashboard shows a structural shortest path and says so. We have not measured how faithful these explanations are against known ground-truth paths. That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(75 s). A raw softmax from one small network saturates near 100%, which is not believable. We tried temperature scaling, Platt scaling and binning on the single model, cross-fitted on 576 out-of-fold predictions, and none beat the raw scores. What does help is an ensemble: averaging ten independently trained models lowers log-loss and Brier for both architectures, and the share of sessions scoring 99.9% or more drops from 90% to 69% for GraphSAGE and from 45% to 8% for R-GCN. ECE improves for GraphSAGE and is about the same for R-GCN. The dashboard then quotes the 95% lower bound of the accuracy actually observed in the score band, so GraphSAGE's top band, 550 of 550 correct, reads 'at least 99.3%'. State the caveat: on never-seen flow families R-GCN's confidence is badly off, ECE 0.287 at 61% accuracy, and bands come from the same synthetic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min). Open the dashboard. Step 1: Live Lab Run, scenario 1 'Authenticated API Call'. The system generates a brand-new extension, runs it in real Chromium, and shows BENIGN with no flagged path. Step 2: scenario 3, 'Credential via WebAssembly', which shows SUSPICIOUS with the red credential-to-sink path and the confidence card. Step 3: Unseen-Flow and Ablation page for the research chart. Step 4: Model Comparison. If a live run misses, say so; do not re-roll until it looks good. Session Replay is the fallback: press Play and watch the graph build and the verdict appear at the end. While a session is still in progress the card says 'OBSERVING' with a provisional risk number; verdict and confidence appear only for complete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AND NEXT STEPS (60 s). The biggest limitation is realism: our extensions are generated from a small vocabulary and report their own telemetry, so results demonstrate the method on a controlled distribution, not detection rates on real malware. The Wasm taint-drop rate is a design parameter, not a measured property of real trackers. The next steps that would change the conclusions most are browser-level telemetry and real extensions, then an adversary who adapts to the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(45 s). Three sentences. One: the system works end to end in a real browser. Two: graph structure helps precisely where instrumentation fails, which is the Wasm boundary. Three: we report what lost, and everything, including failures, is documented and reproducible. Then invite questions; the appendix has the full tables, ROC and PR curves, confusion matrices, training curves and calibration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Full table behind slide 10. Latency is offline CPU inference, not a deployed real-time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 ROC and PR curves for split 0 on held-out test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C. Confusion matrices (split 0), training and validation loss for the three GNNs, and inference latency per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 Single model versus ensemble, the pooled score bands with Wilson intervals, and the never-seen-flow calibration of the saved ensembles.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 Reproducibility and the explicit list of things that were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 References. The Electronics paper and MalSage were located via search snippets and should be read in full before a formal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18872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
        <p:nvSpPr>
          <p:cNvPr id="3" name="Text 0"/>
          <p:cNvSpPr/>
          <p:nvPr>
            <p:ph idx="101" type="body" hasCustomPrompt="1"/>
          </p:nvPr>
        </p:nvSpPr>
        <p:spPr>
          <a:xfrm>
            <a:off x="731520" y="3017520"/>
            <a:ext cx="5669280" cy="146304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tx2"/>
                </a:solidFill>
              </a:rPr>
              <a:t>AuthGraph · credential-flow detection in browser extensions</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188720"/>
          </a:xfrm>
          <a:prstGeom prst="rect">
            <a:avLst/>
          </a:prstGeom>
          <a:noFill/>
          <a:ln/>
        </p:spPr>
        <p:txBody>
          <a:bodyPr wrap="square" lIns="0" tIns="0" rIns="0" bIns="0" rtlCol="0" anchor="ctr"/>
          <a:lstStyle/>
          <a:p>
            <a:pPr algn="l" indent="0" marL="0">
              <a:buNone/>
            </a:pPr>
            <a:r>
              <a:rPr lang="en-US" sz="6000" b="1" dirty="0">
                <a:solidFill>
                  <a:schemeClr val="tx1"/>
                </a:solidFill>
              </a:rPr>
              <a:t>AuthGraph</a:t>
            </a:r>
            <a:endParaRPr lang="en-US" sz="6000" dirty="0"/>
          </a:p>
        </p:txBody>
      </p:sp>
      <p:sp>
        <p:nvSpPr>
          <p:cNvPr id="3" name="Text 0"/>
          <p:cNvSpPr/>
          <p:nvPr>
            <p:ph idx="101" type="body" hasCustomPrompt="1"/>
          </p:nvPr>
        </p:nvSpPr>
        <p:spPr>
          <a:xfrm>
            <a:off x="731520" y="3017520"/>
            <a:ext cx="5669280" cy="1463040"/>
          </a:xfrm>
          <a:prstGeom prst="rect">
            <a:avLst/>
          </a:prstGeom>
          <a:noFill/>
          <a:ln/>
        </p:spPr>
        <p:txBody>
          <a:bodyPr wrap="square" lIns="0" tIns="0" rIns="0" bIns="0" rtlCol="0" anchor="t"/>
          <a:lstStyle/>
          <a:p>
            <a:pPr algn="l" indent="0" marL="0">
              <a:buNone/>
            </a:pPr>
            <a:r>
              <a:rPr lang="en-US" sz="2200" dirty="0">
                <a:solidFill>
                  <a:schemeClr val="tx2"/>
                </a:solidFill>
              </a:rPr>
              <a:t>Authentication-aware graph learning to detect unauthorized credential flows in browser extensions</a:t>
            </a:r>
            <a:endParaRPr lang="en-US" sz="2200" dirty="0"/>
          </a:p>
        </p:txBody>
      </p:sp>
      <p:sp>
        <p:nvSpPr>
          <p:cNvPr id="4" name="Text 2"/>
          <p:cNvSpPr txBox="1"/>
          <p:nvPr/>
        </p:nvSpPr>
        <p:spPr>
          <a:xfrm>
            <a:off x="731520" y="4754880"/>
            <a:ext cx="5852160" cy="365760"/>
          </a:xfrm>
          <a:prstGeom prst="rect">
            <a:avLst/>
          </a:prstGeom>
          <a:noFill/>
          <a:ln/>
        </p:spPr>
        <p:txBody>
          <a:bodyPr wrap="square" lIns="0" tIns="0" rIns="0" bIns="0" rtlCol="0" anchor="ctr"/>
          <a:lstStyle/>
          <a:p>
            <a:pPr indent="0" marL="0">
              <a:buNone/>
            </a:pPr>
            <a:r>
              <a:rPr lang="en-US" sz="1400" dirty="0">
                <a:solidFill>
                  <a:schemeClr val="accent1"/>
                </a:solidFill>
              </a:rPr>
              <a:t>Controlled-lab prototype  ·  real Chromium  ·  576 sessions  ·  144 extensions</a:t>
            </a:r>
            <a:endParaRPr lang="en-US" sz="1400" dirty="0"/>
          </a:p>
        </p:txBody>
      </p:sp>
      <p:sp>
        <p:nvSpPr>
          <p:cNvPr id="5" name="Text 3"/>
          <p:cNvSpPr txBox="1"/>
          <p:nvPr/>
        </p:nvSpPr>
        <p:spPr>
          <a:xfrm>
            <a:off x="731520" y="5212080"/>
            <a:ext cx="5852160" cy="365760"/>
          </a:xfrm>
          <a:prstGeom prst="rect">
            <a:avLst/>
          </a:prstGeom>
          <a:noFill/>
          <a:ln/>
        </p:spPr>
        <p:txBody>
          <a:bodyPr wrap="square" lIns="0" tIns="0" rIns="0" bIns="0" rtlCol="0" anchor="ctr"/>
          <a:lstStyle/>
          <a:p>
            <a:pPr indent="0" marL="0">
              <a:buNone/>
            </a:pPr>
            <a:r>
              <a:rPr lang="en-US" sz="1400" dirty="0">
                <a:solidFill>
                  <a:schemeClr val="tx2"/>
                </a:solidFill>
              </a:rPr>
              <a:t>Presented by Neranjana</a:t>
            </a:r>
            <a:endParaRPr lang="en-US" sz="1400" dirty="0"/>
          </a:p>
        </p:txBody>
      </p:sp>
      <p:pic>
        <p:nvPicPr>
          <p:cNvPr id="6" name="cover-hero" descr="cover-hero">    </p:cNvPr>
          <p:cNvPicPr>
            <a:picLocks noChangeAspect="1"/>
          </p:cNvPicPr>
          <p:nvPr/>
        </p:nvPicPr>
        <p:blipFill>
          <a:blip r:embed="rId1"/>
          <a:stretch>
            <a:fillRect/>
          </a:stretch>
        </p:blipFill>
        <p:spPr>
          <a:xfrm>
            <a:off x="6355080" y="2093519"/>
            <a:ext cx="5349240" cy="2579522"/>
          </a:xfrm>
          <a:prstGeom prst="rect">
            <a:avLst/>
          </a:prstGeom>
        </p:spPr>
      </p:pic>
      <p:sp>
        <p:nvSpPr>
          <p:cNvPr id="7" name="frame"/>
          <p:cNvSpPr/>
          <p:nvPr/>
        </p:nvSpPr>
        <p:spPr>
          <a:xfrm>
            <a:off x="6355080" y="2093519"/>
            <a:ext cx="5349240" cy="2579522"/>
          </a:xfrm>
          <a:prstGeom prst="roundRect">
            <a:avLst>
              <a:gd name="adj" fmla="val 2127"/>
            </a:avLst>
          </a:prstGeom>
          <a:ln w="9525">
            <a:solidFill>
              <a:schemeClr val="tx2">
                <a:alpha val="3000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 session cookie is one API call away</a:t>
            </a:r>
            <a:endParaRPr lang="en-US" sz="3200" dirty="0"/>
          </a:p>
        </p:txBody>
      </p:sp>
      <p:sp>
        <p:nvSpPr>
          <p:cNvPr id="3" name="Text 1"/>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800" dirty="0">
                <a:solidFill>
                  <a:schemeClr val="tx2"/>
                </a:solidFill>
              </a:rPr>
              <a:t>Extensions legitimately read cookies, storage and pages. The question is where the credential goes, not whether it is read.</a:t>
            </a:r>
            <a:endParaRPr lang="en-US" sz="1800" dirty="0"/>
          </a:p>
        </p:txBody>
      </p:sp>
      <p:sp>
        <p:nvSpPr>
          <p:cNvPr id="4" name="flow-card"/>
          <p:cNvSpPr/>
          <p:nvPr/>
        </p:nvSpPr>
        <p:spPr>
          <a:xfrm>
            <a:off x="548640" y="2148840"/>
            <a:ext cx="11064240" cy="1600200"/>
          </a:xfrm>
          <a:prstGeom prst="roundRect">
            <a:avLst>
              <a:gd name="adj" fmla="val 6857"/>
            </a:avLst>
          </a:prstGeom>
          <a:solidFill>
            <a:schemeClr val="bg2"/>
          </a:solidFill>
          <a:ln w="9525">
            <a:solidFill>
              <a:schemeClr val="tx2">
                <a:alpha val="25000"/>
              </a:schemeClr>
            </a:solidFill>
            <a:prstDash val="solid"/>
          </a:ln>
        </p:spPr>
      </p:sp>
      <p:sp>
        <p:nvSpPr>
          <p:cNvPr id="5" name="Text 3"/>
          <p:cNvSpPr txBox="1"/>
          <p:nvPr/>
        </p:nvSpPr>
        <p:spPr>
          <a:xfrm>
            <a:off x="822960" y="2258568"/>
            <a:ext cx="5486400" cy="274320"/>
          </a:xfrm>
          <a:prstGeom prst="rect">
            <a:avLst/>
          </a:prstGeom>
          <a:noFill/>
          <a:ln/>
        </p:spPr>
        <p:txBody>
          <a:bodyPr wrap="square" lIns="0" tIns="0" rIns="0" bIns="0" rtlCol="0" anchor="ctr"/>
          <a:lstStyle/>
          <a:p>
            <a:pPr indent="0" marL="0">
              <a:buNone/>
            </a:pPr>
            <a:r>
              <a:rPr lang="en-US" sz="1200" b="1" spc="200" kern="0" dirty="0">
                <a:solidFill>
                  <a:srgbClr val="34D399"/>
                </a:solidFill>
              </a:rPr>
              <a:t>AUTHORIZED  ·  BENIGN</a:t>
            </a:r>
            <a:endParaRPr lang="en-US" sz="1200" dirty="0"/>
          </a:p>
        </p:txBody>
      </p:sp>
      <p:sp>
        <p:nvSpPr>
          <p:cNvPr id="6" name="chip"/>
          <p:cNvSpPr/>
          <p:nvPr/>
        </p:nvSpPr>
        <p:spPr>
          <a:xfrm>
            <a:off x="822960" y="2743200"/>
            <a:ext cx="1783080" cy="566928"/>
          </a:xfrm>
          <a:prstGeom prst="roundRect">
            <a:avLst>
              <a:gd name="adj" fmla="val 16129"/>
            </a:avLst>
          </a:prstGeom>
          <a:solidFill>
            <a:srgbClr val="3B82F6"/>
          </a:solidFill>
          <a:ln w="12700">
            <a:solidFill>
              <a:srgbClr val="3B82F6"/>
            </a:solidFill>
            <a:prstDash val="solid"/>
          </a:ln>
        </p:spPr>
      </p:sp>
      <p:sp>
        <p:nvSpPr>
          <p:cNvPr id="7" name="Text 5"/>
          <p:cNvSpPr txBox="1"/>
          <p:nvPr/>
        </p:nvSpPr>
        <p:spPr>
          <a:xfrm>
            <a:off x="822960" y="27432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Extension</a:t>
            </a:r>
            <a:endParaRPr lang="en-US" sz="1300" dirty="0"/>
          </a:p>
        </p:txBody>
      </p:sp>
      <p:sp>
        <p:nvSpPr>
          <p:cNvPr id="8" name="arrow"/>
          <p:cNvSpPr/>
          <p:nvPr/>
        </p:nvSpPr>
        <p:spPr>
          <a:xfrm>
            <a:off x="2651760" y="3026664"/>
            <a:ext cx="365760" cy="0"/>
          </a:xfrm>
          <a:prstGeom prst="line">
            <a:avLst/>
          </a:prstGeom>
          <a:noFill/>
          <a:ln w="25400">
            <a:solidFill>
              <a:srgbClr val="34D399"/>
            </a:solidFill>
            <a:prstDash val="solid"/>
            <a:tailEnd type="triangle"/>
          </a:ln>
        </p:spPr>
      </p:sp>
      <p:sp>
        <p:nvSpPr>
          <p:cNvPr id="9" name="chip"/>
          <p:cNvSpPr/>
          <p:nvPr/>
        </p:nvSpPr>
        <p:spPr>
          <a:xfrm>
            <a:off x="3063240" y="2743200"/>
            <a:ext cx="1783080" cy="566928"/>
          </a:xfrm>
          <a:prstGeom prst="roundRect">
            <a:avLst>
              <a:gd name="adj" fmla="val 16129"/>
            </a:avLst>
          </a:prstGeom>
          <a:solidFill>
            <a:srgbClr val="5EEAD4"/>
          </a:solidFill>
          <a:ln w="12700">
            <a:solidFill>
              <a:srgbClr val="5EEAD4"/>
            </a:solidFill>
            <a:prstDash val="solid"/>
          </a:ln>
        </p:spPr>
      </p:sp>
      <p:sp>
        <p:nvSpPr>
          <p:cNvPr id="10" name="Text 8"/>
          <p:cNvSpPr txBox="1"/>
          <p:nvPr/>
        </p:nvSpPr>
        <p:spPr>
          <a:xfrm>
            <a:off x="3063240" y="27432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chrome.cookies.get</a:t>
            </a:r>
            <a:endParaRPr lang="en-US" sz="1300" dirty="0"/>
          </a:p>
        </p:txBody>
      </p:sp>
      <p:sp>
        <p:nvSpPr>
          <p:cNvPr id="11" name="arrow"/>
          <p:cNvSpPr/>
          <p:nvPr/>
        </p:nvSpPr>
        <p:spPr>
          <a:xfrm>
            <a:off x="4892040" y="3026664"/>
            <a:ext cx="365760" cy="0"/>
          </a:xfrm>
          <a:prstGeom prst="line">
            <a:avLst/>
          </a:prstGeom>
          <a:noFill/>
          <a:ln w="25400">
            <a:solidFill>
              <a:srgbClr val="34D399"/>
            </a:solidFill>
            <a:prstDash val="solid"/>
            <a:tailEnd type="triangle"/>
          </a:ln>
        </p:spPr>
      </p:sp>
      <p:sp>
        <p:nvSpPr>
          <p:cNvPr id="12" name="chip"/>
          <p:cNvSpPr/>
          <p:nvPr/>
        </p:nvSpPr>
        <p:spPr>
          <a:xfrm>
            <a:off x="5303520" y="2743200"/>
            <a:ext cx="1783080" cy="566928"/>
          </a:xfrm>
          <a:prstGeom prst="roundRect">
            <a:avLst>
              <a:gd name="adj" fmla="val 16129"/>
            </a:avLst>
          </a:prstGeom>
          <a:solidFill>
            <a:srgbClr val="FB923C"/>
          </a:solidFill>
          <a:ln w="12700">
            <a:solidFill>
              <a:srgbClr val="FB923C"/>
            </a:solidFill>
            <a:prstDash val="solid"/>
          </a:ln>
        </p:spPr>
      </p:sp>
      <p:sp>
        <p:nvSpPr>
          <p:cNvPr id="13" name="Text 11"/>
          <p:cNvSpPr txBox="1"/>
          <p:nvPr/>
        </p:nvSpPr>
        <p:spPr>
          <a:xfrm>
            <a:off x="5303520" y="27432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Session credential</a:t>
            </a:r>
            <a:endParaRPr lang="en-US" sz="1300" dirty="0"/>
          </a:p>
        </p:txBody>
      </p:sp>
      <p:sp>
        <p:nvSpPr>
          <p:cNvPr id="14" name="arrow"/>
          <p:cNvSpPr/>
          <p:nvPr/>
        </p:nvSpPr>
        <p:spPr>
          <a:xfrm>
            <a:off x="7132320" y="3026664"/>
            <a:ext cx="365760" cy="0"/>
          </a:xfrm>
          <a:prstGeom prst="line">
            <a:avLst/>
          </a:prstGeom>
          <a:noFill/>
          <a:ln w="25400">
            <a:solidFill>
              <a:srgbClr val="34D399"/>
            </a:solidFill>
            <a:prstDash val="solid"/>
            <a:tailEnd type="triangle"/>
          </a:ln>
        </p:spPr>
      </p:sp>
      <p:sp>
        <p:nvSpPr>
          <p:cNvPr id="15" name="chip"/>
          <p:cNvSpPr/>
          <p:nvPr/>
        </p:nvSpPr>
        <p:spPr>
          <a:xfrm>
            <a:off x="7543800" y="2743200"/>
            <a:ext cx="1783080" cy="566928"/>
          </a:xfrm>
          <a:prstGeom prst="roundRect">
            <a:avLst>
              <a:gd name="adj" fmla="val 16129"/>
            </a:avLst>
          </a:prstGeom>
          <a:solidFill>
            <a:srgbClr val="A78BFA"/>
          </a:solidFill>
          <a:ln w="12700">
            <a:solidFill>
              <a:srgbClr val="A78BFA"/>
            </a:solidFill>
            <a:prstDash val="solid"/>
          </a:ln>
        </p:spPr>
      </p:sp>
      <p:sp>
        <p:nvSpPr>
          <p:cNvPr id="16" name="Text 14"/>
          <p:cNvSpPr txBox="1"/>
          <p:nvPr/>
        </p:nvSpPr>
        <p:spPr>
          <a:xfrm>
            <a:off x="7543800" y="27432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POST request</a:t>
            </a:r>
            <a:endParaRPr lang="en-US" sz="1300" dirty="0"/>
          </a:p>
        </p:txBody>
      </p:sp>
      <p:sp>
        <p:nvSpPr>
          <p:cNvPr id="17" name="arrow"/>
          <p:cNvSpPr/>
          <p:nvPr/>
        </p:nvSpPr>
        <p:spPr>
          <a:xfrm>
            <a:off x="9372600" y="3026664"/>
            <a:ext cx="365760" cy="0"/>
          </a:xfrm>
          <a:prstGeom prst="line">
            <a:avLst/>
          </a:prstGeom>
          <a:noFill/>
          <a:ln w="25400">
            <a:solidFill>
              <a:srgbClr val="34D399"/>
            </a:solidFill>
            <a:prstDash val="solid"/>
            <a:tailEnd type="triangle"/>
          </a:ln>
        </p:spPr>
      </p:sp>
      <p:sp>
        <p:nvSpPr>
          <p:cNvPr id="18" name="chip"/>
          <p:cNvSpPr/>
          <p:nvPr/>
        </p:nvSpPr>
        <p:spPr>
          <a:xfrm>
            <a:off x="9784080" y="2743200"/>
            <a:ext cx="1783080" cy="566928"/>
          </a:xfrm>
          <a:prstGeom prst="roundRect">
            <a:avLst>
              <a:gd name="adj" fmla="val 16129"/>
            </a:avLst>
          </a:prstGeom>
          <a:solidFill>
            <a:srgbClr val="34D399"/>
          </a:solidFill>
          <a:ln w="12700">
            <a:solidFill>
              <a:srgbClr val="34D399"/>
            </a:solidFill>
            <a:prstDash val="solid"/>
          </a:ln>
        </p:spPr>
      </p:sp>
      <p:sp>
        <p:nvSpPr>
          <p:cNvPr id="19" name="Text 17"/>
          <p:cNvSpPr txBox="1"/>
          <p:nvPr/>
        </p:nvSpPr>
        <p:spPr>
          <a:xfrm>
            <a:off x="9784080" y="27432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api.lab.localhost</a:t>
            </a:r>
            <a:endParaRPr lang="en-US" sz="1300" dirty="0"/>
          </a:p>
          <a:p>
            <a:pPr algn="ctr" indent="0" marL="0">
              <a:buNone/>
            </a:pPr>
            <a:r>
              <a:rPr lang="en-US" sz="1300" b="1" dirty="0">
                <a:solidFill>
                  <a:srgbClr val="0A1220"/>
                </a:solidFill>
              </a:rPr>
              <a:t>(approved)</a:t>
            </a:r>
            <a:endParaRPr lang="en-US" sz="1300" dirty="0"/>
          </a:p>
        </p:txBody>
      </p:sp>
      <p:sp>
        <p:nvSpPr>
          <p:cNvPr id="20" name="flow-card"/>
          <p:cNvSpPr/>
          <p:nvPr/>
        </p:nvSpPr>
        <p:spPr>
          <a:xfrm>
            <a:off x="548640" y="3977640"/>
            <a:ext cx="11064240" cy="1600200"/>
          </a:xfrm>
          <a:prstGeom prst="roundRect">
            <a:avLst>
              <a:gd name="adj" fmla="val 6857"/>
            </a:avLst>
          </a:prstGeom>
          <a:solidFill>
            <a:schemeClr val="bg2"/>
          </a:solidFill>
          <a:ln w="9525">
            <a:solidFill>
              <a:schemeClr val="tx2">
                <a:alpha val="25000"/>
              </a:schemeClr>
            </a:solidFill>
            <a:prstDash val="solid"/>
          </a:ln>
        </p:spPr>
      </p:sp>
      <p:sp>
        <p:nvSpPr>
          <p:cNvPr id="21" name="Text 19"/>
          <p:cNvSpPr txBox="1"/>
          <p:nvPr/>
        </p:nvSpPr>
        <p:spPr>
          <a:xfrm>
            <a:off x="822960" y="4087368"/>
            <a:ext cx="5486400" cy="274320"/>
          </a:xfrm>
          <a:prstGeom prst="rect">
            <a:avLst/>
          </a:prstGeom>
          <a:noFill/>
          <a:ln/>
        </p:spPr>
        <p:txBody>
          <a:bodyPr wrap="square" lIns="0" tIns="0" rIns="0" bIns="0" rtlCol="0" anchor="ctr"/>
          <a:lstStyle/>
          <a:p>
            <a:pPr indent="0" marL="0">
              <a:buNone/>
            </a:pPr>
            <a:r>
              <a:rPr lang="en-US" sz="1200" b="1" spc="200" kern="0" dirty="0">
                <a:solidFill>
                  <a:srgbClr val="FF5C5C"/>
                </a:solidFill>
              </a:rPr>
              <a:t>UNAUTHORIZED  ·  SUSPICIOUS</a:t>
            </a:r>
            <a:endParaRPr lang="en-US" sz="1200" dirty="0"/>
          </a:p>
        </p:txBody>
      </p:sp>
      <p:sp>
        <p:nvSpPr>
          <p:cNvPr id="22" name="chip"/>
          <p:cNvSpPr/>
          <p:nvPr/>
        </p:nvSpPr>
        <p:spPr>
          <a:xfrm>
            <a:off x="822960" y="4572000"/>
            <a:ext cx="1783080" cy="566928"/>
          </a:xfrm>
          <a:prstGeom prst="roundRect">
            <a:avLst>
              <a:gd name="adj" fmla="val 16129"/>
            </a:avLst>
          </a:prstGeom>
          <a:solidFill>
            <a:srgbClr val="3B82F6"/>
          </a:solidFill>
          <a:ln w="12700">
            <a:solidFill>
              <a:srgbClr val="3B82F6"/>
            </a:solidFill>
            <a:prstDash val="solid"/>
          </a:ln>
        </p:spPr>
      </p:sp>
      <p:sp>
        <p:nvSpPr>
          <p:cNvPr id="23" name="Text 21"/>
          <p:cNvSpPr txBox="1"/>
          <p:nvPr/>
        </p:nvSpPr>
        <p:spPr>
          <a:xfrm>
            <a:off x="822960" y="45720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Extension</a:t>
            </a:r>
            <a:endParaRPr lang="en-US" sz="1300" dirty="0"/>
          </a:p>
        </p:txBody>
      </p:sp>
      <p:sp>
        <p:nvSpPr>
          <p:cNvPr id="24" name="arrow"/>
          <p:cNvSpPr/>
          <p:nvPr/>
        </p:nvSpPr>
        <p:spPr>
          <a:xfrm>
            <a:off x="2651760" y="4855464"/>
            <a:ext cx="365760" cy="0"/>
          </a:xfrm>
          <a:prstGeom prst="line">
            <a:avLst/>
          </a:prstGeom>
          <a:noFill/>
          <a:ln w="25400">
            <a:solidFill>
              <a:srgbClr val="FF5C5C"/>
            </a:solidFill>
            <a:prstDash val="solid"/>
            <a:tailEnd type="triangle"/>
          </a:ln>
        </p:spPr>
      </p:sp>
      <p:sp>
        <p:nvSpPr>
          <p:cNvPr id="25" name="chip"/>
          <p:cNvSpPr/>
          <p:nvPr/>
        </p:nvSpPr>
        <p:spPr>
          <a:xfrm>
            <a:off x="3063240" y="4572000"/>
            <a:ext cx="1783080" cy="566928"/>
          </a:xfrm>
          <a:prstGeom prst="roundRect">
            <a:avLst>
              <a:gd name="adj" fmla="val 16129"/>
            </a:avLst>
          </a:prstGeom>
          <a:solidFill>
            <a:srgbClr val="5EEAD4"/>
          </a:solidFill>
          <a:ln w="12700">
            <a:solidFill>
              <a:srgbClr val="5EEAD4"/>
            </a:solidFill>
            <a:prstDash val="solid"/>
          </a:ln>
        </p:spPr>
      </p:sp>
      <p:sp>
        <p:nvSpPr>
          <p:cNvPr id="26" name="Text 24"/>
          <p:cNvSpPr txBox="1"/>
          <p:nvPr/>
        </p:nvSpPr>
        <p:spPr>
          <a:xfrm>
            <a:off x="3063240" y="45720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chrome.cookies.get</a:t>
            </a:r>
            <a:endParaRPr lang="en-US" sz="1300" dirty="0"/>
          </a:p>
        </p:txBody>
      </p:sp>
      <p:sp>
        <p:nvSpPr>
          <p:cNvPr id="27" name="arrow"/>
          <p:cNvSpPr/>
          <p:nvPr/>
        </p:nvSpPr>
        <p:spPr>
          <a:xfrm>
            <a:off x="4892040" y="4855464"/>
            <a:ext cx="365760" cy="0"/>
          </a:xfrm>
          <a:prstGeom prst="line">
            <a:avLst/>
          </a:prstGeom>
          <a:noFill/>
          <a:ln w="25400">
            <a:solidFill>
              <a:srgbClr val="FF5C5C"/>
            </a:solidFill>
            <a:prstDash val="solid"/>
            <a:tailEnd type="triangle"/>
          </a:ln>
        </p:spPr>
      </p:sp>
      <p:sp>
        <p:nvSpPr>
          <p:cNvPr id="28" name="chip"/>
          <p:cNvSpPr/>
          <p:nvPr/>
        </p:nvSpPr>
        <p:spPr>
          <a:xfrm>
            <a:off x="5303520" y="4572000"/>
            <a:ext cx="1783080" cy="566928"/>
          </a:xfrm>
          <a:prstGeom prst="roundRect">
            <a:avLst>
              <a:gd name="adj" fmla="val 16129"/>
            </a:avLst>
          </a:prstGeom>
          <a:solidFill>
            <a:srgbClr val="FB923C"/>
          </a:solidFill>
          <a:ln w="12700">
            <a:solidFill>
              <a:srgbClr val="FB923C"/>
            </a:solidFill>
            <a:prstDash val="solid"/>
          </a:ln>
        </p:spPr>
      </p:sp>
      <p:sp>
        <p:nvSpPr>
          <p:cNvPr id="29" name="Text 27"/>
          <p:cNvSpPr txBox="1"/>
          <p:nvPr/>
        </p:nvSpPr>
        <p:spPr>
          <a:xfrm>
            <a:off x="5303520" y="45720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Session credential</a:t>
            </a:r>
            <a:endParaRPr lang="en-US" sz="1300" dirty="0"/>
          </a:p>
        </p:txBody>
      </p:sp>
      <p:sp>
        <p:nvSpPr>
          <p:cNvPr id="30" name="arrow"/>
          <p:cNvSpPr/>
          <p:nvPr/>
        </p:nvSpPr>
        <p:spPr>
          <a:xfrm>
            <a:off x="7132320" y="4855464"/>
            <a:ext cx="365760" cy="0"/>
          </a:xfrm>
          <a:prstGeom prst="line">
            <a:avLst/>
          </a:prstGeom>
          <a:noFill/>
          <a:ln w="25400">
            <a:solidFill>
              <a:srgbClr val="FF5C5C"/>
            </a:solidFill>
            <a:prstDash val="solid"/>
            <a:tailEnd type="triangle"/>
          </a:ln>
        </p:spPr>
      </p:sp>
      <p:sp>
        <p:nvSpPr>
          <p:cNvPr id="31" name="chip"/>
          <p:cNvSpPr/>
          <p:nvPr/>
        </p:nvSpPr>
        <p:spPr>
          <a:xfrm>
            <a:off x="7543800" y="4572000"/>
            <a:ext cx="1783080" cy="566928"/>
          </a:xfrm>
          <a:prstGeom prst="roundRect">
            <a:avLst>
              <a:gd name="adj" fmla="val 16129"/>
            </a:avLst>
          </a:prstGeom>
          <a:solidFill>
            <a:srgbClr val="E879F9"/>
          </a:solidFill>
          <a:ln w="12700">
            <a:solidFill>
              <a:srgbClr val="E879F9"/>
            </a:solidFill>
            <a:prstDash val="solid"/>
          </a:ln>
        </p:spPr>
      </p:sp>
      <p:sp>
        <p:nvSpPr>
          <p:cNvPr id="32" name="Text 30"/>
          <p:cNvSpPr txBox="1"/>
          <p:nvPr/>
        </p:nvSpPr>
        <p:spPr>
          <a:xfrm>
            <a:off x="7543800" y="45720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JS / WebAssembly</a:t>
            </a:r>
            <a:endParaRPr lang="en-US" sz="1300" dirty="0"/>
          </a:p>
        </p:txBody>
      </p:sp>
      <p:sp>
        <p:nvSpPr>
          <p:cNvPr id="33" name="arrow"/>
          <p:cNvSpPr/>
          <p:nvPr/>
        </p:nvSpPr>
        <p:spPr>
          <a:xfrm>
            <a:off x="9372600" y="4855464"/>
            <a:ext cx="365760" cy="0"/>
          </a:xfrm>
          <a:prstGeom prst="line">
            <a:avLst/>
          </a:prstGeom>
          <a:noFill/>
          <a:ln w="25400">
            <a:solidFill>
              <a:srgbClr val="FF5C5C"/>
            </a:solidFill>
            <a:prstDash val="solid"/>
            <a:tailEnd type="triangle"/>
          </a:ln>
        </p:spPr>
      </p:sp>
      <p:sp>
        <p:nvSpPr>
          <p:cNvPr id="34" name="chip"/>
          <p:cNvSpPr/>
          <p:nvPr/>
        </p:nvSpPr>
        <p:spPr>
          <a:xfrm>
            <a:off x="9784080" y="4572000"/>
            <a:ext cx="1783080" cy="566928"/>
          </a:xfrm>
          <a:prstGeom prst="roundRect">
            <a:avLst>
              <a:gd name="adj" fmla="val 16129"/>
            </a:avLst>
          </a:prstGeom>
          <a:solidFill>
            <a:srgbClr val="FF5C5C"/>
          </a:solidFill>
          <a:ln w="12700">
            <a:solidFill>
              <a:srgbClr val="FF5C5C"/>
            </a:solidFill>
            <a:prstDash val="solid"/>
          </a:ln>
        </p:spPr>
      </p:sp>
      <p:sp>
        <p:nvSpPr>
          <p:cNvPr id="35" name="Text 33"/>
          <p:cNvSpPr txBox="1"/>
          <p:nvPr/>
        </p:nvSpPr>
        <p:spPr>
          <a:xfrm>
            <a:off x="9784080" y="457200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sink-a.lab.localhost</a:t>
            </a:r>
            <a:endParaRPr lang="en-US" sz="1300" dirty="0"/>
          </a:p>
          <a:p>
            <a:pPr algn="ctr" indent="0" marL="0">
              <a:buNone/>
            </a:pPr>
            <a:r>
              <a:rPr lang="en-US" sz="1300" b="1" dirty="0">
                <a:solidFill>
                  <a:srgbClr val="0A1220"/>
                </a:solidFill>
              </a:rPr>
              <a:t>(unapproved)</a:t>
            </a:r>
            <a:endParaRPr lang="en-US" sz="1300" dirty="0"/>
          </a:p>
        </p:txBody>
      </p:sp>
      <p:sp>
        <p:nvSpPr>
          <p:cNvPr id="36" name="Text 34"/>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800" b="1" dirty="0">
                <a:solidFill>
                  <a:schemeClr val="tx1"/>
                </a:solidFill>
              </a:rPr>
              <a:t>Same API calls, same credential. Only the destination and the data flow differ, so API-level rules are not enough.</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What we found, in four numbers</a:t>
            </a:r>
            <a:endParaRPr lang="en-US" sz="3200" dirty="0"/>
          </a:p>
        </p:txBody>
      </p:sp>
      <p:sp>
        <p:nvSpPr>
          <p:cNvPr id="3" name="stat"/>
          <p:cNvSpPr/>
          <p:nvPr/>
        </p:nvSpPr>
        <p:spPr>
          <a:xfrm>
            <a:off x="548640" y="1371600"/>
            <a:ext cx="2651760" cy="2377440"/>
          </a:xfrm>
          <a:prstGeom prst="roundRect">
            <a:avLst>
              <a:gd name="adj" fmla="val 4615"/>
            </a:avLst>
          </a:prstGeom>
          <a:solidFill>
            <a:schemeClr val="bg2"/>
          </a:solidFill>
          <a:ln w="9525">
            <a:solidFill>
              <a:schemeClr val="tx2">
                <a:alpha val="25000"/>
              </a:schemeClr>
            </a:solidFill>
            <a:prstDash val="solid"/>
          </a:ln>
        </p:spPr>
      </p:sp>
      <p:sp>
        <p:nvSpPr>
          <p:cNvPr id="4" name="Text 2"/>
          <p:cNvSpPr txBox="1"/>
          <p:nvPr/>
        </p:nvSpPr>
        <p:spPr>
          <a:xfrm>
            <a:off x="731520" y="1508760"/>
            <a:ext cx="2286000" cy="1069848"/>
          </a:xfrm>
          <a:prstGeom prst="rect">
            <a:avLst/>
          </a:prstGeom>
          <a:noFill/>
          <a:ln/>
        </p:spPr>
        <p:txBody>
          <a:bodyPr wrap="square" lIns="0" tIns="0" rIns="0" bIns="0" rtlCol="0" anchor="ctr"/>
          <a:lstStyle/>
          <a:p>
            <a:pPr algn="l" indent="0" marL="0">
              <a:buNone/>
            </a:pPr>
            <a:r>
              <a:rPr lang="en-US" sz="3800" b="1" dirty="0">
                <a:solidFill>
                  <a:srgbClr val="22B8CF"/>
                </a:solidFill>
              </a:rPr>
              <a:t>576</a:t>
            </a:r>
            <a:endParaRPr lang="en-US" sz="3800" dirty="0"/>
          </a:p>
        </p:txBody>
      </p:sp>
      <p:sp>
        <p:nvSpPr>
          <p:cNvPr id="5" name="Text 3"/>
          <p:cNvSpPr txBox="1"/>
          <p:nvPr/>
        </p:nvSpPr>
        <p:spPr>
          <a:xfrm>
            <a:off x="731520" y="2679192"/>
            <a:ext cx="2286000" cy="950976"/>
          </a:xfrm>
          <a:prstGeom prst="rect">
            <a:avLst/>
          </a:prstGeom>
          <a:noFill/>
          <a:ln/>
        </p:spPr>
        <p:txBody>
          <a:bodyPr wrap="square" lIns="0" tIns="0" rIns="0" bIns="0" rtlCol="0" anchor="t"/>
          <a:lstStyle/>
          <a:p>
            <a:pPr algn="l" indent="0" marL="0">
              <a:buNone/>
            </a:pPr>
            <a:r>
              <a:rPr lang="en-US" sz="1400" dirty="0">
                <a:solidFill>
                  <a:schemeClr val="tx1"/>
                </a:solidFill>
              </a:rPr>
              <a:t>real browser sessions from 144 generated MV3 extensions in 12 scenarios; 0 credential leaks</a:t>
            </a:r>
            <a:endParaRPr lang="en-US" sz="1400" dirty="0"/>
          </a:p>
        </p:txBody>
      </p:sp>
      <p:sp>
        <p:nvSpPr>
          <p:cNvPr id="6" name="stat"/>
          <p:cNvSpPr/>
          <p:nvPr/>
        </p:nvSpPr>
        <p:spPr>
          <a:xfrm>
            <a:off x="3355848" y="1371600"/>
            <a:ext cx="2651760" cy="2377440"/>
          </a:xfrm>
          <a:prstGeom prst="roundRect">
            <a:avLst>
              <a:gd name="adj" fmla="val 4615"/>
            </a:avLst>
          </a:prstGeom>
          <a:solidFill>
            <a:schemeClr val="bg2"/>
          </a:solidFill>
          <a:ln w="9525">
            <a:solidFill>
              <a:schemeClr val="tx2">
                <a:alpha val="25000"/>
              </a:schemeClr>
            </a:solidFill>
            <a:prstDash val="solid"/>
          </a:ln>
        </p:spPr>
      </p:sp>
      <p:sp>
        <p:nvSpPr>
          <p:cNvPr id="7" name="Text 5"/>
          <p:cNvSpPr txBox="1"/>
          <p:nvPr/>
        </p:nvSpPr>
        <p:spPr>
          <a:xfrm>
            <a:off x="3538728" y="1508760"/>
            <a:ext cx="2286000" cy="1069848"/>
          </a:xfrm>
          <a:prstGeom prst="rect">
            <a:avLst/>
          </a:prstGeom>
          <a:noFill/>
          <a:ln/>
        </p:spPr>
        <p:txBody>
          <a:bodyPr wrap="square" lIns="0" tIns="0" rIns="0" bIns="0" rtlCol="0" anchor="ctr"/>
          <a:lstStyle/>
          <a:p>
            <a:pPr algn="l" indent="0" marL="0">
              <a:buNone/>
            </a:pPr>
            <a:r>
              <a:rPr lang="en-US" sz="3800" b="1" dirty="0">
                <a:solidFill>
                  <a:srgbClr val="34D399"/>
                </a:solidFill>
              </a:rPr>
              <a:t>0.929</a:t>
            </a:r>
            <a:endParaRPr lang="en-US" sz="3800" dirty="0"/>
          </a:p>
        </p:txBody>
      </p:sp>
      <p:sp>
        <p:nvSpPr>
          <p:cNvPr id="8" name="Text 6"/>
          <p:cNvSpPr txBox="1"/>
          <p:nvPr/>
        </p:nvSpPr>
        <p:spPr>
          <a:xfrm>
            <a:off x="3538728" y="2679192"/>
            <a:ext cx="2286000" cy="950976"/>
          </a:xfrm>
          <a:prstGeom prst="rect">
            <a:avLst/>
          </a:prstGeom>
          <a:noFill/>
          <a:ln/>
        </p:spPr>
        <p:txBody>
          <a:bodyPr wrap="square" lIns="0" tIns="0" rIns="0" bIns="0" rtlCol="0" anchor="t"/>
          <a:lstStyle/>
          <a:p>
            <a:pPr algn="l" indent="0" marL="0">
              <a:buNone/>
            </a:pPr>
            <a:r>
              <a:rPr lang="en-US" sz="1400" dirty="0">
                <a:solidFill>
                  <a:schemeClr val="tx1"/>
                </a:solidFill>
              </a:rPr>
              <a:t>GraphSAGE recall on Wasm flows never seen in training. Taint rule 0.646, flat models 0.62–0.69</a:t>
            </a:r>
            <a:endParaRPr lang="en-US" sz="1400" dirty="0"/>
          </a:p>
        </p:txBody>
      </p:sp>
      <p:sp>
        <p:nvSpPr>
          <p:cNvPr id="9" name="stat"/>
          <p:cNvSpPr/>
          <p:nvPr/>
        </p:nvSpPr>
        <p:spPr>
          <a:xfrm>
            <a:off x="6163056" y="1371600"/>
            <a:ext cx="2651760" cy="2377440"/>
          </a:xfrm>
          <a:prstGeom prst="roundRect">
            <a:avLst>
              <a:gd name="adj" fmla="val 4615"/>
            </a:avLst>
          </a:prstGeom>
          <a:solidFill>
            <a:schemeClr val="bg2"/>
          </a:solidFill>
          <a:ln w="9525">
            <a:solidFill>
              <a:schemeClr val="tx2">
                <a:alpha val="25000"/>
              </a:schemeClr>
            </a:solidFill>
            <a:prstDash val="solid"/>
          </a:ln>
        </p:spPr>
      </p:sp>
      <p:sp>
        <p:nvSpPr>
          <p:cNvPr id="10" name="Text 8"/>
          <p:cNvSpPr txBox="1"/>
          <p:nvPr/>
        </p:nvSpPr>
        <p:spPr>
          <a:xfrm>
            <a:off x="6345936" y="1508760"/>
            <a:ext cx="2286000" cy="1069848"/>
          </a:xfrm>
          <a:prstGeom prst="rect">
            <a:avLst/>
          </a:prstGeom>
          <a:noFill/>
          <a:ln/>
        </p:spPr>
        <p:txBody>
          <a:bodyPr wrap="square" lIns="0" tIns="0" rIns="0" bIns="0" rtlCol="0" anchor="ctr"/>
          <a:lstStyle/>
          <a:p>
            <a:pPr algn="l" indent="0" marL="0">
              <a:buNone/>
            </a:pPr>
            <a:r>
              <a:rPr lang="en-US" sz="3800" b="1" dirty="0">
                <a:solidFill>
                  <a:srgbClr val="A78BFA"/>
                </a:solidFill>
              </a:rPr>
              <a:t>0.450</a:t>
            </a:r>
            <a:endParaRPr lang="en-US" sz="3800" dirty="0"/>
          </a:p>
        </p:txBody>
      </p:sp>
      <p:sp>
        <p:nvSpPr>
          <p:cNvPr id="11" name="Text 9"/>
          <p:cNvSpPr txBox="1"/>
          <p:nvPr/>
        </p:nvSpPr>
        <p:spPr>
          <a:xfrm>
            <a:off x="6345936" y="2679192"/>
            <a:ext cx="2286000" cy="950976"/>
          </a:xfrm>
          <a:prstGeom prst="rect">
            <a:avLst/>
          </a:prstGeom>
          <a:noFill/>
          <a:ln/>
        </p:spPr>
        <p:txBody>
          <a:bodyPr wrap="square" lIns="0" tIns="0" rIns="0" bIns="0" rtlCol="0" anchor="t"/>
          <a:lstStyle/>
          <a:p>
            <a:pPr algn="l" indent="0" marL="0">
              <a:buNone/>
            </a:pPr>
            <a:r>
              <a:rPr lang="en-US" sz="1400" dirty="0">
                <a:solidFill>
                  <a:schemeClr val="tx1"/>
                </a:solidFill>
              </a:rPr>
              <a:t>R-GCN, our proposed heterogeneous model, on the same test. It lost, and we report it</a:t>
            </a:r>
            <a:endParaRPr lang="en-US" sz="1400" dirty="0"/>
          </a:p>
        </p:txBody>
      </p:sp>
      <p:sp>
        <p:nvSpPr>
          <p:cNvPr id="12" name="stat"/>
          <p:cNvSpPr/>
          <p:nvPr/>
        </p:nvSpPr>
        <p:spPr>
          <a:xfrm>
            <a:off x="8970264" y="1371600"/>
            <a:ext cx="2651760" cy="2377440"/>
          </a:xfrm>
          <a:prstGeom prst="roundRect">
            <a:avLst>
              <a:gd name="adj" fmla="val 4615"/>
            </a:avLst>
          </a:prstGeom>
          <a:solidFill>
            <a:schemeClr val="bg2"/>
          </a:solidFill>
          <a:ln w="9525">
            <a:solidFill>
              <a:schemeClr val="tx2">
                <a:alpha val="25000"/>
              </a:schemeClr>
            </a:solidFill>
            <a:prstDash val="solid"/>
          </a:ln>
        </p:spPr>
      </p:sp>
      <p:sp>
        <p:nvSpPr>
          <p:cNvPr id="13" name="Text 11"/>
          <p:cNvSpPr txBox="1"/>
          <p:nvPr/>
        </p:nvSpPr>
        <p:spPr>
          <a:xfrm>
            <a:off x="9153144" y="1508760"/>
            <a:ext cx="2286000" cy="1069848"/>
          </a:xfrm>
          <a:prstGeom prst="rect">
            <a:avLst/>
          </a:prstGeom>
          <a:noFill/>
          <a:ln/>
        </p:spPr>
        <p:txBody>
          <a:bodyPr wrap="square" lIns="0" tIns="0" rIns="0" bIns="0" rtlCol="0" anchor="ctr"/>
          <a:lstStyle/>
          <a:p>
            <a:pPr algn="l" indent="0" marL="0">
              <a:buNone/>
            </a:pPr>
            <a:r>
              <a:rPr lang="en-US" sz="3800" b="1" dirty="0">
                <a:solidFill>
                  <a:srgbClr val="F2C14E"/>
                </a:solidFill>
              </a:rPr>
              <a:t>≥99.3%</a:t>
            </a:r>
            <a:endParaRPr lang="en-US" sz="3800" dirty="0"/>
          </a:p>
        </p:txBody>
      </p:sp>
      <p:sp>
        <p:nvSpPr>
          <p:cNvPr id="14" name="Text 12"/>
          <p:cNvSpPr txBox="1"/>
          <p:nvPr/>
        </p:nvSpPr>
        <p:spPr>
          <a:xfrm>
            <a:off x="9153144" y="2679192"/>
            <a:ext cx="2286000" cy="950976"/>
          </a:xfrm>
          <a:prstGeom prst="rect">
            <a:avLst/>
          </a:prstGeom>
          <a:noFill/>
          <a:ln/>
        </p:spPr>
        <p:txBody>
          <a:bodyPr wrap="square" lIns="0" tIns="0" rIns="0" bIns="0" rtlCol="0" anchor="t"/>
          <a:lstStyle/>
          <a:p>
            <a:pPr algn="l" indent="0" marL="0">
              <a:buNone/>
            </a:pPr>
            <a:r>
              <a:rPr lang="en-US" sz="1400" dirty="0">
                <a:solidFill>
                  <a:schemeClr val="tx1"/>
                </a:solidFill>
              </a:rPr>
              <a:t>top-band confidence: the 95% lower bound of accuracy observed on held-out data. Never 100%</a:t>
            </a:r>
            <a:endParaRPr lang="en-US" sz="1400" dirty="0"/>
          </a:p>
        </p:txBody>
      </p:sp>
      <p:sp>
        <p:nvSpPr>
          <p:cNvPr id="15" name="takeaway"/>
          <p:cNvSpPr/>
          <p:nvPr/>
        </p:nvSpPr>
        <p:spPr>
          <a:xfrm>
            <a:off x="548640" y="4023360"/>
            <a:ext cx="11064240" cy="2057400"/>
          </a:xfrm>
          <a:prstGeom prst="roundRect">
            <a:avLst>
              <a:gd name="adj" fmla="val 5333"/>
            </a:avLst>
          </a:prstGeom>
          <a:solidFill>
            <a:schemeClr val="bg2"/>
          </a:solidFill>
          <a:ln w="9525">
            <a:solidFill>
              <a:schemeClr val="tx2">
                <a:alpha val="25000"/>
              </a:schemeClr>
            </a:solidFill>
            <a:prstDash val="solid"/>
          </a:ln>
        </p:spPr>
      </p:sp>
      <p:sp>
        <p:nvSpPr>
          <p:cNvPr id="16" name="Text 14"/>
          <p:cNvSpPr txBox="1"/>
          <p:nvPr/>
        </p:nvSpPr>
        <p:spPr>
          <a:xfrm>
            <a:off x="868680" y="4206240"/>
            <a:ext cx="36576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THE MESSAGE</a:t>
            </a:r>
            <a:endParaRPr lang="en-US" sz="1300" dirty="0"/>
          </a:p>
        </p:txBody>
      </p:sp>
      <p:sp>
        <p:nvSpPr>
          <p:cNvPr id="17" name="Text 15"/>
          <p:cNvSpPr txBox="1"/>
          <p:nvPr/>
        </p:nvSpPr>
        <p:spPr>
          <a:xfrm>
            <a:off x="868680" y="4572000"/>
            <a:ext cx="10424160" cy="1371600"/>
          </a:xfrm>
          <a:prstGeom prst="rect">
            <a:avLst/>
          </a:prstGeom>
          <a:noFill/>
          <a:ln/>
        </p:spPr>
        <p:txBody>
          <a:bodyPr wrap="square" lIns="0" tIns="0" rIns="0" bIns="0" rtlCol="0" anchor="t"/>
          <a:lstStyle/>
          <a:p>
            <a:pPr indent="0" marL="0">
              <a:spcAft>
                <a:spcPts val="1000"/>
              </a:spcAft>
              <a:buNone/>
            </a:pPr>
            <a:r>
              <a:rPr lang="en-US" sz="1800" dirty="0">
                <a:solidFill>
                  <a:schemeClr val="tx1"/>
                </a:solidFill>
              </a:rPr>
              <a:t>Graph structure helps exactly where instrumentation is incomplete: when taint is lost inside WebAssembly, the graph still exposes the flow.</a:t>
            </a:r>
            <a:endParaRPr lang="en-US" sz="1800" dirty="0"/>
          </a:p>
          <a:p>
            <a:pPr indent="0" marL="0">
              <a:spcAft>
                <a:spcPts val="1000"/>
              </a:spcAft>
              <a:buNone/>
            </a:pPr>
            <a:r>
              <a:rPr lang="en-US" sz="1800" dirty="0">
                <a:solidFill>
                  <a:schemeClr val="tx1"/>
                </a:solidFill>
              </a:rPr>
              <a:t>But the relation-typed R-GCN did not beat plain GraphSAGE on this small synthetic dataset. The honest result is the useful one.</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Positioning: a narrow claim on top of strong prior work</a:t>
            </a:r>
            <a:endParaRPr lang="en-US" sz="3200" dirty="0"/>
          </a:p>
        </p:txBody>
      </p:sp>
      <p:sp>
        <p:nvSpPr>
          <p:cNvPr id="3" name="prior"/>
          <p:cNvSpPr/>
          <p:nvPr/>
        </p:nvSpPr>
        <p:spPr>
          <a:xfrm>
            <a:off x="548640" y="1371600"/>
            <a:ext cx="6309360" cy="4754880"/>
          </a:xfrm>
          <a:prstGeom prst="roundRect">
            <a:avLst>
              <a:gd name="adj" fmla="val 2308"/>
            </a:avLst>
          </a:prstGeom>
          <a:solidFill>
            <a:schemeClr val="bg2"/>
          </a:solidFill>
          <a:ln w="9525">
            <a:solidFill>
              <a:schemeClr val="tx2">
                <a:alpha val="25000"/>
              </a:schemeClr>
            </a:solidFill>
            <a:prstDash val="solid"/>
          </a:ln>
        </p:spPr>
      </p:sp>
      <p:sp>
        <p:nvSpPr>
          <p:cNvPr id="4" name="Text 2"/>
          <p:cNvSpPr txBox="1"/>
          <p:nvPr/>
        </p:nvSpPr>
        <p:spPr>
          <a:xfrm>
            <a:off x="822960" y="155448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PRIOR WORK (CHECKED BY SEARCH)</a:t>
            </a:r>
            <a:endParaRPr lang="en-US" sz="1300" dirty="0"/>
          </a:p>
        </p:txBody>
      </p:sp>
      <p:sp>
        <p:nvSpPr>
          <p:cNvPr id="5" name="Text 3"/>
          <p:cNvSpPr txBox="1"/>
          <p:nvPr/>
        </p:nvSpPr>
        <p:spPr>
          <a:xfrm>
            <a:off x="822960" y="1965960"/>
            <a:ext cx="5760720" cy="402336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DoubleX (ACM CCS 2021): static Extension Dependence Graph for vulnerable data flows; 154,484 Chrome extensions.</a:t>
            </a:r>
            <a:endParaRPr lang="en-US" sz="1600" dirty="0"/>
          </a:p>
          <a:p>
            <a:pPr marL="203200" indent="-203200">
              <a:spcAft>
                <a:spcPts val="1200"/>
              </a:spcAft>
              <a:buSzPct val="100000"/>
              <a:buChar char="•"/>
            </a:pPr>
            <a:r>
              <a:rPr lang="en-US" sz="1600" dirty="0">
                <a:solidFill>
                  <a:schemeClr val="tx1"/>
                </a:solidFill>
              </a:rPr>
              <a:t>Arcanum (USENIX Security 2024): dynamic taint tracking of page content to network sinks in modern extensions.</a:t>
            </a:r>
            <a:endParaRPr lang="en-US" sz="1600" dirty="0"/>
          </a:p>
          <a:p>
            <a:pPr marL="203200" indent="-203200">
              <a:spcAft>
                <a:spcPts val="1200"/>
              </a:spcAft>
              <a:buSzPct val="100000"/>
              <a:buChar char="•"/>
            </a:pPr>
            <a:r>
              <a:rPr lang="en-US" sz="1600" dirty="0">
                <a:solidFill>
                  <a:schemeClr val="tx1"/>
                </a:solidFill>
              </a:rPr>
              <a:t>Heterogeneous-graph GNNs for malware behaviour graphs already exist (e.g. MalSage; title seen in search only).</a:t>
            </a:r>
            <a:endParaRPr lang="en-US" sz="1600" dirty="0"/>
          </a:p>
          <a:p>
            <a:pPr marL="203200" indent="-203200">
              <a:spcAft>
                <a:spcPts val="1200"/>
              </a:spcAft>
              <a:buSzPct val="100000"/>
              <a:buChar char="•"/>
            </a:pPr>
            <a:r>
              <a:rPr lang="en-US" sz="1600" dirty="0">
                <a:solidFill>
                  <a:schemeClr val="tx1"/>
                </a:solidFill>
              </a:rPr>
              <a:t>Wasm–JS collaborative attacks on Chrome extensions (Electronics; title seen, not yet read in full).</a:t>
            </a:r>
            <a:endParaRPr lang="en-US" sz="1600" dirty="0"/>
          </a:p>
        </p:txBody>
      </p:sp>
      <p:sp>
        <p:nvSpPr>
          <p:cNvPr id="6" name="claim"/>
          <p:cNvSpPr/>
          <p:nvPr/>
        </p:nvSpPr>
        <p:spPr>
          <a:xfrm>
            <a:off x="7086600" y="1371600"/>
            <a:ext cx="4526280" cy="2651760"/>
          </a:xfrm>
          <a:prstGeom prst="roundRect">
            <a:avLst>
              <a:gd name="adj" fmla="val 4138"/>
            </a:avLst>
          </a:prstGeom>
          <a:solidFill>
            <a:schemeClr val="bg2"/>
          </a:solidFill>
          <a:ln w="9525">
            <a:solidFill>
              <a:schemeClr val="tx2">
                <a:alpha val="25000"/>
              </a:schemeClr>
            </a:solidFill>
            <a:prstDash val="solid"/>
          </a:ln>
        </p:spPr>
      </p:sp>
      <p:sp>
        <p:nvSpPr>
          <p:cNvPr id="7" name="Text 5"/>
          <p:cNvSpPr txBox="1"/>
          <p:nvPr/>
        </p:nvSpPr>
        <p:spPr>
          <a:xfrm>
            <a:off x="7360920" y="1554480"/>
            <a:ext cx="3657600" cy="320040"/>
          </a:xfrm>
          <a:prstGeom prst="rect">
            <a:avLst/>
          </a:prstGeom>
          <a:noFill/>
          <a:ln/>
        </p:spPr>
        <p:txBody>
          <a:bodyPr wrap="square" lIns="0" tIns="0" rIns="0" bIns="0" rtlCol="0" anchor="ctr"/>
          <a:lstStyle/>
          <a:p>
            <a:pPr indent="0" marL="0">
              <a:buNone/>
            </a:pPr>
            <a:r>
              <a:rPr lang="en-US" sz="1300" b="1" spc="200" kern="0" dirty="0">
                <a:solidFill>
                  <a:srgbClr val="34D399"/>
                </a:solidFill>
              </a:rPr>
              <a:t>OUR CLAIM</a:t>
            </a:r>
            <a:endParaRPr lang="en-US" sz="1300" dirty="0"/>
          </a:p>
        </p:txBody>
      </p:sp>
      <p:sp>
        <p:nvSpPr>
          <p:cNvPr id="8" name="Text 6"/>
          <p:cNvSpPr txBox="1"/>
          <p:nvPr/>
        </p:nvSpPr>
        <p:spPr>
          <a:xfrm>
            <a:off x="7360920" y="1920240"/>
            <a:ext cx="4023360" cy="2011680"/>
          </a:xfrm>
          <a:prstGeom prst="rect">
            <a:avLst/>
          </a:prstGeom>
          <a:noFill/>
          <a:ln/>
        </p:spPr>
        <p:txBody>
          <a:bodyPr wrap="square" lIns="0" tIns="0" rIns="0" bIns="0" rtlCol="0" anchor="t"/>
          <a:lstStyle/>
          <a:p>
            <a:pPr indent="0" marL="0">
              <a:buNone/>
            </a:pPr>
            <a:r>
              <a:rPr lang="en-US" sz="1500" dirty="0">
                <a:solidFill>
                  <a:schemeClr val="tx1"/>
                </a:solidFill>
              </a:rPr>
              <a:t>An authentication-aware heterogeneous graph of runtime behaviour, with GNN detection of credential flows, compared with rules, flat ML and homogeneous GNNs under extension-level and unseen-flow splits.</a:t>
            </a:r>
            <a:endParaRPr lang="en-US" sz="1500" dirty="0"/>
          </a:p>
        </p:txBody>
      </p:sp>
      <p:sp>
        <p:nvSpPr>
          <p:cNvPr id="9" name="not-claim"/>
          <p:cNvSpPr/>
          <p:nvPr/>
        </p:nvSpPr>
        <p:spPr>
          <a:xfrm>
            <a:off x="7086600" y="4160520"/>
            <a:ext cx="4526280" cy="1965960"/>
          </a:xfrm>
          <a:prstGeom prst="roundRect">
            <a:avLst>
              <a:gd name="adj" fmla="val 5581"/>
            </a:avLst>
          </a:prstGeom>
          <a:solidFill>
            <a:schemeClr val="bg2"/>
          </a:solidFill>
          <a:ln w="9525">
            <a:solidFill>
              <a:schemeClr val="tx2">
                <a:alpha val="25000"/>
              </a:schemeClr>
            </a:solidFill>
            <a:prstDash val="solid"/>
          </a:ln>
        </p:spPr>
      </p:sp>
      <p:sp>
        <p:nvSpPr>
          <p:cNvPr id="10" name="Text 8"/>
          <p:cNvSpPr txBox="1"/>
          <p:nvPr/>
        </p:nvSpPr>
        <p:spPr>
          <a:xfrm>
            <a:off x="7360920" y="4297680"/>
            <a:ext cx="3657600" cy="320040"/>
          </a:xfrm>
          <a:prstGeom prst="rect">
            <a:avLst/>
          </a:prstGeom>
          <a:noFill/>
          <a:ln/>
        </p:spPr>
        <p:txBody>
          <a:bodyPr wrap="square" lIns="0" tIns="0" rIns="0" bIns="0" rtlCol="0" anchor="ctr"/>
          <a:lstStyle/>
          <a:p>
            <a:pPr indent="0" marL="0">
              <a:buNone/>
            </a:pPr>
            <a:r>
              <a:rPr lang="en-US" sz="1300" b="1" spc="200" kern="0" dirty="0">
                <a:solidFill>
                  <a:srgbClr val="F2C14E"/>
                </a:solidFill>
              </a:rPr>
              <a:t>WE DO NOT CLAIM</a:t>
            </a:r>
            <a:endParaRPr lang="en-US" sz="1300" dirty="0"/>
          </a:p>
        </p:txBody>
      </p:sp>
      <p:sp>
        <p:nvSpPr>
          <p:cNvPr id="11" name="Text 9"/>
          <p:cNvSpPr txBox="1"/>
          <p:nvPr/>
        </p:nvSpPr>
        <p:spPr>
          <a:xfrm>
            <a:off x="7360920" y="4663440"/>
            <a:ext cx="4023360" cy="13716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the first extension graph or detector</a:t>
            </a:r>
            <a:endParaRPr lang="en-US" sz="1400" dirty="0"/>
          </a:p>
          <a:p>
            <a:pPr marL="203200" indent="-203200">
              <a:spcAft>
                <a:spcPts val="500"/>
              </a:spcAft>
              <a:buSzPct val="100000"/>
              <a:buChar char="•"/>
            </a:pPr>
            <a:r>
              <a:rPr lang="en-US" sz="1400" dirty="0">
                <a:solidFill>
                  <a:schemeClr val="tx1"/>
                </a:solidFill>
              </a:rPr>
              <a:t>the first GNN in browser security</a:t>
            </a:r>
            <a:endParaRPr lang="en-US" sz="1400" dirty="0"/>
          </a:p>
          <a:p>
            <a:pPr marL="203200" indent="-203200">
              <a:spcAft>
                <a:spcPts val="500"/>
              </a:spcAft>
              <a:buSzPct val="100000"/>
              <a:buChar char="•"/>
            </a:pPr>
            <a:r>
              <a:rPr lang="en-US" sz="1400" dirty="0">
                <a:solidFill>
                  <a:schemeClr val="tx1"/>
                </a:solidFill>
              </a:rPr>
              <a:t>any result on real-world extensions (NOT YET MEASURED)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 safe lab: nothing leaves localhost</a:t>
            </a:r>
            <a:endParaRPr lang="en-US" sz="3200" dirty="0"/>
          </a:p>
        </p:txBody>
      </p:sp>
      <p:sp>
        <p:nvSpPr>
          <p:cNvPr id="3" name="safe-card"/>
          <p:cNvSpPr/>
          <p:nvPr/>
        </p:nvSpPr>
        <p:spPr>
          <a:xfrm>
            <a:off x="548640" y="1417320"/>
            <a:ext cx="5440680" cy="2103120"/>
          </a:xfrm>
          <a:prstGeom prst="roundRect">
            <a:avLst>
              <a:gd name="adj" fmla="val 5217"/>
            </a:avLst>
          </a:prstGeom>
          <a:solidFill>
            <a:schemeClr val="bg2"/>
          </a:solidFill>
          <a:ln w="9525">
            <a:solidFill>
              <a:schemeClr val="tx2">
                <a:alpha val="25000"/>
              </a:schemeClr>
            </a:solidFill>
            <a:prstDash val="solid"/>
          </a:ln>
        </p:spPr>
      </p:sp>
      <p:pic>
        <p:nvPicPr>
          <p:cNvPr id="4" name="icon-globe" descr="globe">    </p:cNvPr>
          <p:cNvPicPr>
            <a:picLocks noChangeAspect="1"/>
          </p:cNvPicPr>
          <p:nvPr/>
        </p:nvPicPr>
        <p:blipFill>
          <a:blip r:embed="rId1"/>
          <a:stretch>
            <a:fillRect/>
          </a:stretch>
        </p:blipFill>
        <p:spPr>
          <a:xfrm>
            <a:off x="822960" y="1691640"/>
            <a:ext cx="502920" cy="502920"/>
          </a:xfrm>
          <a:prstGeom prst="rect">
            <a:avLst/>
          </a:prstGeom>
        </p:spPr>
      </p:pic>
      <p:sp>
        <p:nvSpPr>
          <p:cNvPr id="5" name="Text 2"/>
          <p:cNvSpPr txBox="1"/>
          <p:nvPr/>
        </p:nvSpPr>
        <p:spPr>
          <a:xfrm>
            <a:off x="1508760" y="1691640"/>
            <a:ext cx="4206240" cy="502920"/>
          </a:xfrm>
          <a:prstGeom prst="rect">
            <a:avLst/>
          </a:prstGeom>
          <a:noFill/>
          <a:ln/>
        </p:spPr>
        <p:txBody>
          <a:bodyPr wrap="square" lIns="0" tIns="0" rIns="0" bIns="0" rtlCol="0" anchor="ctr"/>
          <a:lstStyle/>
          <a:p>
            <a:pPr indent="0" marL="0">
              <a:buNone/>
            </a:pPr>
            <a:r>
              <a:rPr lang="en-US" sz="2000" b="1" dirty="0">
                <a:solidFill>
                  <a:schemeClr val="tx1"/>
                </a:solidFill>
              </a:rPr>
              <a:t>Localhost only</a:t>
            </a:r>
            <a:endParaRPr lang="en-US" sz="2000" dirty="0"/>
          </a:p>
        </p:txBody>
      </p:sp>
      <p:sp>
        <p:nvSpPr>
          <p:cNvPr id="6" name="Text 3"/>
          <p:cNvSpPr txBox="1"/>
          <p:nvPr/>
        </p:nvSpPr>
        <p:spPr>
          <a:xfrm>
            <a:off x="822960" y="2377440"/>
            <a:ext cx="4892040" cy="1005840"/>
          </a:xfrm>
          <a:prstGeom prst="rect">
            <a:avLst/>
          </a:prstGeom>
          <a:noFill/>
          <a:ln/>
        </p:spPr>
        <p:txBody>
          <a:bodyPr wrap="square" lIns="0" tIns="0" rIns="0" bIns="0" rtlCol="0" anchor="t"/>
          <a:lstStyle/>
          <a:p>
            <a:pPr indent="0" marL="0">
              <a:buNone/>
            </a:pPr>
            <a:r>
              <a:rPr lang="en-US" sz="1600" dirty="0">
                <a:solidFill>
                  <a:schemeClr val="tx2"/>
                </a:solidFill>
              </a:rPr>
              <a:t>App on :5000, collector and sink hosts on *.lab.localhost:5001 and 127.0.0.1. No external network.</a:t>
            </a:r>
            <a:endParaRPr lang="en-US" sz="1600" dirty="0"/>
          </a:p>
        </p:txBody>
      </p:sp>
      <p:sp>
        <p:nvSpPr>
          <p:cNvPr id="7" name="safe-card"/>
          <p:cNvSpPr/>
          <p:nvPr/>
        </p:nvSpPr>
        <p:spPr>
          <a:xfrm>
            <a:off x="6172200" y="1417320"/>
            <a:ext cx="5440680" cy="2103120"/>
          </a:xfrm>
          <a:prstGeom prst="roundRect">
            <a:avLst>
              <a:gd name="adj" fmla="val 5217"/>
            </a:avLst>
          </a:prstGeom>
          <a:solidFill>
            <a:schemeClr val="bg2"/>
          </a:solidFill>
          <a:ln w="9525">
            <a:solidFill>
              <a:schemeClr val="tx2">
                <a:alpha val="25000"/>
              </a:schemeClr>
            </a:solidFill>
            <a:prstDash val="solid"/>
          </a:ln>
        </p:spPr>
      </p:sp>
      <p:pic>
        <p:nvPicPr>
          <p:cNvPr id="8" name="icon-lock" descr="lock">    </p:cNvPr>
          <p:cNvPicPr>
            <a:picLocks noChangeAspect="1"/>
          </p:cNvPicPr>
          <p:nvPr/>
        </p:nvPicPr>
        <p:blipFill>
          <a:blip r:embed="rId2"/>
          <a:stretch>
            <a:fillRect/>
          </a:stretch>
        </p:blipFill>
        <p:spPr>
          <a:xfrm>
            <a:off x="6446520" y="1691640"/>
            <a:ext cx="502920" cy="502920"/>
          </a:xfrm>
          <a:prstGeom prst="rect">
            <a:avLst/>
          </a:prstGeom>
        </p:spPr>
      </p:pic>
      <p:sp>
        <p:nvSpPr>
          <p:cNvPr id="9" name="Text 5"/>
          <p:cNvSpPr txBox="1"/>
          <p:nvPr/>
        </p:nvSpPr>
        <p:spPr>
          <a:xfrm>
            <a:off x="7132320" y="1691640"/>
            <a:ext cx="4206240" cy="502920"/>
          </a:xfrm>
          <a:prstGeom prst="rect">
            <a:avLst/>
          </a:prstGeom>
          <a:noFill/>
          <a:ln/>
        </p:spPr>
        <p:txBody>
          <a:bodyPr wrap="square" lIns="0" tIns="0" rIns="0" bIns="0" rtlCol="0" anchor="ctr"/>
          <a:lstStyle/>
          <a:p>
            <a:pPr indent="0" marL="0">
              <a:buNone/>
            </a:pPr>
            <a:r>
              <a:rPr lang="en-US" sz="2000" b="1" dirty="0">
                <a:solidFill>
                  <a:schemeClr val="tx1"/>
                </a:solidFill>
              </a:rPr>
              <a:t>Synthetic credentials</a:t>
            </a:r>
            <a:endParaRPr lang="en-US" sz="2000" dirty="0"/>
          </a:p>
        </p:txBody>
      </p:sp>
      <p:sp>
        <p:nvSpPr>
          <p:cNvPr id="10" name="Text 6"/>
          <p:cNvSpPr txBox="1"/>
          <p:nvPr/>
        </p:nvSpPr>
        <p:spPr>
          <a:xfrm>
            <a:off x="6446520" y="2377440"/>
            <a:ext cx="4892040" cy="1005840"/>
          </a:xfrm>
          <a:prstGeom prst="rect">
            <a:avLst/>
          </a:prstGeom>
          <a:noFill/>
          <a:ln/>
        </p:spPr>
        <p:txBody>
          <a:bodyPr wrap="square" lIns="0" tIns="0" rIns="0" bIns="0" rtlCol="0" anchor="t"/>
          <a:lstStyle/>
          <a:p>
            <a:pPr indent="0" marL="0">
              <a:buNone/>
            </a:pPr>
            <a:r>
              <a:rPr lang="en-US" sz="1600" dirty="0">
                <a:solidFill>
                  <a:schemeClr val="tx2"/>
                </a:solidFill>
              </a:rPr>
              <a:t>Fresh random cookie and JWT per login. Telemetry stores only a hashed ID, never a value.</a:t>
            </a:r>
            <a:endParaRPr lang="en-US" sz="1600" dirty="0"/>
          </a:p>
        </p:txBody>
      </p:sp>
      <p:sp>
        <p:nvSpPr>
          <p:cNvPr id="11" name="safe-card"/>
          <p:cNvSpPr/>
          <p:nvPr/>
        </p:nvSpPr>
        <p:spPr>
          <a:xfrm>
            <a:off x="548640" y="3749040"/>
            <a:ext cx="5440680" cy="2103120"/>
          </a:xfrm>
          <a:prstGeom prst="roundRect">
            <a:avLst>
              <a:gd name="adj" fmla="val 5217"/>
            </a:avLst>
          </a:prstGeom>
          <a:solidFill>
            <a:schemeClr val="bg2"/>
          </a:solidFill>
          <a:ln w="9525">
            <a:solidFill>
              <a:schemeClr val="tx2">
                <a:alpha val="25000"/>
              </a:schemeClr>
            </a:solidFill>
            <a:prstDash val="solid"/>
          </a:ln>
        </p:spPr>
      </p:sp>
      <p:pic>
        <p:nvPicPr>
          <p:cNvPr id="12" name="icon-flask" descr="flask">    </p:cNvPr>
          <p:cNvPicPr>
            <a:picLocks noChangeAspect="1"/>
          </p:cNvPicPr>
          <p:nvPr/>
        </p:nvPicPr>
        <p:blipFill>
          <a:blip r:embed="rId3"/>
          <a:stretch>
            <a:fillRect/>
          </a:stretch>
        </p:blipFill>
        <p:spPr>
          <a:xfrm>
            <a:off x="822960" y="4023360"/>
            <a:ext cx="502920" cy="502920"/>
          </a:xfrm>
          <a:prstGeom prst="rect">
            <a:avLst/>
          </a:prstGeom>
        </p:spPr>
      </p:pic>
      <p:sp>
        <p:nvSpPr>
          <p:cNvPr id="13" name="Text 8"/>
          <p:cNvSpPr txBox="1"/>
          <p:nvPr/>
        </p:nvSpPr>
        <p:spPr>
          <a:xfrm>
            <a:off x="1508760" y="4023360"/>
            <a:ext cx="4206240" cy="502920"/>
          </a:xfrm>
          <a:prstGeom prst="rect">
            <a:avLst/>
          </a:prstGeom>
          <a:noFill/>
          <a:ln/>
        </p:spPr>
        <p:txBody>
          <a:bodyPr wrap="square" lIns="0" tIns="0" rIns="0" bIns="0" rtlCol="0" anchor="ctr"/>
          <a:lstStyle/>
          <a:p>
            <a:pPr indent="0" marL="0">
              <a:buNone/>
            </a:pPr>
            <a:r>
              <a:rPr lang="en-US" sz="2000" b="1" dirty="0">
                <a:solidFill>
                  <a:schemeClr val="tx1"/>
                </a:solidFill>
              </a:rPr>
              <a:t>Controlled behaviours</a:t>
            </a:r>
            <a:endParaRPr lang="en-US" sz="2000" dirty="0"/>
          </a:p>
        </p:txBody>
      </p:sp>
      <p:sp>
        <p:nvSpPr>
          <p:cNvPr id="14" name="Text 9"/>
          <p:cNvSpPr txBox="1"/>
          <p:nvPr/>
        </p:nvSpPr>
        <p:spPr>
          <a:xfrm>
            <a:off x="822960" y="4709160"/>
            <a:ext cx="4892040" cy="1005840"/>
          </a:xfrm>
          <a:prstGeom prst="rect">
            <a:avLst/>
          </a:prstGeom>
          <a:noFill/>
          <a:ln/>
        </p:spPr>
        <p:txBody>
          <a:bodyPr wrap="square" lIns="0" tIns="0" rIns="0" bIns="0" rtlCol="0" anchor="t"/>
          <a:lstStyle/>
          <a:p>
            <a:pPr indent="0" marL="0">
              <a:buNone/>
            </a:pPr>
            <a:r>
              <a:rPr lang="en-US" sz="1600" dirty="0">
                <a:solidFill>
                  <a:schemeClr val="tx2"/>
                </a:solidFill>
              </a:rPr>
              <a:t>Proof-of-concept extensions exist only to produce labelled telemetry. No persistence, no real malware.</a:t>
            </a:r>
            <a:endParaRPr lang="en-US" sz="1600" dirty="0"/>
          </a:p>
        </p:txBody>
      </p:sp>
      <p:sp>
        <p:nvSpPr>
          <p:cNvPr id="15" name="safe-card"/>
          <p:cNvSpPr/>
          <p:nvPr/>
        </p:nvSpPr>
        <p:spPr>
          <a:xfrm>
            <a:off x="6172200" y="3749040"/>
            <a:ext cx="5440680" cy="2103120"/>
          </a:xfrm>
          <a:prstGeom prst="roundRect">
            <a:avLst>
              <a:gd name="adj" fmla="val 5217"/>
            </a:avLst>
          </a:prstGeom>
          <a:solidFill>
            <a:schemeClr val="bg2"/>
          </a:solidFill>
          <a:ln w="9525">
            <a:solidFill>
              <a:schemeClr val="tx2">
                <a:alpha val="25000"/>
              </a:schemeClr>
            </a:solidFill>
            <a:prstDash val="solid"/>
          </a:ln>
        </p:spPr>
      </p:sp>
      <p:pic>
        <p:nvPicPr>
          <p:cNvPr id="16" name="icon-scale" descr="scale">    </p:cNvPr>
          <p:cNvPicPr>
            <a:picLocks noChangeAspect="1"/>
          </p:cNvPicPr>
          <p:nvPr/>
        </p:nvPicPr>
        <p:blipFill>
          <a:blip r:embed="rId4"/>
          <a:stretch>
            <a:fillRect/>
          </a:stretch>
        </p:blipFill>
        <p:spPr>
          <a:xfrm>
            <a:off x="6446520" y="4023360"/>
            <a:ext cx="502920" cy="502920"/>
          </a:xfrm>
          <a:prstGeom prst="rect">
            <a:avLst/>
          </a:prstGeom>
        </p:spPr>
      </p:pic>
      <p:sp>
        <p:nvSpPr>
          <p:cNvPr id="17" name="Text 11"/>
          <p:cNvSpPr txBox="1"/>
          <p:nvPr/>
        </p:nvSpPr>
        <p:spPr>
          <a:xfrm>
            <a:off x="7132320" y="4023360"/>
            <a:ext cx="4206240" cy="502920"/>
          </a:xfrm>
          <a:prstGeom prst="rect">
            <a:avLst/>
          </a:prstGeom>
          <a:noFill/>
          <a:ln/>
        </p:spPr>
        <p:txBody>
          <a:bodyPr wrap="square" lIns="0" tIns="0" rIns="0" bIns="0" rtlCol="0" anchor="ctr"/>
          <a:lstStyle/>
          <a:p>
            <a:pPr indent="0" marL="0">
              <a:buNone/>
            </a:pPr>
            <a:r>
              <a:rPr lang="en-US" sz="2000" b="1" dirty="0">
                <a:solidFill>
                  <a:schemeClr val="tx1"/>
                </a:solidFill>
              </a:rPr>
              <a:t>Label by design</a:t>
            </a:r>
            <a:endParaRPr lang="en-US" sz="2000" dirty="0"/>
          </a:p>
        </p:txBody>
      </p:sp>
      <p:sp>
        <p:nvSpPr>
          <p:cNvPr id="18" name="Text 12"/>
          <p:cNvSpPr txBox="1"/>
          <p:nvPr/>
        </p:nvSpPr>
        <p:spPr>
          <a:xfrm>
            <a:off x="6446520" y="4709160"/>
            <a:ext cx="4892040" cy="1005840"/>
          </a:xfrm>
          <a:prstGeom prst="rect">
            <a:avLst/>
          </a:prstGeom>
          <a:noFill/>
          <a:ln/>
        </p:spPr>
        <p:txBody>
          <a:bodyPr wrap="square" lIns="0" tIns="0" rIns="0" bIns="0" rtlCol="0" anchor="t"/>
          <a:lstStyle/>
          <a:p>
            <a:pPr indent="0" marL="0">
              <a:buNone/>
            </a:pPr>
            <a:r>
              <a:rPr lang="en-US" sz="1600" dirty="0">
                <a:solidFill>
                  <a:schemeClr val="tx2"/>
                </a:solidFill>
              </a:rPr>
              <a:t>Suspicious = credential-derived data sent to an unapproved destination. Fixed by scenario, not by a detector.</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System: from a real browser event to an explained verdict</a:t>
            </a:r>
            <a:endParaRPr lang="en-US" sz="3200" dirty="0"/>
          </a:p>
        </p:txBody>
      </p:sp>
      <p:sp>
        <p:nvSpPr>
          <p:cNvPr id="3" name="stage"/>
          <p:cNvSpPr/>
          <p:nvPr/>
        </p:nvSpPr>
        <p:spPr>
          <a:xfrm>
            <a:off x="548640" y="1828800"/>
            <a:ext cx="1664208" cy="3246120"/>
          </a:xfrm>
          <a:prstGeom prst="roundRect">
            <a:avLst>
              <a:gd name="adj" fmla="val 6593"/>
            </a:avLst>
          </a:prstGeom>
          <a:solidFill>
            <a:schemeClr val="bg2"/>
          </a:solidFill>
          <a:ln w="9525">
            <a:solidFill>
              <a:schemeClr val="tx2">
                <a:alpha val="25000"/>
              </a:schemeClr>
            </a:solidFill>
            <a:prstDash val="solid"/>
          </a:ln>
        </p:spPr>
      </p:sp>
      <p:sp>
        <p:nvSpPr>
          <p:cNvPr id="4" name="icon-bg"/>
          <p:cNvSpPr/>
          <p:nvPr/>
        </p:nvSpPr>
        <p:spPr>
          <a:xfrm>
            <a:off x="1014984" y="2057400"/>
            <a:ext cx="731520" cy="731520"/>
          </a:xfrm>
          <a:prstGeom prst="ellipse">
            <a:avLst/>
          </a:prstGeom>
          <a:solidFill>
            <a:srgbClr val="22B8CF">
              <a:alpha val="20000"/>
            </a:srgbClr>
          </a:solidFill>
          <a:ln w="15875">
            <a:solidFill>
              <a:srgbClr val="22B8CF"/>
            </a:solidFill>
            <a:prstDash val="solid"/>
          </a:ln>
        </p:spPr>
      </p:sp>
      <p:pic>
        <p:nvPicPr>
          <p:cNvPr id="5" name="icon-db" descr="db">    </p:cNvPr>
          <p:cNvPicPr>
            <a:picLocks noChangeAspect="1"/>
          </p:cNvPicPr>
          <p:nvPr/>
        </p:nvPicPr>
        <p:blipFill>
          <a:blip r:embed="rId1"/>
          <a:stretch>
            <a:fillRect/>
          </a:stretch>
        </p:blipFill>
        <p:spPr>
          <a:xfrm>
            <a:off x="1152144" y="2194560"/>
            <a:ext cx="457200" cy="457200"/>
          </a:xfrm>
          <a:prstGeom prst="rect">
            <a:avLst/>
          </a:prstGeom>
        </p:spPr>
      </p:pic>
      <p:sp>
        <p:nvSpPr>
          <p:cNvPr id="6" name="Text 3"/>
          <p:cNvSpPr txBox="1"/>
          <p:nvPr/>
        </p:nvSpPr>
        <p:spPr>
          <a:xfrm>
            <a:off x="640080" y="2926080"/>
            <a:ext cx="1481328" cy="548640"/>
          </a:xfrm>
          <a:prstGeom prst="rect">
            <a:avLst/>
          </a:prstGeom>
          <a:noFill/>
          <a:ln/>
        </p:spPr>
        <p:txBody>
          <a:bodyPr wrap="square" lIns="0" tIns="0" rIns="0" bIns="0" rtlCol="0" anchor="ctr"/>
          <a:lstStyle/>
          <a:p>
            <a:pPr algn="ctr" indent="0" marL="0">
              <a:buNone/>
            </a:pPr>
            <a:r>
              <a:rPr lang="en-US" sz="1500" b="1" dirty="0">
                <a:solidFill>
                  <a:schemeClr val="tx1"/>
                </a:solidFill>
              </a:rPr>
              <a:t>Controlled lab</a:t>
            </a:r>
            <a:endParaRPr lang="en-US" sz="1500" dirty="0"/>
          </a:p>
        </p:txBody>
      </p:sp>
      <p:sp>
        <p:nvSpPr>
          <p:cNvPr id="7" name="Text 4"/>
          <p:cNvSpPr txBox="1"/>
          <p:nvPr/>
        </p:nvSpPr>
        <p:spPr>
          <a:xfrm>
            <a:off x="658368" y="3520440"/>
            <a:ext cx="1444752" cy="1463040"/>
          </a:xfrm>
          <a:prstGeom prst="rect">
            <a:avLst/>
          </a:prstGeom>
          <a:noFill/>
          <a:ln/>
        </p:spPr>
        <p:txBody>
          <a:bodyPr wrap="square" lIns="0" tIns="0" rIns="0" bIns="0" rtlCol="0" anchor="t"/>
          <a:lstStyle/>
          <a:p>
            <a:pPr algn="ctr" indent="0" marL="0">
              <a:buNone/>
            </a:pPr>
            <a:r>
              <a:rPr lang="en-US" sz="1300" dirty="0">
                <a:solidFill>
                  <a:schemeClr val="tx2"/>
                </a:solidFill>
              </a:rPr>
              <a:t>Flask auth app with synthetic cookie/JWT; collector and sink hosts</a:t>
            </a:r>
            <a:endParaRPr lang="en-US" sz="1300" dirty="0"/>
          </a:p>
        </p:txBody>
      </p:sp>
      <p:sp>
        <p:nvSpPr>
          <p:cNvPr id="8" name="arrow"/>
          <p:cNvSpPr/>
          <p:nvPr/>
        </p:nvSpPr>
        <p:spPr>
          <a:xfrm>
            <a:off x="2240280" y="3456432"/>
            <a:ext cx="160934" cy="0"/>
          </a:xfrm>
          <a:prstGeom prst="line">
            <a:avLst/>
          </a:prstGeom>
          <a:noFill/>
          <a:ln w="25400">
            <a:solidFill>
              <a:schemeClr val="tx2"/>
            </a:solidFill>
            <a:prstDash val="solid"/>
            <a:tailEnd type="triangle"/>
          </a:ln>
        </p:spPr>
      </p:sp>
      <p:sp>
        <p:nvSpPr>
          <p:cNvPr id="9" name="stage"/>
          <p:cNvSpPr/>
          <p:nvPr/>
        </p:nvSpPr>
        <p:spPr>
          <a:xfrm>
            <a:off x="2428646" y="1828800"/>
            <a:ext cx="1664208" cy="3246120"/>
          </a:xfrm>
          <a:prstGeom prst="roundRect">
            <a:avLst>
              <a:gd name="adj" fmla="val 6593"/>
            </a:avLst>
          </a:prstGeom>
          <a:solidFill>
            <a:schemeClr val="bg2"/>
          </a:solidFill>
          <a:ln w="9525">
            <a:solidFill>
              <a:schemeClr val="tx2">
                <a:alpha val="25000"/>
              </a:schemeClr>
            </a:solidFill>
            <a:prstDash val="solid"/>
          </a:ln>
        </p:spPr>
      </p:sp>
      <p:sp>
        <p:nvSpPr>
          <p:cNvPr id="10" name="icon-bg"/>
          <p:cNvSpPr/>
          <p:nvPr/>
        </p:nvSpPr>
        <p:spPr>
          <a:xfrm>
            <a:off x="2894990" y="2057400"/>
            <a:ext cx="731520" cy="731520"/>
          </a:xfrm>
          <a:prstGeom prst="ellipse">
            <a:avLst/>
          </a:prstGeom>
          <a:solidFill>
            <a:srgbClr val="3B82F6">
              <a:alpha val="20000"/>
            </a:srgbClr>
          </a:solidFill>
          <a:ln w="15875">
            <a:solidFill>
              <a:srgbClr val="3B82F6"/>
            </a:solidFill>
            <a:prstDash val="solid"/>
          </a:ln>
        </p:spPr>
      </p:sp>
      <p:pic>
        <p:nvPicPr>
          <p:cNvPr id="11" name="icon-puzzle" descr="puzzle">    </p:cNvPr>
          <p:cNvPicPr>
            <a:picLocks noChangeAspect="1"/>
          </p:cNvPicPr>
          <p:nvPr/>
        </p:nvPicPr>
        <p:blipFill>
          <a:blip r:embed="rId2"/>
          <a:stretch>
            <a:fillRect/>
          </a:stretch>
        </p:blipFill>
        <p:spPr>
          <a:xfrm>
            <a:off x="3032150" y="2194560"/>
            <a:ext cx="457200" cy="457200"/>
          </a:xfrm>
          <a:prstGeom prst="rect">
            <a:avLst/>
          </a:prstGeom>
        </p:spPr>
      </p:pic>
      <p:sp>
        <p:nvSpPr>
          <p:cNvPr id="12" name="Text 8"/>
          <p:cNvSpPr txBox="1"/>
          <p:nvPr/>
        </p:nvSpPr>
        <p:spPr>
          <a:xfrm>
            <a:off x="2520086" y="2926080"/>
            <a:ext cx="1481328" cy="548640"/>
          </a:xfrm>
          <a:prstGeom prst="rect">
            <a:avLst/>
          </a:prstGeom>
          <a:noFill/>
          <a:ln/>
        </p:spPr>
        <p:txBody>
          <a:bodyPr wrap="square" lIns="0" tIns="0" rIns="0" bIns="0" rtlCol="0" anchor="ctr"/>
          <a:lstStyle/>
          <a:p>
            <a:pPr algn="ctr" indent="0" marL="0">
              <a:buNone/>
            </a:pPr>
            <a:r>
              <a:rPr lang="en-US" sz="1500" b="1" dirty="0">
                <a:solidFill>
                  <a:schemeClr val="tx1"/>
                </a:solidFill>
              </a:rPr>
              <a:t>Real Chromium</a:t>
            </a:r>
            <a:endParaRPr lang="en-US" sz="1500" dirty="0"/>
          </a:p>
        </p:txBody>
      </p:sp>
      <p:sp>
        <p:nvSpPr>
          <p:cNvPr id="13" name="Text 9"/>
          <p:cNvSpPr txBox="1"/>
          <p:nvPr/>
        </p:nvSpPr>
        <p:spPr>
          <a:xfrm>
            <a:off x="2538374" y="3520440"/>
            <a:ext cx="1444752" cy="1463040"/>
          </a:xfrm>
          <a:prstGeom prst="rect">
            <a:avLst/>
          </a:prstGeom>
          <a:noFill/>
          <a:ln/>
        </p:spPr>
        <p:txBody>
          <a:bodyPr wrap="square" lIns="0" tIns="0" rIns="0" bIns="0" rtlCol="0" anchor="t"/>
          <a:lstStyle/>
          <a:p>
            <a:pPr algn="ctr" indent="0" marL="0">
              <a:buNone/>
            </a:pPr>
            <a:r>
              <a:rPr lang="en-US" sz="1300" dirty="0">
                <a:solidFill>
                  <a:schemeClr val="tx2"/>
                </a:solidFill>
              </a:rPr>
              <a:t>Generated MV3 extensions use chrome.cookies, storage, DOM, fetch and WebAssembly</a:t>
            </a:r>
            <a:endParaRPr lang="en-US" sz="1300" dirty="0"/>
          </a:p>
        </p:txBody>
      </p:sp>
      <p:sp>
        <p:nvSpPr>
          <p:cNvPr id="14" name="arrow"/>
          <p:cNvSpPr/>
          <p:nvPr/>
        </p:nvSpPr>
        <p:spPr>
          <a:xfrm>
            <a:off x="4120286" y="3456432"/>
            <a:ext cx="160934" cy="0"/>
          </a:xfrm>
          <a:prstGeom prst="line">
            <a:avLst/>
          </a:prstGeom>
          <a:noFill/>
          <a:ln w="25400">
            <a:solidFill>
              <a:schemeClr val="tx2"/>
            </a:solidFill>
            <a:prstDash val="solid"/>
            <a:tailEnd type="triangle"/>
          </a:ln>
        </p:spPr>
      </p:sp>
      <p:sp>
        <p:nvSpPr>
          <p:cNvPr id="15" name="stage"/>
          <p:cNvSpPr/>
          <p:nvPr/>
        </p:nvSpPr>
        <p:spPr>
          <a:xfrm>
            <a:off x="4308653" y="1828800"/>
            <a:ext cx="1664208" cy="3246120"/>
          </a:xfrm>
          <a:prstGeom prst="roundRect">
            <a:avLst>
              <a:gd name="adj" fmla="val 6593"/>
            </a:avLst>
          </a:prstGeom>
          <a:solidFill>
            <a:schemeClr val="bg2"/>
          </a:solidFill>
          <a:ln w="9525">
            <a:solidFill>
              <a:schemeClr val="tx2">
                <a:alpha val="25000"/>
              </a:schemeClr>
            </a:solidFill>
            <a:prstDash val="solid"/>
          </a:ln>
        </p:spPr>
      </p:sp>
      <p:sp>
        <p:nvSpPr>
          <p:cNvPr id="16" name="icon-bg"/>
          <p:cNvSpPr/>
          <p:nvPr/>
        </p:nvSpPr>
        <p:spPr>
          <a:xfrm>
            <a:off x="4774997" y="2057400"/>
            <a:ext cx="731520" cy="731520"/>
          </a:xfrm>
          <a:prstGeom prst="ellipse">
            <a:avLst/>
          </a:prstGeom>
          <a:solidFill>
            <a:srgbClr val="F2C14E">
              <a:alpha val="20000"/>
            </a:srgbClr>
          </a:solidFill>
          <a:ln w="15875">
            <a:solidFill>
              <a:srgbClr val="F2C14E"/>
            </a:solidFill>
            <a:prstDash val="solid"/>
          </a:ln>
        </p:spPr>
      </p:sp>
      <p:pic>
        <p:nvPicPr>
          <p:cNvPr id="17" name="icon-net" descr="net">    </p:cNvPr>
          <p:cNvPicPr>
            <a:picLocks noChangeAspect="1"/>
          </p:cNvPicPr>
          <p:nvPr/>
        </p:nvPicPr>
        <p:blipFill>
          <a:blip r:embed="rId3"/>
          <a:stretch>
            <a:fillRect/>
          </a:stretch>
        </p:blipFill>
        <p:spPr>
          <a:xfrm>
            <a:off x="4912157" y="2194560"/>
            <a:ext cx="457200" cy="457200"/>
          </a:xfrm>
          <a:prstGeom prst="rect">
            <a:avLst/>
          </a:prstGeom>
        </p:spPr>
      </p:pic>
      <p:sp>
        <p:nvSpPr>
          <p:cNvPr id="18" name="Text 13"/>
          <p:cNvSpPr txBox="1"/>
          <p:nvPr/>
        </p:nvSpPr>
        <p:spPr>
          <a:xfrm>
            <a:off x="4400093" y="2926080"/>
            <a:ext cx="1481328" cy="548640"/>
          </a:xfrm>
          <a:prstGeom prst="rect">
            <a:avLst/>
          </a:prstGeom>
          <a:noFill/>
          <a:ln/>
        </p:spPr>
        <p:txBody>
          <a:bodyPr wrap="square" lIns="0" tIns="0" rIns="0" bIns="0" rtlCol="0" anchor="ctr"/>
          <a:lstStyle/>
          <a:p>
            <a:pPr algn="ctr" indent="0" marL="0">
              <a:buNone/>
            </a:pPr>
            <a:r>
              <a:rPr lang="en-US" sz="1500" b="1" dirty="0">
                <a:solidFill>
                  <a:schemeClr val="tx1"/>
                </a:solidFill>
              </a:rPr>
              <a:t>Telemetry JSONL</a:t>
            </a:r>
            <a:endParaRPr lang="en-US" sz="1500" dirty="0"/>
          </a:p>
        </p:txBody>
      </p:sp>
      <p:sp>
        <p:nvSpPr>
          <p:cNvPr id="19" name="Text 14"/>
          <p:cNvSpPr txBox="1"/>
          <p:nvPr/>
        </p:nvSpPr>
        <p:spPr>
          <a:xfrm>
            <a:off x="4418381" y="3520440"/>
            <a:ext cx="1444752" cy="1463040"/>
          </a:xfrm>
          <a:prstGeom prst="rect">
            <a:avLst/>
          </a:prstGeom>
          <a:noFill/>
          <a:ln/>
        </p:spPr>
        <p:txBody>
          <a:bodyPr wrap="square" lIns="0" tIns="0" rIns="0" bIns="0" rtlCol="0" anchor="t"/>
          <a:lstStyle/>
          <a:p>
            <a:pPr algn="ctr" indent="0" marL="0">
              <a:buNone/>
            </a:pPr>
            <a:r>
              <a:rPr lang="en-US" sz="1300" dirty="0">
                <a:solidFill>
                  <a:schemeClr val="tx2"/>
                </a:solidFill>
              </a:rPr>
              <a:t>Hashed credential IDs; server-log cross-check of every request</a:t>
            </a:r>
            <a:endParaRPr lang="en-US" sz="1300" dirty="0"/>
          </a:p>
        </p:txBody>
      </p:sp>
      <p:sp>
        <p:nvSpPr>
          <p:cNvPr id="20" name="arrow"/>
          <p:cNvSpPr/>
          <p:nvPr/>
        </p:nvSpPr>
        <p:spPr>
          <a:xfrm>
            <a:off x="6000293" y="3456432"/>
            <a:ext cx="160934" cy="0"/>
          </a:xfrm>
          <a:prstGeom prst="line">
            <a:avLst/>
          </a:prstGeom>
          <a:noFill/>
          <a:ln w="25400">
            <a:solidFill>
              <a:schemeClr val="tx2"/>
            </a:solidFill>
            <a:prstDash val="solid"/>
            <a:tailEnd type="triangle"/>
          </a:ln>
        </p:spPr>
      </p:sp>
      <p:sp>
        <p:nvSpPr>
          <p:cNvPr id="21" name="stage"/>
          <p:cNvSpPr/>
          <p:nvPr/>
        </p:nvSpPr>
        <p:spPr>
          <a:xfrm>
            <a:off x="6188659" y="1828800"/>
            <a:ext cx="1664208" cy="3246120"/>
          </a:xfrm>
          <a:prstGeom prst="roundRect">
            <a:avLst>
              <a:gd name="adj" fmla="val 6593"/>
            </a:avLst>
          </a:prstGeom>
          <a:solidFill>
            <a:schemeClr val="bg2"/>
          </a:solidFill>
          <a:ln w="9525">
            <a:solidFill>
              <a:schemeClr val="tx2">
                <a:alpha val="25000"/>
              </a:schemeClr>
            </a:solidFill>
            <a:prstDash val="solid"/>
          </a:ln>
        </p:spPr>
      </p:sp>
      <p:sp>
        <p:nvSpPr>
          <p:cNvPr id="22" name="icon-bg"/>
          <p:cNvSpPr/>
          <p:nvPr/>
        </p:nvSpPr>
        <p:spPr>
          <a:xfrm>
            <a:off x="6655003" y="2057400"/>
            <a:ext cx="731520" cy="731520"/>
          </a:xfrm>
          <a:prstGeom prst="ellipse">
            <a:avLst/>
          </a:prstGeom>
          <a:solidFill>
            <a:srgbClr val="34D399">
              <a:alpha val="20000"/>
            </a:srgbClr>
          </a:solidFill>
          <a:ln w="15875">
            <a:solidFill>
              <a:srgbClr val="34D399"/>
            </a:solidFill>
            <a:prstDash val="solid"/>
          </a:ln>
        </p:spPr>
      </p:sp>
      <p:pic>
        <p:nvPicPr>
          <p:cNvPr id="23" name="icon-graph" descr="graph">    </p:cNvPr>
          <p:cNvPicPr>
            <a:picLocks noChangeAspect="1"/>
          </p:cNvPicPr>
          <p:nvPr/>
        </p:nvPicPr>
        <p:blipFill>
          <a:blip r:embed="rId4"/>
          <a:stretch>
            <a:fillRect/>
          </a:stretch>
        </p:blipFill>
        <p:spPr>
          <a:xfrm>
            <a:off x="6792163" y="2194560"/>
            <a:ext cx="457200" cy="457200"/>
          </a:xfrm>
          <a:prstGeom prst="rect">
            <a:avLst/>
          </a:prstGeom>
        </p:spPr>
      </p:pic>
      <p:sp>
        <p:nvSpPr>
          <p:cNvPr id="24" name="Text 18"/>
          <p:cNvSpPr txBox="1"/>
          <p:nvPr/>
        </p:nvSpPr>
        <p:spPr>
          <a:xfrm>
            <a:off x="6280099" y="2926080"/>
            <a:ext cx="1481328" cy="548640"/>
          </a:xfrm>
          <a:prstGeom prst="rect">
            <a:avLst/>
          </a:prstGeom>
          <a:noFill/>
          <a:ln/>
        </p:spPr>
        <p:txBody>
          <a:bodyPr wrap="square" lIns="0" tIns="0" rIns="0" bIns="0" rtlCol="0" anchor="ctr"/>
          <a:lstStyle/>
          <a:p>
            <a:pPr algn="ctr" indent="0" marL="0">
              <a:buNone/>
            </a:pPr>
            <a:r>
              <a:rPr lang="en-US" sz="1500" b="1" dirty="0">
                <a:solidFill>
                  <a:schemeClr val="tx1"/>
                </a:solidFill>
              </a:rPr>
              <a:t>Heterogeneous graph</a:t>
            </a:r>
            <a:endParaRPr lang="en-US" sz="1500" dirty="0"/>
          </a:p>
        </p:txBody>
      </p:sp>
      <p:sp>
        <p:nvSpPr>
          <p:cNvPr id="25" name="Text 19"/>
          <p:cNvSpPr txBox="1"/>
          <p:nvPr/>
        </p:nvSpPr>
        <p:spPr>
          <a:xfrm>
            <a:off x="6298387" y="3520440"/>
            <a:ext cx="1444752" cy="1463040"/>
          </a:xfrm>
          <a:prstGeom prst="rect">
            <a:avLst/>
          </a:prstGeom>
          <a:noFill/>
          <a:ln/>
        </p:spPr>
        <p:txBody>
          <a:bodyPr wrap="square" lIns="0" tIns="0" rIns="0" bIns="0" rtlCol="0" anchor="t"/>
          <a:lstStyle/>
          <a:p>
            <a:pPr algn="ctr" indent="0" marL="0">
              <a:buNone/>
            </a:pPr>
            <a:r>
              <a:rPr lang="en-US" sz="1300" dirty="0">
                <a:solidFill>
                  <a:schemeClr val="tx2"/>
                </a:solidFill>
              </a:rPr>
              <a:t>11 node types, 17 relations; taint edges kept separable</a:t>
            </a:r>
            <a:endParaRPr lang="en-US" sz="1300" dirty="0"/>
          </a:p>
        </p:txBody>
      </p:sp>
      <p:sp>
        <p:nvSpPr>
          <p:cNvPr id="26" name="arrow"/>
          <p:cNvSpPr/>
          <p:nvPr/>
        </p:nvSpPr>
        <p:spPr>
          <a:xfrm>
            <a:off x="7880299" y="3456432"/>
            <a:ext cx="160934" cy="0"/>
          </a:xfrm>
          <a:prstGeom prst="line">
            <a:avLst/>
          </a:prstGeom>
          <a:noFill/>
          <a:ln w="25400">
            <a:solidFill>
              <a:schemeClr val="tx2"/>
            </a:solidFill>
            <a:prstDash val="solid"/>
            <a:tailEnd type="triangle"/>
          </a:ln>
        </p:spPr>
      </p:sp>
      <p:sp>
        <p:nvSpPr>
          <p:cNvPr id="27" name="stage"/>
          <p:cNvSpPr/>
          <p:nvPr/>
        </p:nvSpPr>
        <p:spPr>
          <a:xfrm>
            <a:off x="8068666" y="1828800"/>
            <a:ext cx="1664208" cy="3246120"/>
          </a:xfrm>
          <a:prstGeom prst="roundRect">
            <a:avLst>
              <a:gd name="adj" fmla="val 6593"/>
            </a:avLst>
          </a:prstGeom>
          <a:solidFill>
            <a:schemeClr val="bg2"/>
          </a:solidFill>
          <a:ln w="9525">
            <a:solidFill>
              <a:schemeClr val="tx2">
                <a:alpha val="25000"/>
              </a:schemeClr>
            </a:solidFill>
            <a:prstDash val="solid"/>
          </a:ln>
        </p:spPr>
      </p:sp>
      <p:sp>
        <p:nvSpPr>
          <p:cNvPr id="28" name="icon-bg"/>
          <p:cNvSpPr/>
          <p:nvPr/>
        </p:nvSpPr>
        <p:spPr>
          <a:xfrm>
            <a:off x="8535010" y="2057400"/>
            <a:ext cx="731520" cy="731520"/>
          </a:xfrm>
          <a:prstGeom prst="ellipse">
            <a:avLst/>
          </a:prstGeom>
          <a:solidFill>
            <a:srgbClr val="A78BFA">
              <a:alpha val="20000"/>
            </a:srgbClr>
          </a:solidFill>
          <a:ln w="15875">
            <a:solidFill>
              <a:srgbClr val="A78BFA"/>
            </a:solidFill>
            <a:prstDash val="solid"/>
          </a:ln>
        </p:spPr>
      </p:sp>
      <p:pic>
        <p:nvPicPr>
          <p:cNvPr id="29" name="icon-chip" descr="chip">    </p:cNvPr>
          <p:cNvPicPr>
            <a:picLocks noChangeAspect="1"/>
          </p:cNvPicPr>
          <p:nvPr/>
        </p:nvPicPr>
        <p:blipFill>
          <a:blip r:embed="rId5"/>
          <a:stretch>
            <a:fillRect/>
          </a:stretch>
        </p:blipFill>
        <p:spPr>
          <a:xfrm>
            <a:off x="8672170" y="2194560"/>
            <a:ext cx="457200" cy="457200"/>
          </a:xfrm>
          <a:prstGeom prst="rect">
            <a:avLst/>
          </a:prstGeom>
        </p:spPr>
      </p:pic>
      <p:sp>
        <p:nvSpPr>
          <p:cNvPr id="30" name="Text 23"/>
          <p:cNvSpPr txBox="1"/>
          <p:nvPr/>
        </p:nvSpPr>
        <p:spPr>
          <a:xfrm>
            <a:off x="8160106" y="2926080"/>
            <a:ext cx="1481328" cy="548640"/>
          </a:xfrm>
          <a:prstGeom prst="rect">
            <a:avLst/>
          </a:prstGeom>
          <a:noFill/>
          <a:ln/>
        </p:spPr>
        <p:txBody>
          <a:bodyPr wrap="square" lIns="0" tIns="0" rIns="0" bIns="0" rtlCol="0" anchor="ctr"/>
          <a:lstStyle/>
          <a:p>
            <a:pPr algn="ctr" indent="0" marL="0">
              <a:buNone/>
            </a:pPr>
            <a:r>
              <a:rPr lang="en-US" sz="1500" b="1" dirty="0">
                <a:solidFill>
                  <a:schemeClr val="tx1"/>
                </a:solidFill>
              </a:rPr>
              <a:t>Detectors</a:t>
            </a:r>
            <a:endParaRPr lang="en-US" sz="1500" dirty="0"/>
          </a:p>
        </p:txBody>
      </p:sp>
      <p:sp>
        <p:nvSpPr>
          <p:cNvPr id="31" name="Text 24"/>
          <p:cNvSpPr txBox="1"/>
          <p:nvPr/>
        </p:nvSpPr>
        <p:spPr>
          <a:xfrm>
            <a:off x="8178394" y="3520440"/>
            <a:ext cx="1444752" cy="1463040"/>
          </a:xfrm>
          <a:prstGeom prst="rect">
            <a:avLst/>
          </a:prstGeom>
          <a:noFill/>
          <a:ln/>
        </p:spPr>
        <p:txBody>
          <a:bodyPr wrap="square" lIns="0" tIns="0" rIns="0" bIns="0" rtlCol="0" anchor="t"/>
          <a:lstStyle/>
          <a:p>
            <a:pPr algn="ctr" indent="0" marL="0">
              <a:buNone/>
            </a:pPr>
            <a:r>
              <a:rPr lang="en-US" sz="1300" dirty="0">
                <a:solidFill>
                  <a:schemeClr val="tx2"/>
                </a:solidFill>
              </a:rPr>
              <a:t>Rules, RF, MLP, GCN, GraphSAGE, R-GCN; 10-model ensembles</a:t>
            </a:r>
            <a:endParaRPr lang="en-US" sz="1300" dirty="0"/>
          </a:p>
        </p:txBody>
      </p:sp>
      <p:sp>
        <p:nvSpPr>
          <p:cNvPr id="32" name="arrow"/>
          <p:cNvSpPr/>
          <p:nvPr/>
        </p:nvSpPr>
        <p:spPr>
          <a:xfrm>
            <a:off x="9760306" y="3456432"/>
            <a:ext cx="160934" cy="0"/>
          </a:xfrm>
          <a:prstGeom prst="line">
            <a:avLst/>
          </a:prstGeom>
          <a:noFill/>
          <a:ln w="25400">
            <a:solidFill>
              <a:schemeClr val="tx2"/>
            </a:solidFill>
            <a:prstDash val="solid"/>
            <a:tailEnd type="triangle"/>
          </a:ln>
        </p:spPr>
      </p:sp>
      <p:sp>
        <p:nvSpPr>
          <p:cNvPr id="33" name="stage"/>
          <p:cNvSpPr/>
          <p:nvPr/>
        </p:nvSpPr>
        <p:spPr>
          <a:xfrm>
            <a:off x="9948672" y="1828800"/>
            <a:ext cx="1664208" cy="3246120"/>
          </a:xfrm>
          <a:prstGeom prst="roundRect">
            <a:avLst>
              <a:gd name="adj" fmla="val 6593"/>
            </a:avLst>
          </a:prstGeom>
          <a:solidFill>
            <a:schemeClr val="bg2"/>
          </a:solidFill>
          <a:ln w="9525">
            <a:solidFill>
              <a:schemeClr val="tx2">
                <a:alpha val="25000"/>
              </a:schemeClr>
            </a:solidFill>
            <a:prstDash val="solid"/>
          </a:ln>
        </p:spPr>
      </p:sp>
      <p:sp>
        <p:nvSpPr>
          <p:cNvPr id="34" name="icon-bg"/>
          <p:cNvSpPr/>
          <p:nvPr/>
        </p:nvSpPr>
        <p:spPr>
          <a:xfrm>
            <a:off x="10415016" y="2057400"/>
            <a:ext cx="731520" cy="731520"/>
          </a:xfrm>
          <a:prstGeom prst="ellipse">
            <a:avLst/>
          </a:prstGeom>
          <a:solidFill>
            <a:srgbClr val="FF5C5C">
              <a:alpha val="20000"/>
            </a:srgbClr>
          </a:solidFill>
          <a:ln w="15875">
            <a:solidFill>
              <a:srgbClr val="FF5C5C"/>
            </a:solidFill>
            <a:prstDash val="solid"/>
          </a:ln>
        </p:spPr>
      </p:sp>
      <p:pic>
        <p:nvPicPr>
          <p:cNvPr id="35" name="icon-search" descr="search">    </p:cNvPr>
          <p:cNvPicPr>
            <a:picLocks noChangeAspect="1"/>
          </p:cNvPicPr>
          <p:nvPr/>
        </p:nvPicPr>
        <p:blipFill>
          <a:blip r:embed="rId6"/>
          <a:stretch>
            <a:fillRect/>
          </a:stretch>
        </p:blipFill>
        <p:spPr>
          <a:xfrm>
            <a:off x="10552176" y="2194560"/>
            <a:ext cx="457200" cy="457200"/>
          </a:xfrm>
          <a:prstGeom prst="rect">
            <a:avLst/>
          </a:prstGeom>
        </p:spPr>
      </p:pic>
      <p:sp>
        <p:nvSpPr>
          <p:cNvPr id="36" name="Text 28"/>
          <p:cNvSpPr txBox="1"/>
          <p:nvPr/>
        </p:nvSpPr>
        <p:spPr>
          <a:xfrm>
            <a:off x="10040112" y="2926080"/>
            <a:ext cx="1481328" cy="548640"/>
          </a:xfrm>
          <a:prstGeom prst="rect">
            <a:avLst/>
          </a:prstGeom>
          <a:noFill/>
          <a:ln/>
        </p:spPr>
        <p:txBody>
          <a:bodyPr wrap="square" lIns="0" tIns="0" rIns="0" bIns="0" rtlCol="0" anchor="ctr"/>
          <a:lstStyle/>
          <a:p>
            <a:pPr algn="ctr" indent="0" marL="0">
              <a:buNone/>
            </a:pPr>
            <a:r>
              <a:rPr lang="en-US" sz="1500" b="1" dirty="0">
                <a:solidFill>
                  <a:schemeClr val="tx1"/>
                </a:solidFill>
              </a:rPr>
              <a:t>Explanation</a:t>
            </a:r>
            <a:endParaRPr lang="en-US" sz="1500" dirty="0"/>
          </a:p>
        </p:txBody>
      </p:sp>
      <p:sp>
        <p:nvSpPr>
          <p:cNvPr id="37" name="Text 29"/>
          <p:cNvSpPr txBox="1"/>
          <p:nvPr/>
        </p:nvSpPr>
        <p:spPr>
          <a:xfrm>
            <a:off x="10058400" y="3520440"/>
            <a:ext cx="1444752" cy="1463040"/>
          </a:xfrm>
          <a:prstGeom prst="rect">
            <a:avLst/>
          </a:prstGeom>
          <a:noFill/>
          <a:ln/>
        </p:spPr>
        <p:txBody>
          <a:bodyPr wrap="square" lIns="0" tIns="0" rIns="0" bIns="0" rtlCol="0" anchor="t"/>
          <a:lstStyle/>
          <a:p>
            <a:pPr algn="ctr" indent="0" marL="0">
              <a:buNone/>
            </a:pPr>
            <a:r>
              <a:rPr lang="en-US" sz="1300" dirty="0">
                <a:solidFill>
                  <a:schemeClr val="tx2"/>
                </a:solidFill>
              </a:rPr>
              <a:t>Occlusion importance and the highlighted credential-to-sink path</a:t>
            </a:r>
            <a:endParaRPr lang="en-US" sz="1300" dirty="0"/>
          </a:p>
        </p:txBody>
      </p:sp>
      <p:sp>
        <p:nvSpPr>
          <p:cNvPr id="38" name="Text 30"/>
          <p:cNvSpPr txBox="1"/>
          <p:nvPr/>
        </p:nvSpPr>
        <p:spPr>
          <a:xfrm>
            <a:off x="548640" y="5486400"/>
            <a:ext cx="11064240" cy="365760"/>
          </a:xfrm>
          <a:prstGeom prst="rect">
            <a:avLst/>
          </a:prstGeom>
          <a:noFill/>
          <a:ln/>
        </p:spPr>
        <p:txBody>
          <a:bodyPr wrap="square" lIns="0" tIns="0" rIns="0" bIns="0" rtlCol="0" anchor="ctr"/>
          <a:lstStyle/>
          <a:p>
            <a:pPr algn="ctr" indent="0" marL="0">
              <a:buNone/>
            </a:pPr>
            <a:r>
              <a:rPr lang="en-US" sz="1500" dirty="0">
                <a:solidFill>
                  <a:schemeClr val="accent1"/>
                </a:solidFill>
              </a:rPr>
              <a:t>Everything on localhost  ·  synthetic credentials only  ·  graph + verdict + path shown live in the dashboard</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Dataset: 576 real sessions, hard negatives included</a:t>
            </a:r>
            <a:endParaRPr lang="en-US" sz="3200" dirty="0"/>
          </a:p>
        </p:txBody>
      </p:sp>
      <p:sp>
        <p:nvSpPr>
          <p:cNvPr id="3" name="stat"/>
          <p:cNvSpPr/>
          <p:nvPr/>
        </p:nvSpPr>
        <p:spPr>
          <a:xfrm>
            <a:off x="548640" y="1371600"/>
            <a:ext cx="1828800" cy="1325880"/>
          </a:xfrm>
          <a:prstGeom prst="roundRect">
            <a:avLst>
              <a:gd name="adj" fmla="val 8276"/>
            </a:avLst>
          </a:prstGeom>
          <a:solidFill>
            <a:schemeClr val="bg2"/>
          </a:solidFill>
          <a:ln w="9525">
            <a:solidFill>
              <a:schemeClr val="tx2">
                <a:alpha val="25000"/>
              </a:schemeClr>
            </a:solidFill>
            <a:prstDash val="solid"/>
          </a:ln>
        </p:spPr>
      </p:sp>
      <p:sp>
        <p:nvSpPr>
          <p:cNvPr id="4" name="Text 2"/>
          <p:cNvSpPr txBox="1"/>
          <p:nvPr/>
        </p:nvSpPr>
        <p:spPr>
          <a:xfrm>
            <a:off x="731520" y="1508760"/>
            <a:ext cx="1463040" cy="596646"/>
          </a:xfrm>
          <a:prstGeom prst="rect">
            <a:avLst/>
          </a:prstGeom>
          <a:noFill/>
          <a:ln/>
        </p:spPr>
        <p:txBody>
          <a:bodyPr wrap="square" lIns="0" tIns="0" rIns="0" bIns="0" rtlCol="0" anchor="ctr"/>
          <a:lstStyle/>
          <a:p>
            <a:pPr algn="l" indent="0" marL="0">
              <a:buNone/>
            </a:pPr>
            <a:r>
              <a:rPr lang="en-US" sz="3800" b="1" dirty="0">
                <a:solidFill>
                  <a:srgbClr val="22B8CF"/>
                </a:solidFill>
              </a:rPr>
              <a:t>576</a:t>
            </a:r>
            <a:endParaRPr lang="en-US" sz="3800" dirty="0"/>
          </a:p>
        </p:txBody>
      </p:sp>
      <p:sp>
        <p:nvSpPr>
          <p:cNvPr id="5" name="Text 3"/>
          <p:cNvSpPr txBox="1"/>
          <p:nvPr/>
        </p:nvSpPr>
        <p:spPr>
          <a:xfrm>
            <a:off x="731520" y="2100834"/>
            <a:ext cx="1463040" cy="530352"/>
          </a:xfrm>
          <a:prstGeom prst="rect">
            <a:avLst/>
          </a:prstGeom>
          <a:noFill/>
          <a:ln/>
        </p:spPr>
        <p:txBody>
          <a:bodyPr wrap="square" lIns="0" tIns="0" rIns="0" bIns="0" rtlCol="0" anchor="t"/>
          <a:lstStyle/>
          <a:p>
            <a:pPr algn="l" indent="0" marL="0">
              <a:buNone/>
            </a:pPr>
            <a:r>
              <a:rPr lang="en-US" sz="1400" dirty="0">
                <a:solidFill>
                  <a:schemeClr val="tx1"/>
                </a:solidFill>
              </a:rPr>
              <a:t>sessions</a:t>
            </a:r>
            <a:endParaRPr lang="en-US" sz="1400" dirty="0"/>
          </a:p>
        </p:txBody>
      </p:sp>
      <p:sp>
        <p:nvSpPr>
          <p:cNvPr id="6" name="stat"/>
          <p:cNvSpPr/>
          <p:nvPr/>
        </p:nvSpPr>
        <p:spPr>
          <a:xfrm>
            <a:off x="2514600" y="1371600"/>
            <a:ext cx="1828800" cy="1325880"/>
          </a:xfrm>
          <a:prstGeom prst="roundRect">
            <a:avLst>
              <a:gd name="adj" fmla="val 8276"/>
            </a:avLst>
          </a:prstGeom>
          <a:solidFill>
            <a:schemeClr val="bg2"/>
          </a:solidFill>
          <a:ln w="9525">
            <a:solidFill>
              <a:schemeClr val="tx2">
                <a:alpha val="25000"/>
              </a:schemeClr>
            </a:solidFill>
            <a:prstDash val="solid"/>
          </a:ln>
        </p:spPr>
      </p:sp>
      <p:sp>
        <p:nvSpPr>
          <p:cNvPr id="7" name="Text 5"/>
          <p:cNvSpPr txBox="1"/>
          <p:nvPr/>
        </p:nvSpPr>
        <p:spPr>
          <a:xfrm>
            <a:off x="2697480" y="1508760"/>
            <a:ext cx="1463040" cy="596646"/>
          </a:xfrm>
          <a:prstGeom prst="rect">
            <a:avLst/>
          </a:prstGeom>
          <a:noFill/>
          <a:ln/>
        </p:spPr>
        <p:txBody>
          <a:bodyPr wrap="square" lIns="0" tIns="0" rIns="0" bIns="0" rtlCol="0" anchor="ctr"/>
          <a:lstStyle/>
          <a:p>
            <a:pPr algn="l" indent="0" marL="0">
              <a:buNone/>
            </a:pPr>
            <a:r>
              <a:rPr lang="en-US" sz="3800" b="1" dirty="0">
                <a:solidFill>
                  <a:srgbClr val="22B8CF"/>
                </a:solidFill>
              </a:rPr>
              <a:t>144</a:t>
            </a:r>
            <a:endParaRPr lang="en-US" sz="3800" dirty="0"/>
          </a:p>
        </p:txBody>
      </p:sp>
      <p:sp>
        <p:nvSpPr>
          <p:cNvPr id="8" name="Text 6"/>
          <p:cNvSpPr txBox="1"/>
          <p:nvPr/>
        </p:nvSpPr>
        <p:spPr>
          <a:xfrm>
            <a:off x="2697480" y="2100834"/>
            <a:ext cx="1463040" cy="530352"/>
          </a:xfrm>
          <a:prstGeom prst="rect">
            <a:avLst/>
          </a:prstGeom>
          <a:noFill/>
          <a:ln/>
        </p:spPr>
        <p:txBody>
          <a:bodyPr wrap="square" lIns="0" tIns="0" rIns="0" bIns="0" rtlCol="0" anchor="t"/>
          <a:lstStyle/>
          <a:p>
            <a:pPr algn="l" indent="0" marL="0">
              <a:buNone/>
            </a:pPr>
            <a:r>
              <a:rPr lang="en-US" sz="1400" dirty="0">
                <a:solidFill>
                  <a:schemeClr val="tx1"/>
                </a:solidFill>
              </a:rPr>
              <a:t>extensions</a:t>
            </a:r>
            <a:endParaRPr lang="en-US" sz="1400" dirty="0"/>
          </a:p>
        </p:txBody>
      </p:sp>
      <p:sp>
        <p:nvSpPr>
          <p:cNvPr id="9" name="stat"/>
          <p:cNvSpPr/>
          <p:nvPr/>
        </p:nvSpPr>
        <p:spPr>
          <a:xfrm>
            <a:off x="4480560" y="1371600"/>
            <a:ext cx="1828800" cy="1325880"/>
          </a:xfrm>
          <a:prstGeom prst="roundRect">
            <a:avLst>
              <a:gd name="adj" fmla="val 8276"/>
            </a:avLst>
          </a:prstGeom>
          <a:solidFill>
            <a:schemeClr val="bg2"/>
          </a:solidFill>
          <a:ln w="9525">
            <a:solidFill>
              <a:schemeClr val="tx2">
                <a:alpha val="25000"/>
              </a:schemeClr>
            </a:solidFill>
            <a:prstDash val="solid"/>
          </a:ln>
        </p:spPr>
      </p:sp>
      <p:sp>
        <p:nvSpPr>
          <p:cNvPr id="10" name="Text 8"/>
          <p:cNvSpPr txBox="1"/>
          <p:nvPr/>
        </p:nvSpPr>
        <p:spPr>
          <a:xfrm>
            <a:off x="4663440" y="1508760"/>
            <a:ext cx="1463040" cy="596646"/>
          </a:xfrm>
          <a:prstGeom prst="rect">
            <a:avLst/>
          </a:prstGeom>
          <a:noFill/>
          <a:ln/>
        </p:spPr>
        <p:txBody>
          <a:bodyPr wrap="square" lIns="0" tIns="0" rIns="0" bIns="0" rtlCol="0" anchor="ctr"/>
          <a:lstStyle/>
          <a:p>
            <a:pPr algn="l" indent="0" marL="0">
              <a:buNone/>
            </a:pPr>
            <a:r>
              <a:rPr lang="en-US" sz="2600" b="1" dirty="0">
                <a:solidFill>
                  <a:srgbClr val="34D399"/>
                </a:solidFill>
              </a:rPr>
              <a:t>288 / 288</a:t>
            </a:r>
            <a:endParaRPr lang="en-US" sz="2600" dirty="0"/>
          </a:p>
        </p:txBody>
      </p:sp>
      <p:sp>
        <p:nvSpPr>
          <p:cNvPr id="11" name="Text 9"/>
          <p:cNvSpPr txBox="1"/>
          <p:nvPr/>
        </p:nvSpPr>
        <p:spPr>
          <a:xfrm>
            <a:off x="4663440" y="2100834"/>
            <a:ext cx="1463040" cy="530352"/>
          </a:xfrm>
          <a:prstGeom prst="rect">
            <a:avLst/>
          </a:prstGeom>
          <a:noFill/>
          <a:ln/>
        </p:spPr>
        <p:txBody>
          <a:bodyPr wrap="square" lIns="0" tIns="0" rIns="0" bIns="0" rtlCol="0" anchor="t"/>
          <a:lstStyle/>
          <a:p>
            <a:pPr algn="l" indent="0" marL="0">
              <a:buNone/>
            </a:pPr>
            <a:r>
              <a:rPr lang="en-US" sz="1400" dirty="0">
                <a:solidFill>
                  <a:schemeClr val="tx1"/>
                </a:solidFill>
              </a:rPr>
              <a:t>benign / suspicious</a:t>
            </a:r>
            <a:endParaRPr lang="en-US" sz="1400" dirty="0"/>
          </a:p>
        </p:txBody>
      </p:sp>
      <p:sp>
        <p:nvSpPr>
          <p:cNvPr id="12" name="stat"/>
          <p:cNvSpPr/>
          <p:nvPr/>
        </p:nvSpPr>
        <p:spPr>
          <a:xfrm>
            <a:off x="6446520" y="1371600"/>
            <a:ext cx="1828800" cy="1325880"/>
          </a:xfrm>
          <a:prstGeom prst="roundRect">
            <a:avLst>
              <a:gd name="adj" fmla="val 8276"/>
            </a:avLst>
          </a:prstGeom>
          <a:solidFill>
            <a:schemeClr val="bg2"/>
          </a:solidFill>
          <a:ln w="9525">
            <a:solidFill>
              <a:schemeClr val="tx2">
                <a:alpha val="25000"/>
              </a:schemeClr>
            </a:solidFill>
            <a:prstDash val="solid"/>
          </a:ln>
        </p:spPr>
      </p:sp>
      <p:sp>
        <p:nvSpPr>
          <p:cNvPr id="13" name="Text 11"/>
          <p:cNvSpPr txBox="1"/>
          <p:nvPr/>
        </p:nvSpPr>
        <p:spPr>
          <a:xfrm>
            <a:off x="6629400" y="1508760"/>
            <a:ext cx="1463040" cy="596646"/>
          </a:xfrm>
          <a:prstGeom prst="rect">
            <a:avLst/>
          </a:prstGeom>
          <a:noFill/>
          <a:ln/>
        </p:spPr>
        <p:txBody>
          <a:bodyPr wrap="square" lIns="0" tIns="0" rIns="0" bIns="0" rtlCol="0" anchor="ctr"/>
          <a:lstStyle/>
          <a:p>
            <a:pPr algn="l" indent="0" marL="0">
              <a:buNone/>
            </a:pPr>
            <a:r>
              <a:rPr lang="en-US" sz="3800" b="1" dirty="0">
                <a:solidFill>
                  <a:srgbClr val="F2C14E"/>
                </a:solidFill>
              </a:rPr>
              <a:t>7,258</a:t>
            </a:r>
            <a:endParaRPr lang="en-US" sz="3800" dirty="0"/>
          </a:p>
        </p:txBody>
      </p:sp>
      <p:sp>
        <p:nvSpPr>
          <p:cNvPr id="14" name="Text 12"/>
          <p:cNvSpPr txBox="1"/>
          <p:nvPr/>
        </p:nvSpPr>
        <p:spPr>
          <a:xfrm>
            <a:off x="6629400" y="2100834"/>
            <a:ext cx="1463040" cy="530352"/>
          </a:xfrm>
          <a:prstGeom prst="rect">
            <a:avLst/>
          </a:prstGeom>
          <a:noFill/>
          <a:ln/>
        </p:spPr>
        <p:txBody>
          <a:bodyPr wrap="square" lIns="0" tIns="0" rIns="0" bIns="0" rtlCol="0" anchor="t"/>
          <a:lstStyle/>
          <a:p>
            <a:pPr algn="l" indent="0" marL="0">
              <a:buNone/>
            </a:pPr>
            <a:r>
              <a:rPr lang="en-US" sz="1400" dirty="0">
                <a:solidFill>
                  <a:schemeClr val="tx1"/>
                </a:solidFill>
              </a:rPr>
              <a:t>events captured</a:t>
            </a:r>
            <a:endParaRPr lang="en-US" sz="1400" dirty="0"/>
          </a:p>
        </p:txBody>
      </p:sp>
      <p:sp>
        <p:nvSpPr>
          <p:cNvPr id="15" name="integrity"/>
          <p:cNvSpPr/>
          <p:nvPr/>
        </p:nvSpPr>
        <p:spPr>
          <a:xfrm>
            <a:off x="548640" y="2880360"/>
            <a:ext cx="7726680" cy="3246120"/>
          </a:xfrm>
          <a:prstGeom prst="roundRect">
            <a:avLst>
              <a:gd name="adj" fmla="val 3380"/>
            </a:avLst>
          </a:prstGeom>
          <a:solidFill>
            <a:schemeClr val="bg2"/>
          </a:solidFill>
          <a:ln w="9525">
            <a:solidFill>
              <a:schemeClr val="tx2">
                <a:alpha val="25000"/>
              </a:schemeClr>
            </a:solidFill>
            <a:prstDash val="solid"/>
          </a:ln>
        </p:spPr>
      </p:sp>
      <p:sp>
        <p:nvSpPr>
          <p:cNvPr id="16" name="Text 14"/>
          <p:cNvSpPr txBox="1"/>
          <p:nvPr/>
        </p:nvSpPr>
        <p:spPr>
          <a:xfrm>
            <a:off x="822960" y="301752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INTEGRITY CHECKS (EVERY RUN)</a:t>
            </a:r>
            <a:endParaRPr lang="en-US" sz="1300" dirty="0"/>
          </a:p>
        </p:txBody>
      </p:sp>
      <p:pic>
        <p:nvPicPr>
          <p:cNvPr id="17" name="icon-check" descr="check">    </p:cNvPr>
          <p:cNvPicPr>
            <a:picLocks noChangeAspect="1"/>
          </p:cNvPicPr>
          <p:nvPr/>
        </p:nvPicPr>
        <p:blipFill>
          <a:blip r:embed="rId1"/>
          <a:stretch>
            <a:fillRect/>
          </a:stretch>
        </p:blipFill>
        <p:spPr>
          <a:xfrm>
            <a:off x="822960" y="3511296"/>
            <a:ext cx="365760" cy="365760"/>
          </a:xfrm>
          <a:prstGeom prst="rect">
            <a:avLst/>
          </a:prstGeom>
        </p:spPr>
      </p:pic>
      <p:sp>
        <p:nvSpPr>
          <p:cNvPr id="18" name="Text 15"/>
          <p:cNvSpPr txBox="1"/>
          <p:nvPr/>
        </p:nvSpPr>
        <p:spPr>
          <a:xfrm>
            <a:off x="1371600" y="3474720"/>
            <a:ext cx="1554480" cy="457200"/>
          </a:xfrm>
          <a:prstGeom prst="rect">
            <a:avLst/>
          </a:prstGeom>
          <a:noFill/>
          <a:ln/>
        </p:spPr>
        <p:txBody>
          <a:bodyPr wrap="square" lIns="0" tIns="0" rIns="0" bIns="0" rtlCol="0" anchor="ctr"/>
          <a:lstStyle/>
          <a:p>
            <a:pPr indent="0" marL="0">
              <a:buNone/>
            </a:pPr>
            <a:r>
              <a:rPr lang="en-US" sz="2200" b="1" dirty="0">
                <a:solidFill>
                  <a:srgbClr val="34D399"/>
                </a:solidFill>
              </a:rPr>
              <a:t>0</a:t>
            </a:r>
            <a:endParaRPr lang="en-US" sz="2200" dirty="0"/>
          </a:p>
        </p:txBody>
      </p:sp>
      <p:sp>
        <p:nvSpPr>
          <p:cNvPr id="19" name="Text 16"/>
          <p:cNvSpPr txBox="1"/>
          <p:nvPr/>
        </p:nvSpPr>
        <p:spPr>
          <a:xfrm>
            <a:off x="2971800" y="3474720"/>
            <a:ext cx="5120640" cy="457200"/>
          </a:xfrm>
          <a:prstGeom prst="rect">
            <a:avLst/>
          </a:prstGeom>
          <a:noFill/>
          <a:ln/>
        </p:spPr>
        <p:txBody>
          <a:bodyPr wrap="square" lIns="0" tIns="0" rIns="0" bIns="0" rtlCol="0" anchor="ctr"/>
          <a:lstStyle/>
          <a:p>
            <a:pPr indent="0" marL="0">
              <a:buNone/>
            </a:pPr>
            <a:r>
              <a:rPr lang="en-US" sz="1600" dirty="0">
                <a:solidFill>
                  <a:schemeClr val="tx1"/>
                </a:solidFill>
              </a:rPr>
              <a:t>credential-value leaks in any event</a:t>
            </a:r>
            <a:endParaRPr lang="en-US" sz="1600" dirty="0"/>
          </a:p>
        </p:txBody>
      </p:sp>
      <p:pic>
        <p:nvPicPr>
          <p:cNvPr id="20" name="icon-check" descr="check">    </p:cNvPr>
          <p:cNvPicPr>
            <a:picLocks noChangeAspect="1"/>
          </p:cNvPicPr>
          <p:nvPr/>
        </p:nvPicPr>
        <p:blipFill>
          <a:blip r:embed="rId2"/>
          <a:stretch>
            <a:fillRect/>
          </a:stretch>
        </p:blipFill>
        <p:spPr>
          <a:xfrm>
            <a:off x="822960" y="4151376"/>
            <a:ext cx="365760" cy="365760"/>
          </a:xfrm>
          <a:prstGeom prst="rect">
            <a:avLst/>
          </a:prstGeom>
        </p:spPr>
      </p:pic>
      <p:sp>
        <p:nvSpPr>
          <p:cNvPr id="21" name="Text 17"/>
          <p:cNvSpPr txBox="1"/>
          <p:nvPr/>
        </p:nvSpPr>
        <p:spPr>
          <a:xfrm>
            <a:off x="1371600" y="4114800"/>
            <a:ext cx="1554480" cy="457200"/>
          </a:xfrm>
          <a:prstGeom prst="rect">
            <a:avLst/>
          </a:prstGeom>
          <a:noFill/>
          <a:ln/>
        </p:spPr>
        <p:txBody>
          <a:bodyPr wrap="square" lIns="0" tIns="0" rIns="0" bIns="0" rtlCol="0" anchor="ctr"/>
          <a:lstStyle/>
          <a:p>
            <a:pPr indent="0" marL="0">
              <a:buNone/>
            </a:pPr>
            <a:r>
              <a:rPr lang="en-US" sz="2200" b="1" dirty="0">
                <a:solidFill>
                  <a:srgbClr val="34D399"/>
                </a:solidFill>
              </a:rPr>
              <a:t>0</a:t>
            </a:r>
            <a:endParaRPr lang="en-US" sz="2200" dirty="0"/>
          </a:p>
        </p:txBody>
      </p:sp>
      <p:sp>
        <p:nvSpPr>
          <p:cNvPr id="22" name="Text 18"/>
          <p:cNvSpPr txBox="1"/>
          <p:nvPr/>
        </p:nvSpPr>
        <p:spPr>
          <a:xfrm>
            <a:off x="2971800" y="4114800"/>
            <a:ext cx="5120640" cy="457200"/>
          </a:xfrm>
          <a:prstGeom prst="rect">
            <a:avLst/>
          </a:prstGeom>
          <a:noFill/>
          <a:ln/>
        </p:spPr>
        <p:txBody>
          <a:bodyPr wrap="square" lIns="0" tIns="0" rIns="0" bIns="0" rtlCol="0" anchor="ctr"/>
          <a:lstStyle/>
          <a:p>
            <a:pPr indent="0" marL="0">
              <a:buNone/>
            </a:pPr>
            <a:r>
              <a:rPr lang="en-US" sz="1600" dirty="0">
                <a:solidFill>
                  <a:schemeClr val="tx1"/>
                </a:solidFill>
              </a:rPr>
              <a:t>events failing the schema</a:t>
            </a:r>
            <a:endParaRPr lang="en-US" sz="1600" dirty="0"/>
          </a:p>
        </p:txBody>
      </p:sp>
      <p:pic>
        <p:nvPicPr>
          <p:cNvPr id="23" name="icon-check" descr="check">    </p:cNvPr>
          <p:cNvPicPr>
            <a:picLocks noChangeAspect="1"/>
          </p:cNvPicPr>
          <p:nvPr/>
        </p:nvPicPr>
        <p:blipFill>
          <a:blip r:embed="rId3"/>
          <a:stretch>
            <a:fillRect/>
          </a:stretch>
        </p:blipFill>
        <p:spPr>
          <a:xfrm>
            <a:off x="822960" y="4791456"/>
            <a:ext cx="365760" cy="365760"/>
          </a:xfrm>
          <a:prstGeom prst="rect">
            <a:avLst/>
          </a:prstGeom>
        </p:spPr>
      </p:pic>
      <p:sp>
        <p:nvSpPr>
          <p:cNvPr id="24" name="Text 19"/>
          <p:cNvSpPr txBox="1"/>
          <p:nvPr/>
        </p:nvSpPr>
        <p:spPr>
          <a:xfrm>
            <a:off x="1371600" y="4754880"/>
            <a:ext cx="1554480" cy="457200"/>
          </a:xfrm>
          <a:prstGeom prst="rect">
            <a:avLst/>
          </a:prstGeom>
          <a:noFill/>
          <a:ln/>
        </p:spPr>
        <p:txBody>
          <a:bodyPr wrap="square" lIns="0" tIns="0" rIns="0" bIns="0" rtlCol="0" anchor="ctr"/>
          <a:lstStyle/>
          <a:p>
            <a:pPr indent="0" marL="0">
              <a:buNone/>
            </a:pPr>
            <a:r>
              <a:rPr lang="en-US" sz="2200" b="1" dirty="0">
                <a:solidFill>
                  <a:srgbClr val="34D399"/>
                </a:solidFill>
              </a:rPr>
              <a:t>0</a:t>
            </a:r>
            <a:endParaRPr lang="en-US" sz="2200" dirty="0"/>
          </a:p>
        </p:txBody>
      </p:sp>
      <p:sp>
        <p:nvSpPr>
          <p:cNvPr id="25" name="Text 20"/>
          <p:cNvSpPr txBox="1"/>
          <p:nvPr/>
        </p:nvSpPr>
        <p:spPr>
          <a:xfrm>
            <a:off x="2971800" y="4754880"/>
            <a:ext cx="5120640" cy="457200"/>
          </a:xfrm>
          <a:prstGeom prst="rect">
            <a:avLst/>
          </a:prstGeom>
          <a:noFill/>
          <a:ln/>
        </p:spPr>
        <p:txBody>
          <a:bodyPr wrap="square" lIns="0" tIns="0" rIns="0" bIns="0" rtlCol="0" anchor="ctr"/>
          <a:lstStyle/>
          <a:p>
            <a:pPr indent="0" marL="0">
              <a:buNone/>
            </a:pPr>
            <a:r>
              <a:rPr lang="en-US" sz="1600" dirty="0">
                <a:solidFill>
                  <a:schemeClr val="tx1"/>
                </a:solidFill>
              </a:rPr>
              <a:t>duplicate events</a:t>
            </a:r>
            <a:endParaRPr lang="en-US" sz="1600" dirty="0"/>
          </a:p>
        </p:txBody>
      </p:sp>
      <p:pic>
        <p:nvPicPr>
          <p:cNvPr id="26" name="icon-check" descr="check">    </p:cNvPr>
          <p:cNvPicPr>
            <a:picLocks noChangeAspect="1"/>
          </p:cNvPicPr>
          <p:nvPr/>
        </p:nvPicPr>
        <p:blipFill>
          <a:blip r:embed="rId4"/>
          <a:stretch>
            <a:fillRect/>
          </a:stretch>
        </p:blipFill>
        <p:spPr>
          <a:xfrm>
            <a:off x="822960" y="5431536"/>
            <a:ext cx="365760" cy="365760"/>
          </a:xfrm>
          <a:prstGeom prst="rect">
            <a:avLst/>
          </a:prstGeom>
        </p:spPr>
      </p:pic>
      <p:sp>
        <p:nvSpPr>
          <p:cNvPr id="27" name="Text 21"/>
          <p:cNvSpPr txBox="1"/>
          <p:nvPr/>
        </p:nvSpPr>
        <p:spPr>
          <a:xfrm>
            <a:off x="1371600" y="5394960"/>
            <a:ext cx="1554480" cy="457200"/>
          </a:xfrm>
          <a:prstGeom prst="rect">
            <a:avLst/>
          </a:prstGeom>
          <a:noFill/>
          <a:ln/>
        </p:spPr>
        <p:txBody>
          <a:bodyPr wrap="square" lIns="0" tIns="0" rIns="0" bIns="0" rtlCol="0" anchor="ctr"/>
          <a:lstStyle/>
          <a:p>
            <a:pPr indent="0" marL="0">
              <a:buNone/>
            </a:pPr>
            <a:r>
              <a:rPr lang="en-US" sz="2200" b="1" dirty="0">
                <a:solidFill>
                  <a:srgbClr val="34D399"/>
                </a:solidFill>
              </a:rPr>
              <a:t>576 / 576</a:t>
            </a:r>
            <a:endParaRPr lang="en-US" sz="2200" dirty="0"/>
          </a:p>
        </p:txBody>
      </p:sp>
      <p:sp>
        <p:nvSpPr>
          <p:cNvPr id="28" name="Text 22"/>
          <p:cNvSpPr txBox="1"/>
          <p:nvPr/>
        </p:nvSpPr>
        <p:spPr>
          <a:xfrm>
            <a:off x="2971800" y="5394960"/>
            <a:ext cx="5120640" cy="457200"/>
          </a:xfrm>
          <a:prstGeom prst="rect">
            <a:avLst/>
          </a:prstGeom>
          <a:noFill/>
          <a:ln/>
        </p:spPr>
        <p:txBody>
          <a:bodyPr wrap="square" lIns="0" tIns="0" rIns="0" bIns="0" rtlCol="0" anchor="ctr"/>
          <a:lstStyle/>
          <a:p>
            <a:pPr indent="0" marL="0">
              <a:buNone/>
            </a:pPr>
            <a:r>
              <a:rPr lang="en-US" sz="1600" dirty="0">
                <a:solidFill>
                  <a:schemeClr val="tx1"/>
                </a:solidFill>
              </a:rPr>
              <a:t>sessions where telemetry matches the server log</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458200" y="1371600"/>
          <a:ext cx="3154680" cy="914400"/>
        </p:xfrm>
        <a:graphic>
          <a:graphicData uri="http://schemas.openxmlformats.org/drawingml/2006/table">
            <a:tbl>
              <a:tblPr/>
              <a:tblGrid>
                <a:gridCol w="502920"/>
                <a:gridCol w="2651760"/>
              </a:tblGrid>
              <a:tr h="365760">
                <a:tc>
                  <a:txBody>
                    <a:bodyPr/>
                    <a:lstStyle/>
                    <a:p>
                      <a:pPr indent="0" marL="0">
                        <a:buNone/>
                      </a:pPr>
                      <a:r>
                        <a:rPr lang="en-US" sz="1100" b="1" dirty="0">
                          <a:solidFill>
                            <a:srgbClr val="34D399"/>
                          </a:solidFill>
                        </a:rPr>
                        <a:t>B1</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DOM only</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34D399"/>
                          </a:solidFill>
                        </a:rPr>
                        <a:t>B2</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storage settings</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34D399"/>
                          </a:solidFill>
                        </a:rPr>
                        <a:t>B3</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approved API</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34D399"/>
                          </a:solidFill>
                        </a:rPr>
                        <a:t>B4</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authenticated call to approved API (hard negative)</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34D399"/>
                          </a:solidFill>
                        </a:rPr>
                        <a:t>B5</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credential read + unrelated analytics (hard negative)</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34D399"/>
                          </a:solidFill>
                        </a:rPr>
                        <a:t>B6</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benign WebAssembly</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FF5C5C"/>
                          </a:solidFill>
                        </a:rPr>
                        <a:t>S1</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direct credential to sink</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FF5C5C"/>
                          </a:solidFill>
                        </a:rPr>
                        <a:t>S2</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via 1–3 JS hops</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FF5C5C"/>
                          </a:solidFill>
                        </a:rPr>
                        <a:t>S3</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via WebAssembly</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FF5C5C"/>
                          </a:solidFill>
                        </a:rPr>
                        <a:t>S4</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content script ↔ service worker</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FF5C5C"/>
                          </a:solidFill>
                        </a:rPr>
                        <a:t>S5</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staged through storage</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00" b="1" dirty="0">
                          <a:solidFill>
                            <a:srgbClr val="FF5C5C"/>
                          </a:solidFill>
                        </a:rPr>
                        <a:t>S6</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rgbClr val="E5ECF4"/>
                          </a:solidFill>
                        </a:rPr>
                        <a:t>chunked to a raw-IP sink</a:t>
                      </a:r>
                      <a:endParaRPr lang="en-US" sz="11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30" name="Text 23"/>
          <p:cNvSpPr txBox="1"/>
          <p:nvPr/>
        </p:nvSpPr>
        <p:spPr>
          <a:xfrm>
            <a:off x="8458200" y="5852160"/>
            <a:ext cx="3154680" cy="502920"/>
          </a:xfrm>
          <a:prstGeom prst="rect">
            <a:avLst/>
          </a:prstGeom>
          <a:noFill/>
          <a:ln/>
        </p:spPr>
        <p:txBody>
          <a:bodyPr wrap="square" lIns="0" tIns="0" rIns="0" bIns="0" rtlCol="0" anchor="t"/>
          <a:lstStyle/>
          <a:p>
            <a:pPr indent="0" marL="0">
              <a:buNone/>
            </a:pPr>
            <a:r>
              <a:rPr lang="en-US" sz="1000" dirty="0">
                <a:solidFill>
                  <a:schemeClr val="tx2"/>
                </a:solidFill>
              </a:rPr>
              <a:t>Wasm output loses its taint tag with probability 0.5 (a design choice modelling a JS-level tracker). Result: 254 suspicious sessions have taint visible at the sink, 34 have it lost.</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An authentication-aware graph of each session</a:t>
            </a:r>
            <a:endParaRPr lang="en-US" sz="3200" dirty="0"/>
          </a:p>
        </p:txBody>
      </p:sp>
      <p:pic>
        <p:nvPicPr>
          <p:cNvPr id="3" name="graph-screenshot" descr="graph-screenshot">    </p:cNvPr>
          <p:cNvPicPr>
            <a:picLocks noChangeAspect="1"/>
          </p:cNvPicPr>
          <p:nvPr/>
        </p:nvPicPr>
        <p:blipFill>
          <a:blip r:embed="rId1"/>
          <a:stretch>
            <a:fillRect/>
          </a:stretch>
        </p:blipFill>
        <p:spPr>
          <a:xfrm>
            <a:off x="1014145" y="1371600"/>
            <a:ext cx="6475629" cy="4800600"/>
          </a:xfrm>
          <a:prstGeom prst="rect">
            <a:avLst/>
          </a:prstGeom>
        </p:spPr>
      </p:pic>
      <p:sp>
        <p:nvSpPr>
          <p:cNvPr id="4" name="frame"/>
          <p:cNvSpPr/>
          <p:nvPr/>
        </p:nvSpPr>
        <p:spPr>
          <a:xfrm>
            <a:off x="1014145" y="1371600"/>
            <a:ext cx="6475629" cy="4800600"/>
          </a:xfrm>
          <a:prstGeom prst="roundRect">
            <a:avLst>
              <a:gd name="adj" fmla="val 1143"/>
            </a:avLst>
          </a:prstGeom>
          <a:ln w="9525">
            <a:solidFill>
              <a:schemeClr val="tx2">
                <a:alpha val="30000"/>
              </a:schemeClr>
            </a:solidFill>
            <a:prstDash val="solid"/>
          </a:ln>
        </p:spPr>
      </p:sp>
      <p:sp>
        <p:nvSpPr>
          <p:cNvPr id="5" name="graph-facts"/>
          <p:cNvSpPr/>
          <p:nvPr/>
        </p:nvSpPr>
        <p:spPr>
          <a:xfrm>
            <a:off x="8229600" y="1371600"/>
            <a:ext cx="3383280" cy="4754880"/>
          </a:xfrm>
          <a:prstGeom prst="roundRect">
            <a:avLst>
              <a:gd name="adj" fmla="val 3243"/>
            </a:avLst>
          </a:prstGeom>
          <a:solidFill>
            <a:schemeClr val="bg2"/>
          </a:solidFill>
          <a:ln w="9525">
            <a:solidFill>
              <a:schemeClr val="tx2">
                <a:alpha val="25000"/>
              </a:schemeClr>
            </a:solidFill>
            <a:prstDash val="solid"/>
          </a:ln>
        </p:spPr>
      </p:sp>
      <p:sp>
        <p:nvSpPr>
          <p:cNvPr id="6" name="Text 3"/>
          <p:cNvSpPr txBox="1"/>
          <p:nvPr/>
        </p:nvSpPr>
        <p:spPr>
          <a:xfrm>
            <a:off x="8503920" y="1554480"/>
            <a:ext cx="292608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REPRESENTATION</a:t>
            </a:r>
            <a:endParaRPr lang="en-US" sz="1300" dirty="0"/>
          </a:p>
        </p:txBody>
      </p:sp>
      <p:sp>
        <p:nvSpPr>
          <p:cNvPr id="7" name="Text 4"/>
          <p:cNvSpPr txBox="1"/>
          <p:nvPr/>
        </p:nvSpPr>
        <p:spPr>
          <a:xfrm>
            <a:off x="8503920" y="1965960"/>
            <a:ext cx="2926080" cy="4023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11 node types: extension, content script, service worker, JS, Wasm, API, credential, storage, request, domain, page</a:t>
            </a:r>
            <a:endParaRPr lang="en-US" sz="1400" dirty="0"/>
          </a:p>
          <a:p>
            <a:pPr marL="203200" indent="-203200">
              <a:spcAft>
                <a:spcPts val="800"/>
              </a:spcAft>
              <a:buSzPct val="100000"/>
              <a:buChar char="•"/>
            </a:pPr>
            <a:r>
              <a:rPr lang="en-US" sz="1400" dirty="0">
                <a:solidFill>
                  <a:schemeClr val="tx1"/>
                </a:solidFill>
              </a:rPr>
              <a:t>17 relations, including flows_cred and carries (taint) that can be ablated</a:t>
            </a:r>
            <a:endParaRPr lang="en-US" sz="1400" dirty="0"/>
          </a:p>
          <a:p>
            <a:pPr marL="203200" indent="-203200">
              <a:spcAft>
                <a:spcPts val="800"/>
              </a:spcAft>
              <a:buSzPct val="100000"/>
              <a:buChar char="•"/>
            </a:pPr>
            <a:r>
              <a:rPr lang="en-US" sz="1400" dirty="0">
                <a:solidFill>
                  <a:schemeClr val="tx1"/>
                </a:solidFill>
              </a:rPr>
              <a:t>Mean 13.2 nodes and 19.4 edges per session</a:t>
            </a:r>
            <a:endParaRPr lang="en-US" sz="1400" dirty="0"/>
          </a:p>
          <a:p>
            <a:pPr marL="203200" indent="-203200">
              <a:spcAft>
                <a:spcPts val="800"/>
              </a:spcAft>
              <a:buSzPct val="100000"/>
              <a:buChar char="•"/>
            </a:pPr>
            <a:r>
              <a:rPr lang="en-US" sz="1400" dirty="0">
                <a:solidFill>
                  <a:schemeClr val="tx1"/>
                </a:solidFill>
              </a:rPr>
              <a:t>No names or scenario labels used as features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Experimental protocol: built to avoid fooling ourselves</a:t>
            </a:r>
            <a:endParaRPr lang="en-US" sz="3200" dirty="0"/>
          </a:p>
        </p:txBody>
      </p:sp>
      <p:sp>
        <p:nvSpPr>
          <p:cNvPr id="3" name="protocol"/>
          <p:cNvSpPr/>
          <p:nvPr/>
        </p:nvSpPr>
        <p:spPr>
          <a:xfrm>
            <a:off x="548640" y="1371600"/>
            <a:ext cx="3566160" cy="4754880"/>
          </a:xfrm>
          <a:prstGeom prst="roundRect">
            <a:avLst>
              <a:gd name="adj" fmla="val 3077"/>
            </a:avLst>
          </a:prstGeom>
          <a:solidFill>
            <a:schemeClr val="bg2"/>
          </a:solidFill>
          <a:ln w="9525">
            <a:solidFill>
              <a:schemeClr val="tx2">
                <a:alpha val="25000"/>
              </a:schemeClr>
            </a:solidFill>
            <a:prstDash val="solid"/>
          </a:ln>
        </p:spPr>
      </p:sp>
      <p:sp>
        <p:nvSpPr>
          <p:cNvPr id="4" name="dot"/>
          <p:cNvSpPr/>
          <p:nvPr/>
        </p:nvSpPr>
        <p:spPr>
          <a:xfrm>
            <a:off x="822960" y="1600200"/>
            <a:ext cx="164592" cy="164592"/>
          </a:xfrm>
          <a:prstGeom prst="ellipse">
            <a:avLst/>
          </a:prstGeom>
          <a:solidFill>
            <a:srgbClr val="22B8CF"/>
          </a:solidFill>
          <a:ln w="12700">
            <a:solidFill>
              <a:srgbClr val="22B8CF"/>
            </a:solidFill>
            <a:prstDash val="solid"/>
          </a:ln>
        </p:spPr>
      </p:sp>
      <p:sp>
        <p:nvSpPr>
          <p:cNvPr id="5" name="Text 3"/>
          <p:cNvSpPr txBox="1"/>
          <p:nvPr/>
        </p:nvSpPr>
        <p:spPr>
          <a:xfrm>
            <a:off x="1097280" y="1508760"/>
            <a:ext cx="2743200" cy="365760"/>
          </a:xfrm>
          <a:prstGeom prst="rect">
            <a:avLst/>
          </a:prstGeom>
          <a:noFill/>
          <a:ln/>
        </p:spPr>
        <p:txBody>
          <a:bodyPr wrap="square" lIns="0" tIns="0" rIns="0" bIns="0" rtlCol="0" anchor="ctr"/>
          <a:lstStyle/>
          <a:p>
            <a:pPr indent="0" marL="0">
              <a:buNone/>
            </a:pPr>
            <a:r>
              <a:rPr lang="en-US" sz="1400" b="1" spc="200" kern="0" dirty="0">
                <a:solidFill>
                  <a:srgbClr val="22B8CF"/>
                </a:solidFill>
              </a:rPr>
              <a:t>DETECTORS</a:t>
            </a:r>
            <a:endParaRPr lang="en-US" sz="1400" dirty="0"/>
          </a:p>
        </p:txBody>
      </p:sp>
      <p:sp>
        <p:nvSpPr>
          <p:cNvPr id="6" name="Text 4"/>
          <p:cNvSpPr txBox="1"/>
          <p:nvPr/>
        </p:nvSpPr>
        <p:spPr>
          <a:xfrm>
            <a:off x="822960" y="2103120"/>
            <a:ext cx="3108960" cy="393192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Rule R1: credential accessed AND unapproved request</a:t>
            </a:r>
            <a:endParaRPr lang="en-US" sz="1600" dirty="0"/>
          </a:p>
          <a:p>
            <a:pPr marL="203200" indent="-203200">
              <a:spcAft>
                <a:spcPts val="1200"/>
              </a:spcAft>
              <a:buSzPct val="100000"/>
              <a:buChar char="•"/>
            </a:pPr>
            <a:r>
              <a:rPr lang="en-US" sz="1600" dirty="0">
                <a:solidFill>
                  <a:schemeClr val="tx1"/>
                </a:solidFill>
              </a:rPr>
              <a:t>Rule R2: unapproved request carrying a credential taint tag</a:t>
            </a:r>
            <a:endParaRPr lang="en-US" sz="1600" dirty="0"/>
          </a:p>
          <a:p>
            <a:pPr marL="203200" indent="-203200">
              <a:spcAft>
                <a:spcPts val="1200"/>
              </a:spcAft>
              <a:buSzPct val="100000"/>
              <a:buChar char="•"/>
            </a:pPr>
            <a:r>
              <a:rPr lang="en-US" sz="1600" dirty="0">
                <a:solidFill>
                  <a:schemeClr val="tx1"/>
                </a:solidFill>
              </a:rPr>
              <a:t>Random Forest and MLP on count features</a:t>
            </a:r>
            <a:endParaRPr lang="en-US" sz="1600" dirty="0"/>
          </a:p>
          <a:p>
            <a:pPr marL="203200" indent="-203200">
              <a:spcAft>
                <a:spcPts val="1200"/>
              </a:spcAft>
              <a:buSzPct val="100000"/>
              <a:buChar char="•"/>
            </a:pPr>
            <a:r>
              <a:rPr lang="en-US" sz="1600" dirty="0">
                <a:solidFill>
                  <a:schemeClr val="tx1"/>
                </a:solidFill>
              </a:rPr>
              <a:t>GCN, GraphSAGE, R-GCN in plain PyTorch</a:t>
            </a:r>
            <a:endParaRPr lang="en-US" sz="1600" dirty="0"/>
          </a:p>
          <a:p>
            <a:pPr marL="203200" indent="-203200">
              <a:spcAft>
                <a:spcPts val="1200"/>
              </a:spcAft>
              <a:buSzPct val="100000"/>
              <a:buChar char="•"/>
            </a:pPr>
            <a:r>
              <a:rPr lang="en-US" sz="1600" dirty="0">
                <a:solidFill>
                  <a:schemeClr val="tx1"/>
                </a:solidFill>
              </a:rPr>
              <a:t>10-model ensembles for the dashboard scores</a:t>
            </a:r>
            <a:endParaRPr lang="en-US" sz="1600" dirty="0"/>
          </a:p>
        </p:txBody>
      </p:sp>
      <p:sp>
        <p:nvSpPr>
          <p:cNvPr id="7" name="protocol"/>
          <p:cNvSpPr/>
          <p:nvPr/>
        </p:nvSpPr>
        <p:spPr>
          <a:xfrm>
            <a:off x="4297680" y="1371600"/>
            <a:ext cx="3566160" cy="4754880"/>
          </a:xfrm>
          <a:prstGeom prst="roundRect">
            <a:avLst>
              <a:gd name="adj" fmla="val 3077"/>
            </a:avLst>
          </a:prstGeom>
          <a:solidFill>
            <a:schemeClr val="bg2"/>
          </a:solidFill>
          <a:ln w="9525">
            <a:solidFill>
              <a:schemeClr val="tx2">
                <a:alpha val="25000"/>
              </a:schemeClr>
            </a:solidFill>
            <a:prstDash val="solid"/>
          </a:ln>
        </p:spPr>
      </p:sp>
      <p:sp>
        <p:nvSpPr>
          <p:cNvPr id="8" name="dot"/>
          <p:cNvSpPr/>
          <p:nvPr/>
        </p:nvSpPr>
        <p:spPr>
          <a:xfrm>
            <a:off x="4572000" y="1600200"/>
            <a:ext cx="164592" cy="164592"/>
          </a:xfrm>
          <a:prstGeom prst="ellipse">
            <a:avLst/>
          </a:prstGeom>
          <a:solidFill>
            <a:srgbClr val="34D399"/>
          </a:solidFill>
          <a:ln w="12700">
            <a:solidFill>
              <a:srgbClr val="34D399"/>
            </a:solidFill>
            <a:prstDash val="solid"/>
          </a:ln>
        </p:spPr>
      </p:sp>
      <p:sp>
        <p:nvSpPr>
          <p:cNvPr id="9" name="Text 7"/>
          <p:cNvSpPr txBox="1"/>
          <p:nvPr/>
        </p:nvSpPr>
        <p:spPr>
          <a:xfrm>
            <a:off x="4846320" y="1508760"/>
            <a:ext cx="2743200" cy="365760"/>
          </a:xfrm>
          <a:prstGeom prst="rect">
            <a:avLst/>
          </a:prstGeom>
          <a:noFill/>
          <a:ln/>
        </p:spPr>
        <p:txBody>
          <a:bodyPr wrap="square" lIns="0" tIns="0" rIns="0" bIns="0" rtlCol="0" anchor="ctr"/>
          <a:lstStyle/>
          <a:p>
            <a:pPr indent="0" marL="0">
              <a:buNone/>
            </a:pPr>
            <a:r>
              <a:rPr lang="en-US" sz="1400" b="1" spc="200" kern="0" dirty="0">
                <a:solidFill>
                  <a:srgbClr val="34D399"/>
                </a:solidFill>
              </a:rPr>
              <a:t>SPLITS</a:t>
            </a:r>
            <a:endParaRPr lang="en-US" sz="1400" dirty="0"/>
          </a:p>
        </p:txBody>
      </p:sp>
      <p:sp>
        <p:nvSpPr>
          <p:cNvPr id="10" name="Text 8"/>
          <p:cNvSpPr txBox="1"/>
          <p:nvPr/>
        </p:nvSpPr>
        <p:spPr>
          <a:xfrm>
            <a:off x="4572000" y="2103120"/>
            <a:ext cx="3108960" cy="393192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Extension-level: all sessions of an extension stay in one split</a:t>
            </a:r>
            <a:endParaRPr lang="en-US" sz="1600" dirty="0"/>
          </a:p>
          <a:p>
            <a:pPr marL="203200" indent="-203200">
              <a:spcAft>
                <a:spcPts val="1200"/>
              </a:spcAft>
              <a:buSzPct val="100000"/>
              <a:buChar char="•"/>
            </a:pPr>
            <a:r>
              <a:rPr lang="en-US" sz="1600" dirty="0">
                <a:solidFill>
                  <a:schemeClr val="tx1"/>
                </a:solidFill>
              </a:rPr>
              <a:t>5 split seeds, mean ± std</a:t>
            </a:r>
            <a:endParaRPr lang="en-US" sz="1600" dirty="0"/>
          </a:p>
          <a:p>
            <a:pPr marL="203200" indent="-203200">
              <a:spcAft>
                <a:spcPts val="1200"/>
              </a:spcAft>
              <a:buSzPct val="100000"/>
              <a:buChar char="•"/>
            </a:pPr>
            <a:r>
              <a:rPr lang="en-US" sz="1600" dirty="0">
                <a:solidFill>
                  <a:schemeClr val="tx1"/>
                </a:solidFill>
              </a:rPr>
              <a:t>Unseen flow: hold out Wasm families (S3 + S5) entirely</a:t>
            </a:r>
            <a:endParaRPr lang="en-US" sz="1600" dirty="0"/>
          </a:p>
          <a:p>
            <a:pPr marL="203200" indent="-203200">
              <a:spcAft>
                <a:spcPts val="1200"/>
              </a:spcAft>
              <a:buSzPct val="100000"/>
              <a:buChar char="•"/>
            </a:pPr>
            <a:r>
              <a:rPr lang="en-US" sz="1600" dirty="0">
                <a:solidFill>
                  <a:schemeClr val="tx1"/>
                </a:solidFill>
              </a:rPr>
              <a:t>Leave-one-family-out for S1 to S6</a:t>
            </a:r>
            <a:endParaRPr lang="en-US" sz="1600" dirty="0"/>
          </a:p>
        </p:txBody>
      </p:sp>
      <p:sp>
        <p:nvSpPr>
          <p:cNvPr id="11" name="protocol"/>
          <p:cNvSpPr/>
          <p:nvPr/>
        </p:nvSpPr>
        <p:spPr>
          <a:xfrm>
            <a:off x="8046720" y="1371600"/>
            <a:ext cx="3566160" cy="4754880"/>
          </a:xfrm>
          <a:prstGeom prst="roundRect">
            <a:avLst>
              <a:gd name="adj" fmla="val 3077"/>
            </a:avLst>
          </a:prstGeom>
          <a:solidFill>
            <a:schemeClr val="bg2"/>
          </a:solidFill>
          <a:ln w="9525">
            <a:solidFill>
              <a:schemeClr val="tx2">
                <a:alpha val="25000"/>
              </a:schemeClr>
            </a:solidFill>
            <a:prstDash val="solid"/>
          </a:ln>
        </p:spPr>
      </p:sp>
      <p:sp>
        <p:nvSpPr>
          <p:cNvPr id="12" name="dot"/>
          <p:cNvSpPr/>
          <p:nvPr/>
        </p:nvSpPr>
        <p:spPr>
          <a:xfrm>
            <a:off x="8321040" y="1600200"/>
            <a:ext cx="164592" cy="164592"/>
          </a:xfrm>
          <a:prstGeom prst="ellipse">
            <a:avLst/>
          </a:prstGeom>
          <a:solidFill>
            <a:srgbClr val="F2C14E"/>
          </a:solidFill>
          <a:ln w="12700">
            <a:solidFill>
              <a:srgbClr val="F2C14E"/>
            </a:solidFill>
            <a:prstDash val="solid"/>
          </a:ln>
        </p:spPr>
      </p:sp>
      <p:sp>
        <p:nvSpPr>
          <p:cNvPr id="13" name="Text 11"/>
          <p:cNvSpPr txBox="1"/>
          <p:nvPr/>
        </p:nvSpPr>
        <p:spPr>
          <a:xfrm>
            <a:off x="8595360" y="1508760"/>
            <a:ext cx="2743200" cy="365760"/>
          </a:xfrm>
          <a:prstGeom prst="rect">
            <a:avLst/>
          </a:prstGeom>
          <a:noFill/>
          <a:ln/>
        </p:spPr>
        <p:txBody>
          <a:bodyPr wrap="square" lIns="0" tIns="0" rIns="0" bIns="0" rtlCol="0" anchor="ctr"/>
          <a:lstStyle/>
          <a:p>
            <a:pPr indent="0" marL="0">
              <a:buNone/>
            </a:pPr>
            <a:r>
              <a:rPr lang="en-US" sz="1400" b="1" spc="200" kern="0" dirty="0">
                <a:solidFill>
                  <a:srgbClr val="F2C14E"/>
                </a:solidFill>
              </a:rPr>
              <a:t>RIGOR</a:t>
            </a:r>
            <a:endParaRPr lang="en-US" sz="1400" dirty="0"/>
          </a:p>
        </p:txBody>
      </p:sp>
      <p:sp>
        <p:nvSpPr>
          <p:cNvPr id="14" name="Text 12"/>
          <p:cNvSpPr txBox="1"/>
          <p:nvPr/>
        </p:nvSpPr>
        <p:spPr>
          <a:xfrm>
            <a:off x="8321040" y="2103120"/>
            <a:ext cx="3108960" cy="393192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Validation-only tuning, identical grid for all GNNs</a:t>
            </a:r>
            <a:endParaRPr lang="en-US" sz="1600" dirty="0"/>
          </a:p>
          <a:p>
            <a:pPr marL="203200" indent="-203200">
              <a:spcAft>
                <a:spcPts val="1200"/>
              </a:spcAft>
              <a:buSzPct val="100000"/>
              <a:buChar char="•"/>
            </a:pPr>
            <a:r>
              <a:rPr lang="en-US" sz="1600" dirty="0">
                <a:solidFill>
                  <a:schemeClr val="tx1"/>
                </a:solidFill>
              </a:rPr>
              <a:t>Test sets never used for any choice</a:t>
            </a:r>
            <a:endParaRPr lang="en-US" sz="1600" dirty="0"/>
          </a:p>
          <a:p>
            <a:pPr marL="203200" indent="-203200">
              <a:spcAft>
                <a:spcPts val="1200"/>
              </a:spcAft>
              <a:buSzPct val="100000"/>
              <a:buChar char="•"/>
            </a:pPr>
            <a:r>
              <a:rPr lang="en-US" sz="1600" dirty="0">
                <a:solidFill>
                  <a:schemeClr val="tx1"/>
                </a:solidFill>
              </a:rPr>
              <a:t>Threshold 0.5, not tuned</a:t>
            </a:r>
            <a:endParaRPr lang="en-US" sz="1600" dirty="0"/>
          </a:p>
          <a:p>
            <a:pPr marL="203200" indent="-203200">
              <a:spcAft>
                <a:spcPts val="1200"/>
              </a:spcAft>
              <a:buSzPct val="100000"/>
              <a:buChar char="•"/>
            </a:pPr>
            <a:r>
              <a:rPr lang="en-US" sz="1600" dirty="0">
                <a:solidFill>
                  <a:schemeClr val="tx1"/>
                </a:solidFill>
              </a:rPr>
              <a:t>Every run logged; the untuned v1 run is kept</a:t>
            </a:r>
            <a:endParaRPr lang="en-US" sz="1600" dirty="0"/>
          </a:p>
          <a:p>
            <a:pPr marL="203200" indent="-203200">
              <a:spcAft>
                <a:spcPts val="1200"/>
              </a:spcAft>
              <a:buSzPct val="100000"/>
              <a:buChar char="•"/>
            </a:pPr>
            <a:r>
              <a:rPr lang="en-US" sz="1600" dirty="0">
                <a:solidFill>
                  <a:schemeClr val="tx1"/>
                </a:solidFill>
              </a:rPr>
              <a:t>NumPy Random Forest (a local policy blocked sklearn's tree module)</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Standard split: easy when taint is visible</a:t>
            </a:r>
            <a:endParaRPr lang="en-US" sz="3200" dirty="0"/>
          </a:p>
        </p:txBody>
      </p:sp>
      <p:graphicFrame>
        <p:nvGraphicFramePr>
          <p:cNvPr id="3" name="Chart 0" descr=""/>
          <p:cNvGraphicFramePr/>
          <p:nvPr/>
        </p:nvGraphicFramePr>
        <p:xfrm>
          <a:off x="54864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std-notes"/>
          <p:cNvSpPr/>
          <p:nvPr/>
        </p:nvSpPr>
        <p:spPr>
          <a:xfrm>
            <a:off x="8321040" y="1325880"/>
            <a:ext cx="3291840" cy="4846320"/>
          </a:xfrm>
          <a:prstGeom prst="roundRect">
            <a:avLst>
              <a:gd name="adj" fmla="val 3333"/>
            </a:avLst>
          </a:prstGeom>
          <a:solidFill>
            <a:schemeClr val="bg2"/>
          </a:solidFill>
          <a:ln w="9525">
            <a:solidFill>
              <a:schemeClr val="tx2">
                <a:alpha val="25000"/>
              </a:schemeClr>
            </a:solidFill>
            <a:prstDash val="solid"/>
          </a:ln>
        </p:spPr>
      </p:sp>
      <p:sp>
        <p:nvSpPr>
          <p:cNvPr id="5" name="Text 2"/>
          <p:cNvSpPr txBox="1"/>
          <p:nvPr/>
        </p:nvSpPr>
        <p:spPr>
          <a:xfrm>
            <a:off x="8595360" y="1508760"/>
            <a:ext cx="27432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HOW TO READ THIS</a:t>
            </a:r>
            <a:endParaRPr lang="en-US" sz="1300" dirty="0"/>
          </a:p>
        </p:txBody>
      </p:sp>
      <p:sp>
        <p:nvSpPr>
          <p:cNvPr id="6" name="Text 3"/>
          <p:cNvSpPr txBox="1"/>
          <p:nvPr/>
        </p:nvSpPr>
        <p:spPr>
          <a:xfrm>
            <a:off x="8595360" y="1920240"/>
            <a:ext cx="2834640" cy="41148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RF and MLP on simple counts already reach F1 0.98 and 0.96</a:t>
            </a:r>
            <a:endParaRPr lang="en-US" sz="1400" dirty="0"/>
          </a:p>
          <a:p>
            <a:pPr marL="203200" indent="-203200">
              <a:spcAft>
                <a:spcPts val="800"/>
              </a:spcAft>
              <a:buSzPct val="100000"/>
              <a:buChar char="•"/>
            </a:pPr>
            <a:r>
              <a:rPr lang="en-US" sz="1400" dirty="0">
                <a:solidFill>
                  <a:schemeClr val="tx1"/>
                </a:solidFill>
              </a:rPr>
              <a:t>GraphSAGE is best: F1 0.988, ROC-AUC 1.000</a:t>
            </a:r>
            <a:endParaRPr lang="en-US" sz="1400" dirty="0"/>
          </a:p>
          <a:p>
            <a:pPr marL="203200" indent="-203200">
              <a:spcAft>
                <a:spcPts val="800"/>
              </a:spcAft>
              <a:buSzPct val="100000"/>
              <a:buChar char="•"/>
            </a:pPr>
            <a:r>
              <a:rPr lang="en-US" sz="1400" dirty="0">
                <a:solidFill>
                  <a:schemeClr val="tx1"/>
                </a:solidFill>
              </a:rPr>
              <a:t>Rule R1 flags 16.7% of benign sessions</a:t>
            </a:r>
            <a:endParaRPr lang="en-US" sz="1400" dirty="0"/>
          </a:p>
          <a:p>
            <a:pPr marL="203200" indent="-203200">
              <a:spcAft>
                <a:spcPts val="800"/>
              </a:spcAft>
              <a:buSzPct val="100000"/>
              <a:buChar char="•"/>
            </a:pPr>
            <a:r>
              <a:rPr lang="en-US" sz="1400" dirty="0">
                <a:solidFill>
                  <a:schemeClr val="tx1"/>
                </a:solidFill>
              </a:rPr>
              <a:t>R-GCN is lowest of the learned models: 0.904</a:t>
            </a:r>
            <a:endParaRPr lang="en-US" sz="1400" dirty="0"/>
          </a:p>
          <a:p>
            <a:pPr marL="203200" indent="-203200">
              <a:spcAft>
                <a:spcPts val="800"/>
              </a:spcAft>
              <a:buSzPct val="100000"/>
              <a:buChar char="•"/>
            </a:pPr>
            <a:r>
              <a:rPr lang="en-US" sz="1400" dirty="0">
                <a:solidFill>
                  <a:schemeClr val="tx1"/>
                </a:solidFill>
              </a:rPr>
              <a:t>This split does not separate the methods, so the unseen-flow test matters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Never-seen Wasm flows: graph structure still detects them</a:t>
            </a:r>
            <a:endParaRPr lang="en-US" sz="3200" dirty="0"/>
          </a:p>
        </p:txBody>
      </p:sp>
      <p:graphicFrame>
        <p:nvGraphicFramePr>
          <p:cNvPr id="3" name="Chart 0" descr=""/>
          <p:cNvGraphicFramePr/>
          <p:nvPr/>
        </p:nvGraphicFramePr>
        <p:xfrm>
          <a:off x="548640" y="1325880"/>
          <a:ext cx="7680960" cy="4846320"/>
        </p:xfrm>
        <a:graphic xmlns:a="http://schemas.openxmlformats.org/drawingml/2006/main">
          <a:graphicData uri="http://schemas.openxmlformats.org/drawingml/2006/chart">
            <c:chart xmlns:c="http://schemas.openxmlformats.org/drawingml/2006/chart" r:id="rId1"/>
          </a:graphicData>
        </a:graphic>
      </p:graphicFrame>
      <p:sp>
        <p:nvSpPr>
          <p:cNvPr id="4" name="unseen-notes"/>
          <p:cNvSpPr/>
          <p:nvPr/>
        </p:nvSpPr>
        <p:spPr>
          <a:xfrm>
            <a:off x="8503920" y="1325880"/>
            <a:ext cx="3108960" cy="4846320"/>
          </a:xfrm>
          <a:prstGeom prst="roundRect">
            <a:avLst>
              <a:gd name="adj" fmla="val 3529"/>
            </a:avLst>
          </a:prstGeom>
          <a:solidFill>
            <a:schemeClr val="bg2"/>
          </a:solidFill>
          <a:ln w="9525">
            <a:solidFill>
              <a:schemeClr val="tx2">
                <a:alpha val="25000"/>
              </a:schemeClr>
            </a:solidFill>
            <a:prstDash val="solid"/>
          </a:ln>
        </p:spPr>
      </p:sp>
      <p:sp>
        <p:nvSpPr>
          <p:cNvPr id="5" name="Text 2"/>
          <p:cNvSpPr txBox="1"/>
          <p:nvPr/>
        </p:nvSpPr>
        <p:spPr>
          <a:xfrm>
            <a:off x="8732520" y="1508760"/>
            <a:ext cx="2743200" cy="320040"/>
          </a:xfrm>
          <a:prstGeom prst="rect">
            <a:avLst/>
          </a:prstGeom>
          <a:noFill/>
          <a:ln/>
        </p:spPr>
        <p:txBody>
          <a:bodyPr wrap="square" lIns="0" tIns="0" rIns="0" bIns="0" rtlCol="0" anchor="ctr"/>
          <a:lstStyle/>
          <a:p>
            <a:pPr indent="0" marL="0">
              <a:buNone/>
            </a:pPr>
            <a:r>
              <a:rPr lang="en-US" sz="1300" b="1" spc="200" kern="0" dirty="0">
                <a:solidFill>
                  <a:srgbClr val="34D399"/>
                </a:solidFill>
              </a:rPr>
              <a:t>THE RESEARCH MOMENT</a:t>
            </a:r>
            <a:endParaRPr lang="en-US" sz="1300" dirty="0"/>
          </a:p>
        </p:txBody>
      </p:sp>
      <p:sp>
        <p:nvSpPr>
          <p:cNvPr id="6" name="Text 3"/>
          <p:cNvSpPr txBox="1"/>
          <p:nvPr/>
        </p:nvSpPr>
        <p:spPr>
          <a:xfrm>
            <a:off x="8732520" y="1874520"/>
            <a:ext cx="2743200" cy="822960"/>
          </a:xfrm>
          <a:prstGeom prst="rect">
            <a:avLst/>
          </a:prstGeom>
          <a:noFill/>
          <a:ln/>
        </p:spPr>
        <p:txBody>
          <a:bodyPr wrap="square" lIns="0" tIns="0" rIns="0" bIns="0" rtlCol="0" anchor="ctr"/>
          <a:lstStyle/>
          <a:p>
            <a:pPr indent="0" marL="0">
              <a:buNone/>
            </a:pPr>
            <a:r>
              <a:rPr lang="en-US" sz="5200" b="1" dirty="0">
                <a:solidFill>
                  <a:srgbClr val="22B8CF"/>
                </a:solidFill>
              </a:rPr>
              <a:t>0.929</a:t>
            </a:r>
            <a:endParaRPr lang="en-US" sz="5200" dirty="0"/>
          </a:p>
        </p:txBody>
      </p:sp>
      <p:sp>
        <p:nvSpPr>
          <p:cNvPr id="7" name="Text 4"/>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1400" dirty="0">
                <a:solidFill>
                  <a:schemeClr val="tx1"/>
                </a:solidFill>
              </a:rPr>
              <a:t>GraphSAGE recall at 3.8% false positives</a:t>
            </a:r>
            <a:endParaRPr lang="en-US" sz="1400" dirty="0"/>
          </a:p>
        </p:txBody>
      </p:sp>
      <p:sp>
        <p:nvSpPr>
          <p:cNvPr id="8" name="Text 5"/>
          <p:cNvSpPr txBox="1"/>
          <p:nvPr/>
        </p:nvSpPr>
        <p:spPr>
          <a:xfrm>
            <a:off x="8732520" y="3383280"/>
            <a:ext cx="2743200" cy="2743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Taint rule R2: 0.646, because taint is lost inside Wasm</a:t>
            </a:r>
            <a:endParaRPr lang="en-US" sz="1300" dirty="0"/>
          </a:p>
          <a:p>
            <a:pPr marL="203200" indent="-203200">
              <a:spcAft>
                <a:spcPts val="600"/>
              </a:spcAft>
              <a:buSzPct val="100000"/>
              <a:buChar char="•"/>
            </a:pPr>
            <a:r>
              <a:rPr lang="en-US" sz="1300" dirty="0">
                <a:solidFill>
                  <a:schemeClr val="tx1"/>
                </a:solidFill>
              </a:rPr>
              <a:t>Flat models: 0.62–0.69</a:t>
            </a:r>
            <a:endParaRPr lang="en-US" sz="1300" dirty="0"/>
          </a:p>
          <a:p>
            <a:pPr marL="203200" indent="-203200">
              <a:spcAft>
                <a:spcPts val="600"/>
              </a:spcAft>
              <a:buSzPct val="100000"/>
              <a:buChar char="•"/>
            </a:pPr>
            <a:r>
              <a:rPr lang="en-US" sz="1300" dirty="0">
                <a:solidFill>
                  <a:schemeClr val="tx1"/>
                </a:solidFill>
              </a:rPr>
              <a:t>Rule R1 reaches 1.00 recall but with 16.7% false positives</a:t>
            </a:r>
            <a:endParaRPr lang="en-US" sz="1300" dirty="0"/>
          </a:p>
          <a:p>
            <a:pPr marL="203200" indent="-203200">
              <a:spcAft>
                <a:spcPts val="600"/>
              </a:spcAft>
              <a:buSzPct val="100000"/>
              <a:buChar char="•"/>
            </a:pPr>
            <a:r>
              <a:rPr lang="en-US" sz="1300" dirty="0">
                <a:solidFill>
                  <a:schemeClr val="tx1"/>
                </a:solidFill>
              </a:rPr>
              <a:t>R-GCN: 0.450</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Leave-one-family-out, and the taint-lost sessions</a:t>
            </a:r>
            <a:endParaRPr lang="en-US" sz="3200" dirty="0"/>
          </a:p>
        </p:txBody>
      </p:sp>
      <p:graphicFrame>
        <p:nvGraphicFramePr>
          <p:cNvPr id="3" name="Chart 0"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aint-lost"/>
          <p:cNvSpPr/>
          <p:nvPr/>
        </p:nvSpPr>
        <p:spPr>
          <a:xfrm>
            <a:off x="7726680" y="1325880"/>
            <a:ext cx="3886200" cy="4846320"/>
          </a:xfrm>
          <a:prstGeom prst="roundRect">
            <a:avLst>
              <a:gd name="adj" fmla="val 2824"/>
            </a:avLst>
          </a:prstGeom>
          <a:solidFill>
            <a:schemeClr val="bg2"/>
          </a:solidFill>
          <a:ln w="9525">
            <a:solidFill>
              <a:schemeClr val="tx2">
                <a:alpha val="25000"/>
              </a:schemeClr>
            </a:solidFill>
            <a:prstDash val="solid"/>
          </a:ln>
        </p:spPr>
      </p:sp>
      <p:sp>
        <p:nvSpPr>
          <p:cNvPr id="5" name="Text 2"/>
          <p:cNvSpPr txBox="1"/>
          <p:nvPr/>
        </p:nvSpPr>
        <p:spPr>
          <a:xfrm>
            <a:off x="8001000" y="1508760"/>
            <a:ext cx="3474720" cy="320040"/>
          </a:xfrm>
          <a:prstGeom prst="rect">
            <a:avLst/>
          </a:prstGeom>
          <a:noFill/>
          <a:ln/>
        </p:spPr>
        <p:txBody>
          <a:bodyPr wrap="square" lIns="0" tIns="0" rIns="0" bIns="0" rtlCol="0" anchor="ctr"/>
          <a:lstStyle/>
          <a:p>
            <a:pPr indent="0" marL="0">
              <a:buNone/>
            </a:pPr>
            <a:r>
              <a:rPr lang="en-US" sz="1300" b="1" spc="200" kern="0" dirty="0">
                <a:solidFill>
                  <a:srgbClr val="F2C14E"/>
                </a:solidFill>
              </a:rPr>
              <a:t>TAINT LOST INSIDE WASM</a:t>
            </a:r>
            <a:endParaRPr lang="en-US" sz="1300" dirty="0"/>
          </a:p>
        </p:txBody>
      </p:sp>
      <p:sp>
        <p:nvSpPr>
          <p:cNvPr id="6" name="Text 3"/>
          <p:cNvSpPr txBox="1"/>
          <p:nvPr/>
        </p:nvSpPr>
        <p:spPr>
          <a:xfrm>
            <a:off x="8001000" y="1828800"/>
            <a:ext cx="3383280" cy="320040"/>
          </a:xfrm>
          <a:prstGeom prst="rect">
            <a:avLst/>
          </a:prstGeom>
          <a:noFill/>
          <a:ln/>
        </p:spPr>
        <p:txBody>
          <a:bodyPr wrap="square" lIns="0" tIns="0" rIns="0" bIns="0" rtlCol="0" anchor="ctr"/>
          <a:lstStyle/>
          <a:p>
            <a:pPr indent="0" marL="0">
              <a:buNone/>
            </a:pPr>
            <a:r>
              <a:rPr lang="en-US" sz="1300" dirty="0">
                <a:solidFill>
                  <a:schemeClr val="tx2"/>
                </a:solidFill>
              </a:rPr>
              <a:t>n = 25 suspicious test sessions</a:t>
            </a:r>
            <a:endParaRPr lang="en-US" sz="1300" dirty="0"/>
          </a:p>
        </p:txBody>
      </p:sp>
      <p:sp>
        <p:nvSpPr>
          <p:cNvPr id="7" name="Text 4"/>
          <p:cNvSpPr txBox="1"/>
          <p:nvPr/>
        </p:nvSpPr>
        <p:spPr>
          <a:xfrm>
            <a:off x="8001000" y="2286000"/>
            <a:ext cx="1417320" cy="640080"/>
          </a:xfrm>
          <a:prstGeom prst="rect">
            <a:avLst/>
          </a:prstGeom>
          <a:noFill/>
          <a:ln/>
        </p:spPr>
        <p:txBody>
          <a:bodyPr wrap="square" lIns="0" tIns="0" rIns="0" bIns="0" rtlCol="0" anchor="ctr"/>
          <a:lstStyle/>
          <a:p>
            <a:pPr indent="0" marL="0">
              <a:buNone/>
            </a:pPr>
            <a:r>
              <a:rPr lang="en-US" sz="3000" b="1" dirty="0">
                <a:solidFill>
                  <a:srgbClr val="FF5C5C"/>
                </a:solidFill>
              </a:rPr>
              <a:t>0%</a:t>
            </a:r>
            <a:endParaRPr lang="en-US" sz="3000" dirty="0"/>
          </a:p>
        </p:txBody>
      </p:sp>
      <p:sp>
        <p:nvSpPr>
          <p:cNvPr id="8" name="Text 5"/>
          <p:cNvSpPr txBox="1"/>
          <p:nvPr/>
        </p:nvSpPr>
        <p:spPr>
          <a:xfrm>
            <a:off x="9464040" y="2286000"/>
            <a:ext cx="2011680" cy="640080"/>
          </a:xfrm>
          <a:prstGeom prst="rect">
            <a:avLst/>
          </a:prstGeom>
          <a:noFill/>
          <a:ln/>
        </p:spPr>
        <p:txBody>
          <a:bodyPr wrap="square" lIns="0" tIns="0" rIns="0" bIns="0" rtlCol="0" anchor="ctr"/>
          <a:lstStyle/>
          <a:p>
            <a:pPr indent="0" marL="0">
              <a:buNone/>
            </a:pPr>
            <a:r>
              <a:rPr lang="en-US" sz="1400" dirty="0">
                <a:solidFill>
                  <a:schemeClr val="tx1"/>
                </a:solidFill>
              </a:rPr>
              <a:t>Rule R2 (taint rule)</a:t>
            </a:r>
            <a:endParaRPr lang="en-US" sz="1400" dirty="0"/>
          </a:p>
        </p:txBody>
      </p:sp>
      <p:sp>
        <p:nvSpPr>
          <p:cNvPr id="9" name="Text 6"/>
          <p:cNvSpPr txBox="1"/>
          <p:nvPr/>
        </p:nvSpPr>
        <p:spPr>
          <a:xfrm>
            <a:off x="8001000" y="3063240"/>
            <a:ext cx="1417320" cy="640080"/>
          </a:xfrm>
          <a:prstGeom prst="rect">
            <a:avLst/>
          </a:prstGeom>
          <a:noFill/>
          <a:ln/>
        </p:spPr>
        <p:txBody>
          <a:bodyPr wrap="square" lIns="0" tIns="0" rIns="0" bIns="0" rtlCol="0" anchor="ctr"/>
          <a:lstStyle/>
          <a:p>
            <a:pPr indent="0" marL="0">
              <a:buNone/>
            </a:pPr>
            <a:r>
              <a:rPr lang="en-US" sz="3000" b="1" dirty="0">
                <a:solidFill>
                  <a:srgbClr val="F2C14E"/>
                </a:solidFill>
              </a:rPr>
              <a:t>92%</a:t>
            </a:r>
            <a:endParaRPr lang="en-US" sz="3000" dirty="0"/>
          </a:p>
        </p:txBody>
      </p:sp>
      <p:sp>
        <p:nvSpPr>
          <p:cNvPr id="10" name="Text 7"/>
          <p:cNvSpPr txBox="1"/>
          <p:nvPr/>
        </p:nvSpPr>
        <p:spPr>
          <a:xfrm>
            <a:off x="9464040" y="3063240"/>
            <a:ext cx="2011680" cy="640080"/>
          </a:xfrm>
          <a:prstGeom prst="rect">
            <a:avLst/>
          </a:prstGeom>
          <a:noFill/>
          <a:ln/>
        </p:spPr>
        <p:txBody>
          <a:bodyPr wrap="square" lIns="0" tIns="0" rIns="0" bIns="0" rtlCol="0" anchor="ctr"/>
          <a:lstStyle/>
          <a:p>
            <a:pPr indent="0" marL="0">
              <a:buNone/>
            </a:pPr>
            <a:r>
              <a:rPr lang="en-US" sz="1400" dirty="0">
                <a:solidFill>
                  <a:schemeClr val="tx1"/>
                </a:solidFill>
              </a:rPr>
              <a:t>RF (counts)</a:t>
            </a:r>
            <a:endParaRPr lang="en-US" sz="1400" dirty="0"/>
          </a:p>
        </p:txBody>
      </p:sp>
      <p:sp>
        <p:nvSpPr>
          <p:cNvPr id="11" name="Text 8"/>
          <p:cNvSpPr txBox="1"/>
          <p:nvPr/>
        </p:nvSpPr>
        <p:spPr>
          <a:xfrm>
            <a:off x="8001000" y="3840480"/>
            <a:ext cx="1417320" cy="640080"/>
          </a:xfrm>
          <a:prstGeom prst="rect">
            <a:avLst/>
          </a:prstGeom>
          <a:noFill/>
          <a:ln/>
        </p:spPr>
        <p:txBody>
          <a:bodyPr wrap="square" lIns="0" tIns="0" rIns="0" bIns="0" rtlCol="0" anchor="ctr"/>
          <a:lstStyle/>
          <a:p>
            <a:pPr indent="0" marL="0">
              <a:buNone/>
            </a:pPr>
            <a:r>
              <a:rPr lang="en-US" sz="3000" b="1" dirty="0">
                <a:solidFill>
                  <a:srgbClr val="22B8CF"/>
                </a:solidFill>
              </a:rPr>
              <a:t>100%</a:t>
            </a:r>
            <a:endParaRPr lang="en-US" sz="3000" dirty="0"/>
          </a:p>
        </p:txBody>
      </p:sp>
      <p:sp>
        <p:nvSpPr>
          <p:cNvPr id="12" name="Text 9"/>
          <p:cNvSpPr txBox="1"/>
          <p:nvPr/>
        </p:nvSpPr>
        <p:spPr>
          <a:xfrm>
            <a:off x="9464040" y="3840480"/>
            <a:ext cx="2011680" cy="640080"/>
          </a:xfrm>
          <a:prstGeom prst="rect">
            <a:avLst/>
          </a:prstGeom>
          <a:noFill/>
          <a:ln/>
        </p:spPr>
        <p:txBody>
          <a:bodyPr wrap="square" lIns="0" tIns="0" rIns="0" bIns="0" rtlCol="0" anchor="ctr"/>
          <a:lstStyle/>
          <a:p>
            <a:pPr indent="0" marL="0">
              <a:buNone/>
            </a:pPr>
            <a:r>
              <a:rPr lang="en-US" sz="1400" dirty="0">
                <a:solidFill>
                  <a:schemeClr val="tx1"/>
                </a:solidFill>
              </a:rPr>
              <a:t>GraphSAGE</a:t>
            </a:r>
            <a:endParaRPr lang="en-US" sz="1400" dirty="0"/>
          </a:p>
        </p:txBody>
      </p:sp>
      <p:sp>
        <p:nvSpPr>
          <p:cNvPr id="13" name="Text 10"/>
          <p:cNvSpPr txBox="1"/>
          <p:nvPr/>
        </p:nvSpPr>
        <p:spPr>
          <a:xfrm>
            <a:off x="8001000" y="4617720"/>
            <a:ext cx="1417320" cy="640080"/>
          </a:xfrm>
          <a:prstGeom prst="rect">
            <a:avLst/>
          </a:prstGeom>
          <a:noFill/>
          <a:ln/>
        </p:spPr>
        <p:txBody>
          <a:bodyPr wrap="square" lIns="0" tIns="0" rIns="0" bIns="0" rtlCol="0" anchor="ctr"/>
          <a:lstStyle/>
          <a:p>
            <a:pPr indent="0" marL="0">
              <a:buNone/>
            </a:pPr>
            <a:r>
              <a:rPr lang="en-US" sz="3000" b="1" dirty="0">
                <a:solidFill>
                  <a:srgbClr val="A78BFA"/>
                </a:solidFill>
              </a:rPr>
              <a:t>64%</a:t>
            </a:r>
            <a:endParaRPr lang="en-US" sz="3000" dirty="0"/>
          </a:p>
        </p:txBody>
      </p:sp>
      <p:sp>
        <p:nvSpPr>
          <p:cNvPr id="14" name="Text 11"/>
          <p:cNvSpPr txBox="1"/>
          <p:nvPr/>
        </p:nvSpPr>
        <p:spPr>
          <a:xfrm>
            <a:off x="9464040" y="4617720"/>
            <a:ext cx="2011680" cy="640080"/>
          </a:xfrm>
          <a:prstGeom prst="rect">
            <a:avLst/>
          </a:prstGeom>
          <a:noFill/>
          <a:ln/>
        </p:spPr>
        <p:txBody>
          <a:bodyPr wrap="square" lIns="0" tIns="0" rIns="0" bIns="0" rtlCol="0" anchor="ctr"/>
          <a:lstStyle/>
          <a:p>
            <a:pPr indent="0" marL="0">
              <a:buNone/>
            </a:pPr>
            <a:r>
              <a:rPr lang="en-US" sz="1400" dirty="0">
                <a:solidFill>
                  <a:schemeClr val="tx1"/>
                </a:solidFill>
              </a:rPr>
              <a:t>R-GCN</a:t>
            </a:r>
            <a:endParaRPr lang="en-US" sz="1400" dirty="0"/>
          </a:p>
        </p:txBody>
      </p:sp>
      <p:sp>
        <p:nvSpPr>
          <p:cNvPr id="15" name="Text 12"/>
          <p:cNvSpPr txBox="1"/>
          <p:nvPr/>
        </p:nvSpPr>
        <p:spPr>
          <a:xfrm>
            <a:off x="8001000" y="5486400"/>
            <a:ext cx="3383280" cy="548640"/>
          </a:xfrm>
          <a:prstGeom prst="rect">
            <a:avLst/>
          </a:prstGeom>
          <a:noFill/>
          <a:ln/>
        </p:spPr>
        <p:txBody>
          <a:bodyPr wrap="square" lIns="0" tIns="0" rIns="0" bIns="0" rtlCol="0" anchor="t"/>
          <a:lstStyle/>
          <a:p>
            <a:pPr indent="0" marL="0">
              <a:buNone/>
            </a:pPr>
            <a:r>
              <a:rPr lang="en-US" sz="1200" dirty="0">
                <a:solidFill>
                  <a:schemeClr val="tx2"/>
                </a:solidFill>
              </a:rPr>
              <a:t>Detection rate on these sessions. A taint rule cannot see them at all.</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Ablation: which information actually matters</a:t>
            </a:r>
            <a:endParaRPr lang="en-US" sz="3200" dirty="0"/>
          </a:p>
        </p:txBody>
      </p:sp>
      <p:graphicFrame>
        <p:nvGraphicFramePr>
          <p:cNvPr id="3" name="Chart 0" descr=""/>
          <p:cNvGraphicFramePr/>
          <p:nvPr/>
        </p:nvGraphicFramePr>
        <p:xfrm>
          <a:off x="548640" y="1325880"/>
          <a:ext cx="7589520" cy="4846320"/>
        </p:xfrm>
        <a:graphic xmlns:a="http://schemas.openxmlformats.org/drawingml/2006/main">
          <a:graphicData uri="http://schemas.openxmlformats.org/drawingml/2006/chart">
            <c:chart xmlns:c="http://schemas.openxmlformats.org/drawingml/2006/chart" r:id="rId1"/>
          </a:graphicData>
        </a:graphic>
      </p:graphicFrame>
      <p:sp>
        <p:nvSpPr>
          <p:cNvPr id="4" name="abl-notes"/>
          <p:cNvSpPr/>
          <p:nvPr/>
        </p:nvSpPr>
        <p:spPr>
          <a:xfrm>
            <a:off x="8412480" y="1325880"/>
            <a:ext cx="3200400" cy="4846320"/>
          </a:xfrm>
          <a:prstGeom prst="roundRect">
            <a:avLst>
              <a:gd name="adj" fmla="val 3429"/>
            </a:avLst>
          </a:prstGeom>
          <a:solidFill>
            <a:schemeClr val="bg2"/>
          </a:solidFill>
          <a:ln w="9525">
            <a:solidFill>
              <a:schemeClr val="tx2">
                <a:alpha val="25000"/>
              </a:schemeClr>
            </a:solidFill>
            <a:prstDash val="solid"/>
          </a:ln>
        </p:spPr>
      </p:sp>
      <p:sp>
        <p:nvSpPr>
          <p:cNvPr id="5" name="Text 2"/>
          <p:cNvSpPr txBox="1"/>
          <p:nvPr/>
        </p:nvSpPr>
        <p:spPr>
          <a:xfrm>
            <a:off x="8686800" y="1508760"/>
            <a:ext cx="27432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WHAT THE DATA SAY</a:t>
            </a:r>
            <a:endParaRPr lang="en-US" sz="1300" dirty="0"/>
          </a:p>
        </p:txBody>
      </p:sp>
      <p:sp>
        <p:nvSpPr>
          <p:cNvPr id="6" name="Text 3"/>
          <p:cNvSpPr txBox="1"/>
          <p:nvPr/>
        </p:nvSpPr>
        <p:spPr>
          <a:xfrm>
            <a:off x="8686800" y="1920240"/>
            <a:ext cx="2743200" cy="411480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Destinations matter most: GraphSAGE F1 0.988 → 0.899</a:t>
            </a:r>
            <a:endParaRPr lang="en-US" sz="1400" dirty="0"/>
          </a:p>
          <a:p>
            <a:pPr marL="203200" indent="-203200">
              <a:spcAft>
                <a:spcPts val="900"/>
              </a:spcAft>
              <a:buSzPct val="100000"/>
              <a:buChar char="•"/>
            </a:pPr>
            <a:r>
              <a:rPr lang="en-US" sz="1400" dirty="0">
                <a:solidFill>
                  <a:schemeClr val="tx1"/>
                </a:solidFill>
              </a:rPr>
              <a:t>Auth nodes next: → 0.917</a:t>
            </a:r>
            <a:endParaRPr lang="en-US" sz="1400" dirty="0"/>
          </a:p>
          <a:p>
            <a:pPr marL="203200" indent="-203200">
              <a:spcAft>
                <a:spcPts val="900"/>
              </a:spcAft>
              <a:buSzPct val="100000"/>
              <a:buChar char="•"/>
            </a:pPr>
            <a:r>
              <a:rPr lang="en-US" sz="1400" dirty="0">
                <a:solidFill>
                  <a:schemeClr val="tx1"/>
                </a:solidFill>
              </a:rPr>
              <a:t>Taint edges help: → 0.948, yet the structure alone keeps most of the signal</a:t>
            </a:r>
            <a:endParaRPr lang="en-US" sz="1400" dirty="0"/>
          </a:p>
          <a:p>
            <a:pPr marL="203200" indent="-203200">
              <a:spcAft>
                <a:spcPts val="900"/>
              </a:spcAft>
              <a:buSzPct val="100000"/>
              <a:buChar char="•"/>
            </a:pPr>
            <a:r>
              <a:rPr lang="en-US" sz="1400" dirty="0">
                <a:solidFill>
                  <a:schemeClr val="tx1"/>
                </a:solidFill>
              </a:rPr>
              <a:t>JS/Wasm nodes barely change GraphSAGE (0.988)</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The honest negative: our proposed R-GCN lost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657600"/>
                <a:gridCol w="2377440"/>
                <a:gridCol w="2468880"/>
                <a:gridCol w="2560320"/>
              </a:tblGrid>
              <a:tr h="502920">
                <a:tc>
                  <a:txBody>
                    <a:bodyPr/>
                    <a:lstStyle/>
                    <a:p>
                      <a:pPr algn="ctr" indent="0" marL="0">
                        <a:buNone/>
                      </a:pP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22B8CF"/>
                          </a:solidFill>
                        </a:rPr>
                        <a:t>Parameters</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22B8CF"/>
                          </a:solidFill>
                        </a:rPr>
                        <a:t>Standard split F1</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22B8CF"/>
                          </a:solidFill>
                        </a:rPr>
                        <a:t>Unseen Wasm recall</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r>
              <a:tr h="502920">
                <a:tc>
                  <a:txBody>
                    <a:bodyPr/>
                    <a:lstStyle/>
                    <a:p>
                      <a:pPr algn="ctr" indent="0" marL="0">
                        <a:buNone/>
                      </a:pPr>
                      <a:r>
                        <a:rPr lang="en-US" sz="1600" dirty="0">
                          <a:solidFill>
                            <a:srgbClr val="8B9BB4"/>
                          </a:solidFill>
                        </a:rPr>
                        <a:t>R-GCN, untuned (v1)</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dirty="0">
                          <a:solidFill>
                            <a:srgbClr val="8B9BB4"/>
                          </a:solidFill>
                        </a:rPr>
                        <a:t>349,058</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dirty="0">
                          <a:solidFill>
                            <a:srgbClr val="8B9BB4"/>
                          </a:solidFill>
                        </a:rPr>
                        <a:t>0.904</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dirty="0">
                          <a:solidFill>
                            <a:srgbClr val="8B9BB4"/>
                          </a:solidFill>
                        </a:rPr>
                        <a:t>0.263</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r>
              <a:tr h="502920">
                <a:tc>
                  <a:txBody>
                    <a:bodyPr/>
                    <a:lstStyle/>
                    <a:p>
                      <a:pPr algn="ctr" indent="0" marL="0">
                        <a:buNone/>
                      </a:pPr>
                      <a:r>
                        <a:rPr lang="en-US" sz="1600" b="1" dirty="0">
                          <a:solidFill>
                            <a:srgbClr val="A78BFA"/>
                          </a:solidFill>
                        </a:rPr>
                        <a:t>R-GCN, validation-tuned (v2)</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78BFA"/>
                          </a:solidFill>
                        </a:rPr>
                        <a:t>5,498</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78BFA"/>
                          </a:solidFill>
                        </a:rPr>
                        <a:t>0.904</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78BFA"/>
                          </a:solidFill>
                        </a:rPr>
                        <a:t>0.450</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r>
              <a:tr h="502920">
                <a:tc>
                  <a:txBody>
                    <a:bodyPr/>
                    <a:lstStyle/>
                    <a:p>
                      <a:pPr algn="ctr" indent="0" marL="0">
                        <a:buNone/>
                      </a:pPr>
                      <a:r>
                        <a:rPr lang="en-US" sz="1600" b="1" dirty="0">
                          <a:solidFill>
                            <a:srgbClr val="22B8CF"/>
                          </a:solidFill>
                        </a:rPr>
                        <a:t>GraphSAGE</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22B8CF"/>
                          </a:solidFill>
                        </a:rPr>
                        <a:t>28,034</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22B8CF"/>
                          </a:solidFill>
                        </a:rPr>
                        <a:t>0.988</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22B8CF"/>
                          </a:solidFill>
                        </a:rPr>
                        <a:t>0.929</a:t>
                      </a:r>
                      <a:endParaRPr lang="en-US" sz="1600" dirty="0"/>
                    </a:p>
                  </a:txBody>
                  <a:tcPr marL="73152" marR="73152" marT="73152" marB="73152" anchor="ctr">
                    <a:lnL w="9525" cap="flat" cmpd="sng" algn="ctr">
                      <a:solidFill>
                        <a:srgbClr val="22314A"/>
                      </a:solidFill>
                      <a:prstDash val="solid"/>
                      <a:round/>
                      <a:headEnd type="none" w="med" len="med"/>
                      <a:tailEnd type="none" w="med" len="med"/>
                    </a:lnL>
                    <a:lnR w="9525" cap="flat" cmpd="sng" algn="ctr">
                      <a:solidFill>
                        <a:srgbClr val="22314A"/>
                      </a:solidFill>
                      <a:prstDash val="solid"/>
                      <a:round/>
                      <a:headEnd type="none" w="med" len="med"/>
                      <a:tailEnd type="none" w="med" len="med"/>
                    </a:lnR>
                    <a:lnT w="9525" cap="flat" cmpd="sng" algn="ctr">
                      <a:solidFill>
                        <a:srgbClr val="22314A"/>
                      </a:solidFill>
                      <a:prstDash val="solid"/>
                      <a:round/>
                      <a:headEnd type="none" w="med" len="med"/>
                      <a:tailEnd type="none" w="med" len="med"/>
                    </a:lnT>
                    <a:lnB w="9525" cap="flat" cmpd="sng" algn="ctr">
                      <a:solidFill>
                        <a:srgbClr val="22314A"/>
                      </a:solidFill>
                      <a:prstDash val="solid"/>
                      <a:round/>
                      <a:headEnd type="none" w="med" len="med"/>
                      <a:tailEnd type="none" w="med" len="med"/>
                    </a:lnB>
                    <a:solidFill>
                      <a:schemeClr val="bg2"/>
                    </a:solidFill>
                  </a:tcPr>
                </a:tc>
              </a:tr>
            </a:tbl>
          </a:graphicData>
        </a:graphic>
      </p:graphicFrame>
      <p:sp>
        <p:nvSpPr>
          <p:cNvPr id="4" name="why"/>
          <p:cNvSpPr/>
          <p:nvPr/>
        </p:nvSpPr>
        <p:spPr>
          <a:xfrm>
            <a:off x="548640" y="3703320"/>
            <a:ext cx="5394960" cy="2423160"/>
          </a:xfrm>
          <a:prstGeom prst="roundRect">
            <a:avLst>
              <a:gd name="adj" fmla="val 4528"/>
            </a:avLst>
          </a:prstGeom>
          <a:solidFill>
            <a:schemeClr val="bg2"/>
          </a:solidFill>
          <a:ln w="9525">
            <a:solidFill>
              <a:schemeClr val="tx2">
                <a:alpha val="25000"/>
              </a:schemeClr>
            </a:solidFill>
            <a:prstDash val="solid"/>
          </a:ln>
        </p:spPr>
      </p:sp>
      <p:sp>
        <p:nvSpPr>
          <p:cNvPr id="5" name="Text 2"/>
          <p:cNvSpPr txBox="1"/>
          <p:nvPr/>
        </p:nvSpPr>
        <p:spPr>
          <a:xfrm>
            <a:off x="822960" y="3840480"/>
            <a:ext cx="4572000" cy="320040"/>
          </a:xfrm>
          <a:prstGeom prst="rect">
            <a:avLst/>
          </a:prstGeom>
          <a:noFill/>
          <a:ln/>
        </p:spPr>
        <p:txBody>
          <a:bodyPr wrap="square" lIns="0" tIns="0" rIns="0" bIns="0" rtlCol="0" anchor="ctr"/>
          <a:lstStyle/>
          <a:p>
            <a:pPr indent="0" marL="0">
              <a:buNone/>
            </a:pPr>
            <a:r>
              <a:rPr lang="en-US" sz="1300" b="1" spc="200" kern="0" dirty="0">
                <a:solidFill>
                  <a:srgbClr val="F2C14E"/>
                </a:solidFill>
              </a:rPr>
              <a:t>HYPOTHESES (NOT YET TESTED)</a:t>
            </a:r>
            <a:endParaRPr lang="en-US" sz="1300" dirty="0"/>
          </a:p>
        </p:txBody>
      </p:sp>
      <p:sp>
        <p:nvSpPr>
          <p:cNvPr id="6" name="Text 3"/>
          <p:cNvSpPr txBox="1"/>
          <p:nvPr/>
        </p:nvSpPr>
        <p:spPr>
          <a:xfrm>
            <a:off x="822960" y="4251960"/>
            <a:ext cx="4846320" cy="18288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Under-converged: on 2 of 5 splits the best epoch was 10 and 21 with train loss near 0.2</a:t>
            </a:r>
            <a:endParaRPr lang="en-US" sz="1400" dirty="0"/>
          </a:p>
          <a:p>
            <a:pPr marL="203200" indent="-203200">
              <a:spcAft>
                <a:spcPts val="800"/>
              </a:spcAft>
              <a:buSzPct val="100000"/>
              <a:buChar char="•"/>
            </a:pPr>
            <a:r>
              <a:rPr lang="en-US" sz="1400" dirty="0">
                <a:solidFill>
                  <a:schemeClr val="tx1"/>
                </a:solidFill>
              </a:rPr>
              <a:t>Per-relation weights may transfer poorly to unseen relation combinations with about 350 training graphs</a:t>
            </a:r>
            <a:endParaRPr lang="en-US" sz="1400" dirty="0"/>
          </a:p>
        </p:txBody>
      </p:sp>
      <p:sp>
        <p:nvSpPr>
          <p:cNvPr id="7" name="what-we-did"/>
          <p:cNvSpPr/>
          <p:nvPr/>
        </p:nvSpPr>
        <p:spPr>
          <a:xfrm>
            <a:off x="6217920" y="3703320"/>
            <a:ext cx="5394960" cy="2423160"/>
          </a:xfrm>
          <a:prstGeom prst="roundRect">
            <a:avLst>
              <a:gd name="adj" fmla="val 4528"/>
            </a:avLst>
          </a:prstGeom>
          <a:solidFill>
            <a:schemeClr val="bg2"/>
          </a:solidFill>
          <a:ln w="9525">
            <a:solidFill>
              <a:schemeClr val="tx2">
                <a:alpha val="25000"/>
              </a:schemeClr>
            </a:solidFill>
            <a:prstDash val="solid"/>
          </a:ln>
        </p:spPr>
      </p:sp>
      <p:sp>
        <p:nvSpPr>
          <p:cNvPr id="8" name="Text 5"/>
          <p:cNvSpPr txBox="1"/>
          <p:nvPr/>
        </p:nvSpPr>
        <p:spPr>
          <a:xfrm>
            <a:off x="6492240" y="3840480"/>
            <a:ext cx="4572000" cy="320040"/>
          </a:xfrm>
          <a:prstGeom prst="rect">
            <a:avLst/>
          </a:prstGeom>
          <a:noFill/>
          <a:ln/>
        </p:spPr>
        <p:txBody>
          <a:bodyPr wrap="square" lIns="0" tIns="0" rIns="0" bIns="0" rtlCol="0" anchor="ctr"/>
          <a:lstStyle/>
          <a:p>
            <a:pPr indent="0" marL="0">
              <a:buNone/>
            </a:pPr>
            <a:r>
              <a:rPr lang="en-US" sz="1300" b="1" spc="200" kern="0" dirty="0">
                <a:solidFill>
                  <a:srgbClr val="34D399"/>
                </a:solidFill>
              </a:rPr>
              <a:t>WHAT WE DID NOT DO</a:t>
            </a:r>
            <a:endParaRPr lang="en-US" sz="1300" dirty="0"/>
          </a:p>
        </p:txBody>
      </p:sp>
      <p:sp>
        <p:nvSpPr>
          <p:cNvPr id="9" name="Text 6"/>
          <p:cNvSpPr txBox="1"/>
          <p:nvPr/>
        </p:nvSpPr>
        <p:spPr>
          <a:xfrm>
            <a:off x="6492240" y="4251960"/>
            <a:ext cx="4846320" cy="18288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Tune anything on the test sets</a:t>
            </a:r>
            <a:endParaRPr lang="en-US" sz="1400" dirty="0"/>
          </a:p>
          <a:p>
            <a:pPr marL="203200" indent="-203200">
              <a:spcAft>
                <a:spcPts val="800"/>
              </a:spcAft>
              <a:buSzPct val="100000"/>
              <a:buChar char="•"/>
            </a:pPr>
            <a:r>
              <a:rPr lang="en-US" sz="1400" dirty="0">
                <a:solidFill>
                  <a:schemeClr val="tx1"/>
                </a:solidFill>
              </a:rPr>
              <a:t>Hide the first run: results/v1_untuned/ is kept</a:t>
            </a:r>
            <a:endParaRPr lang="en-US" sz="1400" dirty="0"/>
          </a:p>
          <a:p>
            <a:pPr marL="203200" indent="-203200">
              <a:spcAft>
                <a:spcPts val="800"/>
              </a:spcAft>
              <a:buSzPct val="100000"/>
              <a:buChar char="•"/>
            </a:pPr>
            <a:r>
              <a:rPr lang="en-US" sz="1400" dirty="0">
                <a:solidFill>
                  <a:schemeClr val="tx1"/>
                </a:solidFill>
              </a:rPr>
              <a:t>Move the goalposts: the unseen-flow headline is GraphSAGE</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Explainability: the path that triggered the verdict</a:t>
            </a:r>
            <a:endParaRPr lang="en-US" sz="3200" dirty="0"/>
          </a:p>
        </p:txBody>
      </p:sp>
      <p:pic>
        <p:nvPicPr>
          <p:cNvPr id="3" name="explain-graph" descr="explain-graph">    </p:cNvPr>
          <p:cNvPicPr>
            <a:picLocks noChangeAspect="1"/>
          </p:cNvPicPr>
          <p:nvPr/>
        </p:nvPicPr>
        <p:blipFill>
          <a:blip r:embed="rId1"/>
          <a:stretch>
            <a:fillRect/>
          </a:stretch>
        </p:blipFill>
        <p:spPr>
          <a:xfrm>
            <a:off x="1145354" y="1325880"/>
            <a:ext cx="4841611" cy="3886200"/>
          </a:xfrm>
          <a:prstGeom prst="rect">
            <a:avLst/>
          </a:prstGeom>
        </p:spPr>
      </p:pic>
      <p:sp>
        <p:nvSpPr>
          <p:cNvPr id="4" name="frame"/>
          <p:cNvSpPr/>
          <p:nvPr/>
        </p:nvSpPr>
        <p:spPr>
          <a:xfrm>
            <a:off x="1145354" y="1325880"/>
            <a:ext cx="4841611" cy="3886200"/>
          </a:xfrm>
          <a:prstGeom prst="roundRect">
            <a:avLst>
              <a:gd name="adj" fmla="val 1412"/>
            </a:avLst>
          </a:prstGeom>
          <a:ln w="9525">
            <a:solidFill>
              <a:schemeClr val="tx2">
                <a:alpha val="30000"/>
              </a:schemeClr>
            </a:solidFill>
            <a:prstDash val="solid"/>
          </a:ln>
        </p:spPr>
      </p:sp>
      <p:sp>
        <p:nvSpPr>
          <p:cNvPr id="5" name="verdict-explain"/>
          <p:cNvSpPr/>
          <p:nvPr/>
        </p:nvSpPr>
        <p:spPr>
          <a:xfrm>
            <a:off x="6812280" y="1325880"/>
            <a:ext cx="4800600" cy="1600200"/>
          </a:xfrm>
          <a:prstGeom prst="roundRect">
            <a:avLst>
              <a:gd name="adj" fmla="val 6857"/>
            </a:avLst>
          </a:prstGeom>
          <a:solidFill>
            <a:schemeClr val="bg2"/>
          </a:solidFill>
          <a:ln w="9525">
            <a:solidFill>
              <a:schemeClr val="tx2">
                <a:alpha val="25000"/>
              </a:schemeClr>
            </a:solidFill>
            <a:prstDash val="solid"/>
          </a:ln>
        </p:spPr>
      </p:sp>
      <p:sp>
        <p:nvSpPr>
          <p:cNvPr id="6" name="verdict-edge"/>
          <p:cNvSpPr/>
          <p:nvPr/>
        </p:nvSpPr>
        <p:spPr>
          <a:xfrm>
            <a:off x="6812280" y="1325880"/>
            <a:ext cx="109728" cy="1600200"/>
          </a:xfrm>
          <a:prstGeom prst="roundRect">
            <a:avLst>
              <a:gd name="adj" fmla="val 50000"/>
            </a:avLst>
          </a:prstGeom>
          <a:solidFill>
            <a:srgbClr val="FF5C5C"/>
          </a:solidFill>
          <a:ln w="12700">
            <a:solidFill>
              <a:srgbClr val="FF5C5C"/>
            </a:solidFill>
            <a:prstDash val="solid"/>
          </a:ln>
        </p:spPr>
      </p:sp>
      <p:sp>
        <p:nvSpPr>
          <p:cNvPr id="7" name="Text 4"/>
          <p:cNvSpPr txBox="1"/>
          <p:nvPr/>
        </p:nvSpPr>
        <p:spPr>
          <a:xfrm>
            <a:off x="7132320" y="1417320"/>
            <a:ext cx="2468880" cy="548640"/>
          </a:xfrm>
          <a:prstGeom prst="rect">
            <a:avLst/>
          </a:prstGeom>
          <a:noFill/>
          <a:ln/>
        </p:spPr>
        <p:txBody>
          <a:bodyPr wrap="square" lIns="0" tIns="0" rIns="0" bIns="0" rtlCol="0" anchor="ctr"/>
          <a:lstStyle/>
          <a:p>
            <a:pPr indent="0" marL="0">
              <a:buNone/>
            </a:pPr>
            <a:r>
              <a:rPr lang="en-US" sz="2800" b="1" dirty="0">
                <a:solidFill>
                  <a:srgbClr val="FF5C5C"/>
                </a:solidFill>
              </a:rPr>
              <a:t>SUSPICIOUS</a:t>
            </a:r>
            <a:endParaRPr lang="en-US" sz="2800" dirty="0"/>
          </a:p>
        </p:txBody>
      </p:sp>
      <p:sp>
        <p:nvSpPr>
          <p:cNvPr id="8" name="Text 5"/>
          <p:cNvSpPr txBox="1"/>
          <p:nvPr/>
        </p:nvSpPr>
        <p:spPr>
          <a:xfrm>
            <a:off x="9326880" y="1417320"/>
            <a:ext cx="2148840" cy="548640"/>
          </a:xfrm>
          <a:prstGeom prst="rect">
            <a:avLst/>
          </a:prstGeom>
          <a:noFill/>
          <a:ln/>
        </p:spPr>
        <p:txBody>
          <a:bodyPr wrap="square" lIns="0" tIns="0" rIns="0" bIns="0" rtlCol="0" anchor="ctr"/>
          <a:lstStyle/>
          <a:p>
            <a:pPr algn="r" indent="0" marL="0">
              <a:buNone/>
            </a:pPr>
            <a:r>
              <a:rPr lang="en-US" sz="1600" b="1" dirty="0">
                <a:solidFill>
                  <a:schemeClr val="tx1"/>
                </a:solidFill>
              </a:rPr>
              <a:t>confidence ≥99.3%</a:t>
            </a:r>
            <a:endParaRPr lang="en-US" sz="1600" dirty="0"/>
          </a:p>
        </p:txBody>
      </p:sp>
      <p:sp>
        <p:nvSpPr>
          <p:cNvPr id="9" name="Text 6"/>
          <p:cNvSpPr txBox="1"/>
          <p:nvPr/>
        </p:nvSpPr>
        <p:spPr>
          <a:xfrm>
            <a:off x="7132320" y="2103120"/>
            <a:ext cx="4343400" cy="685800"/>
          </a:xfrm>
          <a:prstGeom prst="rect">
            <a:avLst/>
          </a:prstGeom>
          <a:noFill/>
          <a:ln/>
        </p:spPr>
        <p:txBody>
          <a:bodyPr wrap="square" lIns="0" tIns="0" rIns="0" bIns="0" rtlCol="0" anchor="t"/>
          <a:lstStyle/>
          <a:p>
            <a:pPr indent="0" marL="0">
              <a:buNone/>
            </a:pPr>
            <a:r>
              <a:rPr lang="en-US" sz="1400" dirty="0">
                <a:solidFill>
                  <a:schemeClr val="tx2"/>
                </a:solidFill>
              </a:rPr>
              <a:t>550 of 550 held-out sessions in this score band were correct</a:t>
            </a:r>
            <a:endParaRPr lang="en-US" sz="1400" dirty="0"/>
          </a:p>
        </p:txBody>
      </p:sp>
      <p:sp>
        <p:nvSpPr>
          <p:cNvPr id="10" name="path-explain"/>
          <p:cNvSpPr/>
          <p:nvPr/>
        </p:nvSpPr>
        <p:spPr>
          <a:xfrm>
            <a:off x="6812280" y="3108960"/>
            <a:ext cx="4800600" cy="2103120"/>
          </a:xfrm>
          <a:prstGeom prst="roundRect">
            <a:avLst>
              <a:gd name="adj" fmla="val 5217"/>
            </a:avLst>
          </a:prstGeom>
          <a:solidFill>
            <a:schemeClr val="bg2"/>
          </a:solidFill>
          <a:ln w="9525">
            <a:solidFill>
              <a:schemeClr val="tx2">
                <a:alpha val="25000"/>
              </a:schemeClr>
            </a:solidFill>
            <a:prstDash val="solid"/>
          </a:ln>
        </p:spPr>
      </p:sp>
      <p:sp>
        <p:nvSpPr>
          <p:cNvPr id="11" name="Text 8"/>
          <p:cNvSpPr txBox="1"/>
          <p:nvPr/>
        </p:nvSpPr>
        <p:spPr>
          <a:xfrm>
            <a:off x="7086600" y="3246120"/>
            <a:ext cx="4114800" cy="320040"/>
          </a:xfrm>
          <a:prstGeom prst="rect">
            <a:avLst/>
          </a:prstGeom>
          <a:noFill/>
          <a:ln/>
        </p:spPr>
        <p:txBody>
          <a:bodyPr wrap="square" lIns="0" tIns="0" rIns="0" bIns="0" rtlCol="0" anchor="ctr"/>
          <a:lstStyle/>
          <a:p>
            <a:pPr indent="0" marL="0">
              <a:buNone/>
            </a:pPr>
            <a:r>
              <a:rPr lang="en-US" sz="1300" b="1" spc="200" kern="0" dirty="0">
                <a:solidFill>
                  <a:srgbClr val="FF5C5C"/>
                </a:solidFill>
              </a:rPr>
              <a:t>HIGHLIGHTED ATTACK PATH</a:t>
            </a:r>
            <a:endParaRPr lang="en-US" sz="1300" dirty="0"/>
          </a:p>
        </p:txBody>
      </p:sp>
      <p:sp>
        <p:nvSpPr>
          <p:cNvPr id="12" name="chip"/>
          <p:cNvSpPr/>
          <p:nvPr/>
        </p:nvSpPr>
        <p:spPr>
          <a:xfrm>
            <a:off x="7086600" y="3703320"/>
            <a:ext cx="2148840" cy="566928"/>
          </a:xfrm>
          <a:prstGeom prst="roundRect">
            <a:avLst>
              <a:gd name="adj" fmla="val 16129"/>
            </a:avLst>
          </a:prstGeom>
          <a:solidFill>
            <a:srgbClr val="FB923C"/>
          </a:solidFill>
          <a:ln w="12700">
            <a:solidFill>
              <a:srgbClr val="FB923C"/>
            </a:solidFill>
            <a:prstDash val="solid"/>
          </a:ln>
        </p:spPr>
      </p:sp>
      <p:sp>
        <p:nvSpPr>
          <p:cNvPr id="13" name="Text 10"/>
          <p:cNvSpPr txBox="1"/>
          <p:nvPr/>
        </p:nvSpPr>
        <p:spPr>
          <a:xfrm>
            <a:off x="7086600" y="3703320"/>
            <a:ext cx="214884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jwt_localstorage:6c988e</a:t>
            </a:r>
            <a:endParaRPr lang="en-US" sz="1300" dirty="0"/>
          </a:p>
        </p:txBody>
      </p:sp>
      <p:sp>
        <p:nvSpPr>
          <p:cNvPr id="14" name="arrow"/>
          <p:cNvSpPr/>
          <p:nvPr/>
        </p:nvSpPr>
        <p:spPr>
          <a:xfrm>
            <a:off x="9262872" y="3986784"/>
            <a:ext cx="274320" cy="0"/>
          </a:xfrm>
          <a:prstGeom prst="line">
            <a:avLst/>
          </a:prstGeom>
          <a:noFill/>
          <a:ln w="25400">
            <a:solidFill>
              <a:srgbClr val="FF5C5C"/>
            </a:solidFill>
            <a:prstDash val="solid"/>
            <a:tailEnd type="triangle"/>
          </a:ln>
        </p:spPr>
      </p:sp>
      <p:sp>
        <p:nvSpPr>
          <p:cNvPr id="15" name="chip"/>
          <p:cNvSpPr/>
          <p:nvPr/>
        </p:nvSpPr>
        <p:spPr>
          <a:xfrm>
            <a:off x="9555480" y="3703320"/>
            <a:ext cx="1783080" cy="566928"/>
          </a:xfrm>
          <a:prstGeom prst="roundRect">
            <a:avLst>
              <a:gd name="adj" fmla="val 16129"/>
            </a:avLst>
          </a:prstGeom>
          <a:solidFill>
            <a:srgbClr val="A78BFA"/>
          </a:solidFill>
          <a:ln w="12700">
            <a:solidFill>
              <a:srgbClr val="A78BFA"/>
            </a:solidFill>
            <a:prstDash val="solid"/>
          </a:ln>
        </p:spPr>
      </p:sp>
      <p:sp>
        <p:nvSpPr>
          <p:cNvPr id="16" name="Text 13"/>
          <p:cNvSpPr txBox="1"/>
          <p:nvPr/>
        </p:nvSpPr>
        <p:spPr>
          <a:xfrm>
            <a:off x="9555480" y="3703320"/>
            <a:ext cx="178308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POST /b</a:t>
            </a:r>
            <a:endParaRPr lang="en-US" sz="1300" dirty="0"/>
          </a:p>
        </p:txBody>
      </p:sp>
      <p:sp>
        <p:nvSpPr>
          <p:cNvPr id="17" name="chip"/>
          <p:cNvSpPr/>
          <p:nvPr/>
        </p:nvSpPr>
        <p:spPr>
          <a:xfrm>
            <a:off x="7086600" y="4526280"/>
            <a:ext cx="3017520" cy="566928"/>
          </a:xfrm>
          <a:prstGeom prst="roundRect">
            <a:avLst>
              <a:gd name="adj" fmla="val 16129"/>
            </a:avLst>
          </a:prstGeom>
          <a:solidFill>
            <a:srgbClr val="34D399"/>
          </a:solidFill>
          <a:ln w="12700">
            <a:solidFill>
              <a:srgbClr val="34D399"/>
            </a:solidFill>
            <a:prstDash val="solid"/>
          </a:ln>
        </p:spPr>
      </p:sp>
      <p:sp>
        <p:nvSpPr>
          <p:cNvPr id="18" name="Text 15"/>
          <p:cNvSpPr txBox="1"/>
          <p:nvPr/>
        </p:nvSpPr>
        <p:spPr>
          <a:xfrm>
            <a:off x="7086600" y="4526280"/>
            <a:ext cx="3017520" cy="566928"/>
          </a:xfrm>
          <a:prstGeom prst="rect">
            <a:avLst/>
          </a:prstGeom>
          <a:noFill/>
          <a:ln/>
        </p:spPr>
        <p:txBody>
          <a:bodyPr wrap="square" lIns="508" tIns="508" rIns="508" bIns="508" rtlCol="0" anchor="ctr"/>
          <a:lstStyle/>
          <a:p>
            <a:pPr algn="ctr" indent="0" marL="0">
              <a:buNone/>
            </a:pPr>
            <a:r>
              <a:rPr lang="en-US" sz="1300" b="1" dirty="0">
                <a:solidFill>
                  <a:srgbClr val="0A1220"/>
                </a:solidFill>
              </a:rPr>
              <a:t>stats.lab.localhost:5001</a:t>
            </a:r>
            <a:endParaRPr lang="en-US" sz="1300" dirty="0"/>
          </a:p>
        </p:txBody>
      </p:sp>
      <p:sp>
        <p:nvSpPr>
          <p:cNvPr id="19" name="Text 16"/>
          <p:cNvSpPr txBox="1"/>
          <p:nvPr/>
        </p:nvSpPr>
        <p:spPr>
          <a:xfrm>
            <a:off x="10195560" y="4526280"/>
            <a:ext cx="1371600" cy="566928"/>
          </a:xfrm>
          <a:prstGeom prst="rect">
            <a:avLst/>
          </a:prstGeom>
          <a:noFill/>
          <a:ln/>
        </p:spPr>
        <p:txBody>
          <a:bodyPr wrap="square" lIns="0" tIns="0" rIns="0" bIns="0" rtlCol="0" anchor="ctr"/>
          <a:lstStyle/>
          <a:p>
            <a:pPr indent="0" marL="0">
              <a:buNone/>
            </a:pPr>
            <a:r>
              <a:rPr lang="en-US" sz="1100" dirty="0">
                <a:solidFill>
                  <a:schemeClr val="tx2"/>
                </a:solidFill>
              </a:rPr>
              <a:t>credential → request → unapproved sink</a:t>
            </a:r>
            <a:endParaRPr lang="en-US" sz="1100" dirty="0"/>
          </a:p>
        </p:txBody>
      </p:sp>
      <p:sp>
        <p:nvSpPr>
          <p:cNvPr id="20" name="how-explain"/>
          <p:cNvSpPr/>
          <p:nvPr/>
        </p:nvSpPr>
        <p:spPr>
          <a:xfrm>
            <a:off x="548640" y="5349240"/>
            <a:ext cx="11064240" cy="868680"/>
          </a:xfrm>
          <a:prstGeom prst="roundRect">
            <a:avLst>
              <a:gd name="adj" fmla="val 12632"/>
            </a:avLst>
          </a:prstGeom>
          <a:solidFill>
            <a:schemeClr val="bg2"/>
          </a:solidFill>
          <a:ln w="9525">
            <a:solidFill>
              <a:schemeClr val="tx2">
                <a:alpha val="25000"/>
              </a:schemeClr>
            </a:solidFill>
            <a:prstDash val="solid"/>
          </a:ln>
        </p:spPr>
      </p:sp>
      <p:sp>
        <p:nvSpPr>
          <p:cNvPr id="21" name="Text 18"/>
          <p:cNvSpPr txBox="1"/>
          <p:nvPr/>
        </p:nvSpPr>
        <p:spPr>
          <a:xfrm>
            <a:off x="822960" y="5394960"/>
            <a:ext cx="10515600" cy="777240"/>
          </a:xfrm>
          <a:prstGeom prst="rect">
            <a:avLst/>
          </a:prstGeom>
          <a:noFill/>
          <a:ln/>
        </p:spPr>
        <p:txBody>
          <a:bodyPr wrap="square" lIns="0" tIns="0" rIns="0" bIns="0" rtlCol="0" anchor="ctr"/>
          <a:lstStyle/>
          <a:p>
            <a:pPr indent="0" marL="0">
              <a:buNone/>
            </a:pPr>
            <a:r>
              <a:rPr lang="en-US" sz="1400" b="1" dirty="0">
                <a:solidFill>
                  <a:srgbClr val="22B8CF"/>
                </a:solidFill>
              </a:rPr>
              <a:t>How it works. </a:t>
            </a:r>
            <a:pPr indent="0" marL="0">
              <a:buNone/>
            </a:pPr>
            <a:r>
              <a:rPr lang="en-US" sz="1400" dirty="0">
                <a:solidFill>
                  <a:schemeClr val="tx1"/>
                </a:solidFill>
              </a:rPr>
              <a:t>Remove one node or edge, re-score, and measure the drop in log-odds; the path is the highest-importance route from credential to domain. A saturated score falls back to a labelled structural path. </a:t>
            </a:r>
            <a:pPr indent="0" marL="0">
              <a:buNone/>
            </a:pPr>
            <a:r>
              <a:rPr lang="en-US" sz="1400" b="1" dirty="0">
                <a:solidFill>
                  <a:srgbClr val="F2C14E"/>
                </a:solidFill>
              </a:rPr>
              <a:t>Faithfulness vs ground-truth paths: NOT YET MEASURED.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 confidence score you can believe</a:t>
            </a:r>
            <a:endParaRPr lang="en-US" sz="3200" dirty="0"/>
          </a:p>
        </p:txBody>
      </p:sp>
      <p:graphicFrame>
        <p:nvGraphicFramePr>
          <p:cNvPr id="3" name="Chart 0" descr=""/>
          <p:cNvGraphicFramePr/>
          <p:nvPr/>
        </p:nvGraphicFramePr>
        <p:xfrm>
          <a:off x="548640" y="1371600"/>
          <a:ext cx="420624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4206240" cy="914400"/>
        </p:xfrm>
        <a:graphic>
          <a:graphicData uri="http://schemas.openxmlformats.org/drawingml/2006/table">
            <a:tbl>
              <a:tblPr/>
              <a:tblGrid>
                <a:gridCol w="914400"/>
                <a:gridCol w="868680"/>
                <a:gridCol w="731520"/>
                <a:gridCol w="914400"/>
                <a:gridCol w="777240"/>
              </a:tblGrid>
              <a:tr h="310896">
                <a:tc>
                  <a:txBody>
                    <a:bodyPr/>
                    <a:lstStyle/>
                    <a:p>
                      <a:pPr algn="ctr" indent="0" marL="0">
                        <a:buNone/>
                      </a:pPr>
                      <a:r>
                        <a:rPr lang="en-US" sz="1200" b="1" dirty="0">
                          <a:solidFill>
                            <a:srgbClr val="22B8CF"/>
                          </a:solidFill>
                        </a:rPr>
                        <a:t>Detector</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Model</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ECE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Log-loss</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Brier</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10896">
                <a:tc>
                  <a:txBody>
                    <a:bodyPr/>
                    <a:lstStyle/>
                    <a:p>
                      <a:pPr algn="ctr" indent="0" marL="0">
                        <a:buNone/>
                      </a:pPr>
                      <a:r>
                        <a:rPr lang="en-US" sz="1200" dirty="0">
                          <a:solidFill>
                            <a:srgbClr val="E5ECF4"/>
                          </a:solidFill>
                        </a:rPr>
                        <a:t>GraphSAGE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single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0.015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0.039</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0.012</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10896">
                <a:tc>
                  <a:txBody>
                    <a:bodyPr/>
                    <a:lstStyle/>
                    <a:p>
                      <a:pPr algn="ctr" indent="0" marL="0">
                        <a:buNone/>
                      </a:pPr>
                      <a:r>
                        <a:rPr lang="en-US" sz="1200" dirty="0">
                          <a:solidFill>
                            <a:srgbClr val="E5ECF4"/>
                          </a:solidFill>
                        </a:rPr>
                        <a:t>GraphSAGE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22B8CF"/>
                          </a:solidFill>
                        </a:rPr>
                        <a:t>ensemble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22B8CF"/>
                          </a:solidFill>
                        </a:rPr>
                        <a:t>0.011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22B8CF"/>
                          </a:solidFill>
                        </a:rPr>
                        <a:t>0.032</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22B8CF"/>
                          </a:solidFill>
                        </a:rPr>
                        <a:t>0.010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10896">
                <a:tc>
                  <a:txBody>
                    <a:bodyPr/>
                    <a:lstStyle/>
                    <a:p>
                      <a:pPr algn="ctr" indent="0" marL="0">
                        <a:buNone/>
                      </a:pPr>
                      <a:r>
                        <a:rPr lang="en-US" sz="1200" dirty="0">
                          <a:solidFill>
                            <a:srgbClr val="E5ECF4"/>
                          </a:solidFill>
                        </a:rPr>
                        <a:t>R-GCN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single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0.041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0.263</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8B9BB4"/>
                          </a:solidFill>
                        </a:rPr>
                        <a:t>0.067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10896">
                <a:tc>
                  <a:txBody>
                    <a:bodyPr/>
                    <a:lstStyle/>
                    <a:p>
                      <a:pPr algn="ctr" indent="0" marL="0">
                        <a:buNone/>
                      </a:pPr>
                      <a:r>
                        <a:rPr lang="en-US" sz="1200" dirty="0">
                          <a:solidFill>
                            <a:srgbClr val="E5ECF4"/>
                          </a:solidFill>
                        </a:rPr>
                        <a:t>R-GCN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A78BFA"/>
                          </a:solidFill>
                        </a:rPr>
                        <a:t>ensemble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A78BFA"/>
                          </a:solidFill>
                        </a:rPr>
                        <a:t>0.047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A78BFA"/>
                          </a:solidFill>
                        </a:rPr>
                        <a:t>0.161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A78BFA"/>
                          </a:solidFill>
                        </a:rPr>
                        <a:t>0.048</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bl>
          </a:graphicData>
        </a:graphic>
      </p:graphicFrame>
      <p:sp>
        <p:nvSpPr>
          <p:cNvPr id="5" name="verdict-demo"/>
          <p:cNvSpPr/>
          <p:nvPr/>
        </p:nvSpPr>
        <p:spPr>
          <a:xfrm>
            <a:off x="5029200" y="1371600"/>
            <a:ext cx="6583680" cy="2148840"/>
          </a:xfrm>
          <a:prstGeom prst="roundRect">
            <a:avLst>
              <a:gd name="adj" fmla="val 5106"/>
            </a:avLst>
          </a:prstGeom>
          <a:solidFill>
            <a:schemeClr val="bg2"/>
          </a:solidFill>
          <a:ln w="9525">
            <a:solidFill>
              <a:schemeClr val="tx2">
                <a:alpha val="25000"/>
              </a:schemeClr>
            </a:solidFill>
            <a:prstDash val="solid"/>
          </a:ln>
        </p:spPr>
      </p:sp>
      <p:sp>
        <p:nvSpPr>
          <p:cNvPr id="6" name="verdict-edge"/>
          <p:cNvSpPr/>
          <p:nvPr/>
        </p:nvSpPr>
        <p:spPr>
          <a:xfrm>
            <a:off x="5029200" y="1371600"/>
            <a:ext cx="109728" cy="2148840"/>
          </a:xfrm>
          <a:prstGeom prst="roundRect">
            <a:avLst>
              <a:gd name="adj" fmla="val 50000"/>
            </a:avLst>
          </a:prstGeom>
          <a:solidFill>
            <a:srgbClr val="FF5C5C"/>
          </a:solidFill>
          <a:ln w="12700">
            <a:solidFill>
              <a:srgbClr val="FF5C5C"/>
            </a:solidFill>
            <a:prstDash val="solid"/>
          </a:ln>
        </p:spPr>
      </p:sp>
      <p:sp>
        <p:nvSpPr>
          <p:cNvPr id="7" name="Text 3"/>
          <p:cNvSpPr txBox="1"/>
          <p:nvPr/>
        </p:nvSpPr>
        <p:spPr>
          <a:xfrm>
            <a:off x="5394960" y="1508760"/>
            <a:ext cx="3291840" cy="548640"/>
          </a:xfrm>
          <a:prstGeom prst="rect">
            <a:avLst/>
          </a:prstGeom>
          <a:noFill/>
          <a:ln/>
        </p:spPr>
        <p:txBody>
          <a:bodyPr wrap="square" lIns="0" tIns="0" rIns="0" bIns="0" rtlCol="0" anchor="ctr"/>
          <a:lstStyle/>
          <a:p>
            <a:pPr indent="0" marL="0">
              <a:buNone/>
            </a:pPr>
            <a:r>
              <a:rPr lang="en-US" sz="3000" b="1" dirty="0">
                <a:solidFill>
                  <a:srgbClr val="FF5C5C"/>
                </a:solidFill>
              </a:rPr>
              <a:t>SUSPICIOUS</a:t>
            </a:r>
            <a:endParaRPr lang="en-US" sz="3000" dirty="0"/>
          </a:p>
        </p:txBody>
      </p:sp>
      <p:sp>
        <p:nvSpPr>
          <p:cNvPr id="8" name="Text 4"/>
          <p:cNvSpPr txBox="1"/>
          <p:nvPr/>
        </p:nvSpPr>
        <p:spPr>
          <a:xfrm>
            <a:off x="8503920" y="1508760"/>
            <a:ext cx="2926080" cy="548640"/>
          </a:xfrm>
          <a:prstGeom prst="rect">
            <a:avLst/>
          </a:prstGeom>
          <a:noFill/>
          <a:ln/>
        </p:spPr>
        <p:txBody>
          <a:bodyPr wrap="square" lIns="0" tIns="0" rIns="0" bIns="0" rtlCol="0" anchor="ctr"/>
          <a:lstStyle/>
          <a:p>
            <a:pPr algn="r" indent="0" marL="0">
              <a:buNone/>
            </a:pPr>
            <a:r>
              <a:rPr lang="en-US" sz="2000" b="1" dirty="0">
                <a:solidFill>
                  <a:schemeClr val="tx1"/>
                </a:solidFill>
              </a:rPr>
              <a:t>confidence ≥99.3%</a:t>
            </a:r>
            <a:endParaRPr lang="en-US" sz="2000" dirty="0"/>
          </a:p>
        </p:txBody>
      </p:sp>
      <p:sp>
        <p:nvSpPr>
          <p:cNvPr id="9" name="Text 5"/>
          <p:cNvSpPr txBox="1"/>
          <p:nvPr/>
        </p:nvSpPr>
        <p:spPr>
          <a:xfrm>
            <a:off x="5394960" y="2194560"/>
            <a:ext cx="6035040" cy="822960"/>
          </a:xfrm>
          <a:prstGeom prst="rect">
            <a:avLst/>
          </a:prstGeom>
          <a:noFill/>
          <a:ln/>
        </p:spPr>
        <p:txBody>
          <a:bodyPr wrap="square" lIns="0" tIns="0" rIns="0" bIns="0" rtlCol="0" anchor="t"/>
          <a:lstStyle/>
          <a:p>
            <a:pPr indent="0" marL="0">
              <a:buNone/>
            </a:pPr>
            <a:r>
              <a:rPr lang="en-US" sz="1400" dirty="0">
                <a:solidFill>
                  <a:schemeClr val="tx2"/>
                </a:solidFill>
              </a:rPr>
              <a:t>Observed 100.0% correct (95% interval 99.3–100.0%): 550 of 550 held-out sessions in this score band.</a:t>
            </a:r>
            <a:endParaRPr lang="en-US" sz="1400" dirty="0"/>
          </a:p>
        </p:txBody>
      </p:sp>
      <p:sp>
        <p:nvSpPr>
          <p:cNvPr id="10" name="Text 6"/>
          <p:cNvSpPr txBox="1"/>
          <p:nvPr/>
        </p:nvSpPr>
        <p:spPr>
          <a:xfrm>
            <a:off x="5394960" y="2971800"/>
            <a:ext cx="6035040" cy="457200"/>
          </a:xfrm>
          <a:prstGeom prst="rect">
            <a:avLst/>
          </a:prstGeom>
          <a:noFill/>
          <a:ln/>
        </p:spPr>
        <p:txBody>
          <a:bodyPr wrap="square" lIns="0" tIns="0" rIns="0" bIns="0" rtlCol="0" anchor="t"/>
          <a:lstStyle/>
          <a:p>
            <a:pPr indent="0" marL="0">
              <a:buNone/>
            </a:pPr>
            <a:r>
              <a:rPr lang="en-US" sz="1300" dirty="0">
                <a:solidFill>
                  <a:srgbClr val="22B8CF"/>
                </a:solidFill>
              </a:rPr>
              <a:t>The card quotes the 95% lower bound of observed accuracy. It never prints 100%.</a:t>
            </a:r>
            <a:endParaRPr lang="en-US" sz="1300" dirty="0"/>
          </a:p>
        </p:txBody>
      </p:sp>
      <p:sp>
        <p:nvSpPr>
          <p:cNvPr id="11" name="conf-how"/>
          <p:cNvSpPr/>
          <p:nvPr/>
        </p:nvSpPr>
        <p:spPr>
          <a:xfrm>
            <a:off x="5029200" y="3703320"/>
            <a:ext cx="3200400" cy="2514600"/>
          </a:xfrm>
          <a:prstGeom prst="roundRect">
            <a:avLst>
              <a:gd name="adj" fmla="val 4364"/>
            </a:avLst>
          </a:prstGeom>
          <a:solidFill>
            <a:schemeClr val="bg2"/>
          </a:solidFill>
          <a:ln w="9525">
            <a:solidFill>
              <a:schemeClr val="tx2">
                <a:alpha val="25000"/>
              </a:schemeClr>
            </a:solidFill>
            <a:prstDash val="solid"/>
          </a:ln>
        </p:spPr>
      </p:sp>
      <p:sp>
        <p:nvSpPr>
          <p:cNvPr id="12" name="Text 8"/>
          <p:cNvSpPr txBox="1"/>
          <p:nvPr/>
        </p:nvSpPr>
        <p:spPr>
          <a:xfrm>
            <a:off x="5257800" y="3840480"/>
            <a:ext cx="27432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HOW IT IS BUILT</a:t>
            </a:r>
            <a:endParaRPr lang="en-US" sz="1300" dirty="0"/>
          </a:p>
        </p:txBody>
      </p:sp>
      <p:sp>
        <p:nvSpPr>
          <p:cNvPr id="13" name="Text 9"/>
          <p:cNvSpPr txBox="1"/>
          <p:nvPr/>
        </p:nvSpPr>
        <p:spPr>
          <a:xfrm>
            <a:off x="5257800" y="4206240"/>
            <a:ext cx="2788920" cy="1920240"/>
          </a:xfrm>
          <a:prstGeom prst="rect">
            <a:avLst/>
          </a:prstGeom>
          <a:noFill/>
          <a:ln/>
        </p:spPr>
        <p:txBody>
          <a:bodyPr wrap="square" lIns="0" tIns="0" rIns="0" bIns="0" rtlCol="0" anchor="t"/>
          <a:lstStyle/>
          <a:p>
            <a:pPr marL="203200" indent="-203200">
              <a:spcAft>
                <a:spcPts val="500"/>
              </a:spcAft>
              <a:buSzPct val="100000"/>
              <a:buChar char="•"/>
            </a:pPr>
            <a:r>
              <a:rPr lang="en-US" sz="1200" dirty="0">
                <a:solidFill>
                  <a:schemeClr val="tx1"/>
                </a:solidFill>
              </a:rPr>
              <a:t>10 independently seeded models, scores averaged</a:t>
            </a:r>
            <a:endParaRPr lang="en-US" sz="1200" dirty="0"/>
          </a:p>
          <a:p>
            <a:pPr marL="203200" indent="-203200">
              <a:spcAft>
                <a:spcPts val="500"/>
              </a:spcAft>
              <a:buSzPct val="100000"/>
              <a:buChar char="•"/>
            </a:pPr>
            <a:r>
              <a:rPr lang="en-US" sz="1200" dirty="0">
                <a:solidFill>
                  <a:schemeClr val="tx1"/>
                </a:solidFill>
              </a:rPr>
              <a:t>576 out-of-fold predictions from unseen extensions</a:t>
            </a:r>
            <a:endParaRPr lang="en-US" sz="1200" dirty="0"/>
          </a:p>
          <a:p>
            <a:pPr marL="203200" indent="-203200">
              <a:spcAft>
                <a:spcPts val="500"/>
              </a:spcAft>
              <a:buSzPct val="100000"/>
              <a:buChar char="•"/>
            </a:pPr>
            <a:r>
              <a:rPr lang="en-US" sz="1200" dirty="0">
                <a:solidFill>
                  <a:schemeClr val="tx1"/>
                </a:solidFill>
              </a:rPr>
              <a:t>Bands pooled so a higher score never shows lower confidence</a:t>
            </a:r>
            <a:endParaRPr lang="en-US" sz="1200" dirty="0"/>
          </a:p>
        </p:txBody>
      </p:sp>
      <p:sp>
        <p:nvSpPr>
          <p:cNvPr id="14" name="conf-caveat"/>
          <p:cNvSpPr/>
          <p:nvPr/>
        </p:nvSpPr>
        <p:spPr>
          <a:xfrm>
            <a:off x="8412480" y="3703320"/>
            <a:ext cx="3200400" cy="2514600"/>
          </a:xfrm>
          <a:prstGeom prst="roundRect">
            <a:avLst>
              <a:gd name="adj" fmla="val 4364"/>
            </a:avLst>
          </a:prstGeom>
          <a:solidFill>
            <a:schemeClr val="bg2"/>
          </a:solidFill>
          <a:ln w="9525">
            <a:solidFill>
              <a:schemeClr val="tx2">
                <a:alpha val="25000"/>
              </a:schemeClr>
            </a:solidFill>
            <a:prstDash val="solid"/>
          </a:ln>
        </p:spPr>
      </p:sp>
      <p:sp>
        <p:nvSpPr>
          <p:cNvPr id="15" name="Text 11"/>
          <p:cNvSpPr txBox="1"/>
          <p:nvPr/>
        </p:nvSpPr>
        <p:spPr>
          <a:xfrm>
            <a:off x="8641080" y="3840480"/>
            <a:ext cx="2743200" cy="320040"/>
          </a:xfrm>
          <a:prstGeom prst="rect">
            <a:avLst/>
          </a:prstGeom>
          <a:noFill/>
          <a:ln/>
        </p:spPr>
        <p:txBody>
          <a:bodyPr wrap="square" lIns="0" tIns="0" rIns="0" bIns="0" rtlCol="0" anchor="ctr"/>
          <a:lstStyle/>
          <a:p>
            <a:pPr indent="0" marL="0">
              <a:buNone/>
            </a:pPr>
            <a:r>
              <a:rPr lang="en-US" sz="1300" b="1" spc="200" kern="0" dirty="0">
                <a:solidFill>
                  <a:srgbClr val="F2C14E"/>
                </a:solidFill>
              </a:rPr>
              <a:t>CAVEAT</a:t>
            </a:r>
            <a:endParaRPr lang="en-US" sz="1300" dirty="0"/>
          </a:p>
        </p:txBody>
      </p:sp>
      <p:sp>
        <p:nvSpPr>
          <p:cNvPr id="16" name="Text 12"/>
          <p:cNvSpPr txBox="1"/>
          <p:nvPr/>
        </p:nvSpPr>
        <p:spPr>
          <a:xfrm>
            <a:off x="8641080" y="4206240"/>
            <a:ext cx="2788920" cy="1920240"/>
          </a:xfrm>
          <a:prstGeom prst="rect">
            <a:avLst/>
          </a:prstGeom>
          <a:noFill/>
          <a:ln/>
        </p:spPr>
        <p:txBody>
          <a:bodyPr wrap="square" lIns="0" tIns="0" rIns="0" bIns="0" rtlCol="0" anchor="t"/>
          <a:lstStyle/>
          <a:p>
            <a:pPr indent="0" marL="0">
              <a:buNone/>
            </a:pPr>
            <a:r>
              <a:rPr lang="en-US" sz="1200" dirty="0">
                <a:solidFill>
                  <a:schemeClr val="tx1"/>
                </a:solidFill>
              </a:rPr>
              <a:t>On never-seen flows, R-GCN reports confidence of about 86% while being 61% accurate (ECE 0.287). Its confidence is not trustworthy there; the dashboard warns.</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Live demo: event to graph to verdict, in a real browser</a:t>
            </a:r>
            <a:endParaRPr lang="en-US" sz="3200" dirty="0"/>
          </a:p>
        </p:txBody>
      </p:sp>
      <p:pic>
        <p:nvPicPr>
          <p:cNvPr id="3" name="demo-replay" descr="demo-replay">    </p:cNvPr>
          <p:cNvPicPr>
            <a:picLocks noChangeAspect="1"/>
          </p:cNvPicPr>
          <p:nvPr/>
        </p:nvPicPr>
        <p:blipFill>
          <a:blip r:embed="rId1"/>
          <a:stretch>
            <a:fillRect/>
          </a:stretch>
        </p:blipFill>
        <p:spPr>
          <a:xfrm>
            <a:off x="548640" y="1566672"/>
            <a:ext cx="5486400" cy="2947416"/>
          </a:xfrm>
          <a:prstGeom prst="rect">
            <a:avLst/>
          </a:prstGeom>
        </p:spPr>
      </p:pic>
      <p:sp>
        <p:nvSpPr>
          <p:cNvPr id="4" name="frame"/>
          <p:cNvSpPr/>
          <p:nvPr/>
        </p:nvSpPr>
        <p:spPr>
          <a:xfrm>
            <a:off x="548640" y="1566672"/>
            <a:ext cx="5486400" cy="2947416"/>
          </a:xfrm>
          <a:prstGeom prst="roundRect">
            <a:avLst>
              <a:gd name="adj" fmla="val 1861"/>
            </a:avLst>
          </a:prstGeom>
          <a:ln w="9525">
            <a:solidFill>
              <a:schemeClr val="tx2">
                <a:alpha val="30000"/>
              </a:schemeClr>
            </a:solidFill>
            <a:prstDash val="solid"/>
          </a:ln>
        </p:spPr>
      </p:sp>
      <p:pic>
        <p:nvPicPr>
          <p:cNvPr id="5" name="demo-live" descr="demo-live">    </p:cNvPr>
          <p:cNvPicPr>
            <a:picLocks noChangeAspect="1"/>
          </p:cNvPicPr>
          <p:nvPr/>
        </p:nvPicPr>
        <p:blipFill>
          <a:blip r:embed="rId2"/>
          <a:stretch>
            <a:fillRect/>
          </a:stretch>
        </p:blipFill>
        <p:spPr>
          <a:xfrm>
            <a:off x="6263640" y="1949729"/>
            <a:ext cx="5349240" cy="2181301"/>
          </a:xfrm>
          <a:prstGeom prst="rect">
            <a:avLst/>
          </a:prstGeom>
        </p:spPr>
      </p:pic>
      <p:sp>
        <p:nvSpPr>
          <p:cNvPr id="6" name="frame"/>
          <p:cNvSpPr/>
          <p:nvPr/>
        </p:nvSpPr>
        <p:spPr>
          <a:xfrm>
            <a:off x="6263640" y="1949729"/>
            <a:ext cx="5349240" cy="2181301"/>
          </a:xfrm>
          <a:prstGeom prst="roundRect">
            <a:avLst>
              <a:gd name="adj" fmla="val 2515"/>
            </a:avLst>
          </a:prstGeom>
          <a:ln w="9525">
            <a:solidFill>
              <a:schemeClr val="tx2">
                <a:alpha val="30000"/>
              </a:schemeClr>
            </a:solidFill>
            <a:prstDash val="solid"/>
          </a:ln>
        </p:spPr>
      </p:sp>
      <p:sp>
        <p:nvSpPr>
          <p:cNvPr id="7" name="Text 3"/>
          <p:cNvSpPr txBox="1"/>
          <p:nvPr/>
        </p:nvSpPr>
        <p:spPr>
          <a:xfrm>
            <a:off x="548640" y="4754880"/>
            <a:ext cx="5486400" cy="502920"/>
          </a:xfrm>
          <a:prstGeom prst="rect">
            <a:avLst/>
          </a:prstGeom>
          <a:noFill/>
          <a:ln/>
        </p:spPr>
        <p:txBody>
          <a:bodyPr wrap="square" lIns="0" tIns="0" rIns="0" bIns="0" rtlCol="0" anchor="t"/>
          <a:lstStyle/>
          <a:p>
            <a:pPr indent="0" marL="0">
              <a:buNone/>
            </a:pPr>
            <a:r>
              <a:rPr lang="en-US" sz="1200" dirty="0">
                <a:solidFill>
                  <a:schemeClr val="tx2"/>
                </a:solidFill>
              </a:rPr>
              <a:t>Session Replay: events arrive, the graph grows, the verdict appears when the session completes</a:t>
            </a:r>
            <a:endParaRPr lang="en-US" sz="1200" dirty="0"/>
          </a:p>
        </p:txBody>
      </p:sp>
      <p:sp>
        <p:nvSpPr>
          <p:cNvPr id="8" name="Text 4"/>
          <p:cNvSpPr txBox="1"/>
          <p:nvPr/>
        </p:nvSpPr>
        <p:spPr>
          <a:xfrm>
            <a:off x="6263640" y="4754880"/>
            <a:ext cx="5349240" cy="502920"/>
          </a:xfrm>
          <a:prstGeom prst="rect">
            <a:avLst/>
          </a:prstGeom>
          <a:noFill/>
          <a:ln/>
        </p:spPr>
        <p:txBody>
          <a:bodyPr wrap="square" lIns="0" tIns="0" rIns="0" bIns="0" rtlCol="0" anchor="t"/>
          <a:lstStyle/>
          <a:p>
            <a:pPr indent="0" marL="0">
              <a:buNone/>
            </a:pPr>
            <a:r>
              <a:rPr lang="en-US" sz="1200" dirty="0">
                <a:solidFill>
                  <a:schemeClr val="tx2"/>
                </a:solidFill>
              </a:rPr>
              <a:t>Live Lab Run: a freshly generated extension in real Chromium, classified on the spot</a:t>
            </a:r>
            <a:endParaRPr lang="en-US" sz="1200" dirty="0"/>
          </a:p>
        </p:txBody>
      </p:sp>
      <p:sp>
        <p:nvSpPr>
          <p:cNvPr id="9" name="demo-steps"/>
          <p:cNvSpPr/>
          <p:nvPr/>
        </p:nvSpPr>
        <p:spPr>
          <a:xfrm>
            <a:off x="548640" y="5349240"/>
            <a:ext cx="11064240" cy="868680"/>
          </a:xfrm>
          <a:prstGeom prst="roundRect">
            <a:avLst>
              <a:gd name="adj" fmla="val 12632"/>
            </a:avLst>
          </a:prstGeom>
          <a:solidFill>
            <a:schemeClr val="bg2"/>
          </a:solidFill>
          <a:ln w="9525">
            <a:solidFill>
              <a:schemeClr val="tx2">
                <a:alpha val="25000"/>
              </a:schemeClr>
            </a:solidFill>
            <a:prstDash val="solid"/>
          </a:ln>
        </p:spPr>
      </p:sp>
      <p:sp>
        <p:nvSpPr>
          <p:cNvPr id="10" name="Text 6"/>
          <p:cNvSpPr txBox="1"/>
          <p:nvPr/>
        </p:nvSpPr>
        <p:spPr>
          <a:xfrm>
            <a:off x="822960" y="5394960"/>
            <a:ext cx="10515600" cy="777240"/>
          </a:xfrm>
          <a:prstGeom prst="rect">
            <a:avLst/>
          </a:prstGeom>
          <a:noFill/>
          <a:ln/>
        </p:spPr>
        <p:txBody>
          <a:bodyPr wrap="square" lIns="0" tIns="0" rIns="0" bIns="0" rtlCol="0" anchor="ctr"/>
          <a:lstStyle/>
          <a:p>
            <a:pPr indent="0" marL="0">
              <a:buNone/>
            </a:pPr>
            <a:r>
              <a:rPr lang="en-US" sz="1500" b="1" dirty="0">
                <a:solidFill>
                  <a:srgbClr val="22B8CF"/>
                </a:solidFill>
              </a:rPr>
              <a:t>3-minute path:  </a:t>
            </a:r>
            <a:pPr indent="0" marL="0">
              <a:buNone/>
            </a:pPr>
            <a:r>
              <a:rPr lang="en-US" sz="1500" dirty="0">
                <a:solidFill>
                  <a:schemeClr val="tx1"/>
                </a:solidFill>
              </a:rPr>
              <a:t>1 benign authenticated call → BENIGN   2 Wasm exfiltration → SUSPICIOUS + path   3 unseen-flow chart   4 comparison table</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Limitations, and what comes next</a:t>
            </a:r>
            <a:endParaRPr lang="en-US" sz="3200" dirty="0"/>
          </a:p>
        </p:txBody>
      </p:sp>
      <p:sp>
        <p:nvSpPr>
          <p:cNvPr id="3" name="limits"/>
          <p:cNvSpPr/>
          <p:nvPr/>
        </p:nvSpPr>
        <p:spPr>
          <a:xfrm>
            <a:off x="548640" y="1371600"/>
            <a:ext cx="5486400" cy="4800600"/>
          </a:xfrm>
          <a:prstGeom prst="roundRect">
            <a:avLst>
              <a:gd name="adj" fmla="val 2286"/>
            </a:avLst>
          </a:prstGeom>
          <a:solidFill>
            <a:schemeClr val="bg2"/>
          </a:solidFill>
          <a:ln w="9525">
            <a:solidFill>
              <a:schemeClr val="tx2">
                <a:alpha val="25000"/>
              </a:schemeClr>
            </a:solidFill>
            <a:prstDash val="solid"/>
          </a:ln>
        </p:spPr>
      </p:sp>
      <p:sp>
        <p:nvSpPr>
          <p:cNvPr id="4" name="Text 2"/>
          <p:cNvSpPr txBox="1"/>
          <p:nvPr/>
        </p:nvSpPr>
        <p:spPr>
          <a:xfrm>
            <a:off x="822960" y="1554480"/>
            <a:ext cx="4572000" cy="320040"/>
          </a:xfrm>
          <a:prstGeom prst="rect">
            <a:avLst/>
          </a:prstGeom>
          <a:noFill/>
          <a:ln/>
        </p:spPr>
        <p:txBody>
          <a:bodyPr wrap="square" lIns="0" tIns="0" rIns="0" bIns="0" rtlCol="0" anchor="ctr"/>
          <a:lstStyle/>
          <a:p>
            <a:pPr indent="0" marL="0">
              <a:buNone/>
            </a:pPr>
            <a:r>
              <a:rPr lang="en-US" sz="1300" b="1" spc="200" kern="0" dirty="0">
                <a:solidFill>
                  <a:srgbClr val="F2C14E"/>
                </a:solidFill>
              </a:rPr>
              <a:t>LIMITATIONS</a:t>
            </a:r>
            <a:endParaRPr lang="en-US" sz="1300" dirty="0"/>
          </a:p>
        </p:txBody>
      </p:sp>
      <p:sp>
        <p:nvSpPr>
          <p:cNvPr id="5" name="Text 3"/>
          <p:cNvSpPr txBox="1"/>
          <p:nvPr/>
        </p:nvSpPr>
        <p:spPr>
          <a:xfrm>
            <a:off x="822960" y="1965960"/>
            <a:ext cx="4983480" cy="4114800"/>
          </a:xfrm>
          <a:prstGeom prst="rect">
            <a:avLst/>
          </a:prstGeom>
          <a:noFill/>
          <a:ln/>
        </p:spPr>
        <p:txBody>
          <a:bodyPr wrap="square" lIns="0" tIns="0" rIns="0" bIns="0" rtlCol="0" anchor="t"/>
          <a:lstStyle/>
          <a:p>
            <a:pPr marL="203200" indent="-203200">
              <a:spcAft>
                <a:spcPts val="1100"/>
              </a:spcAft>
              <a:buSzPct val="100000"/>
              <a:buChar char="•"/>
            </a:pPr>
            <a:r>
              <a:rPr lang="en-US" sz="1600" dirty="0">
                <a:solidFill>
                  <a:schemeClr val="tx1"/>
                </a:solidFill>
              </a:rPr>
              <a:t>Telemetry is self-reported by instrumented lab extensions, not captured at browser level</a:t>
            </a:r>
            <a:endParaRPr lang="en-US" sz="1600" dirty="0"/>
          </a:p>
          <a:p>
            <a:pPr marL="203200" indent="-203200">
              <a:spcAft>
                <a:spcPts val="1100"/>
              </a:spcAft>
              <a:buSzPct val="100000"/>
              <a:buChar char="•"/>
            </a:pPr>
            <a:r>
              <a:rPr lang="en-US" sz="1600" dirty="0">
                <a:solidFill>
                  <a:schemeClr val="tx1"/>
                </a:solidFill>
              </a:rPr>
              <a:t>A generator with a small step vocabulary, not real extensions</a:t>
            </a:r>
            <a:endParaRPr lang="en-US" sz="1600" dirty="0"/>
          </a:p>
          <a:p>
            <a:pPr marL="203200" indent="-203200">
              <a:spcAft>
                <a:spcPts val="1100"/>
              </a:spcAft>
              <a:buSzPct val="100000"/>
              <a:buChar char="•"/>
            </a:pPr>
            <a:r>
              <a:rPr lang="en-US" sz="1600" dirty="0">
                <a:solidFill>
                  <a:schemeClr val="tx1"/>
                </a:solidFill>
              </a:rPr>
              <a:t>Label defined by construction; the Wasm taint-drop rate (0.5) is our choice</a:t>
            </a:r>
            <a:endParaRPr lang="en-US" sz="1600" dirty="0"/>
          </a:p>
          <a:p>
            <a:pPr marL="203200" indent="-203200">
              <a:spcAft>
                <a:spcPts val="1100"/>
              </a:spcAft>
              <a:buSzPct val="100000"/>
              <a:buChar char="•"/>
            </a:pPr>
            <a:r>
              <a:rPr lang="en-US" sz="1600" dirty="0">
                <a:solidFill>
                  <a:schemeClr val="tx1"/>
                </a:solidFill>
              </a:rPr>
              <a:t>One dataset of 576 sessions; the 5 splits overlap</a:t>
            </a:r>
            <a:endParaRPr lang="en-US" sz="1600" dirty="0"/>
          </a:p>
          <a:p>
            <a:pPr marL="203200" indent="-203200">
              <a:spcAft>
                <a:spcPts val="1100"/>
              </a:spcAft>
              <a:buSzPct val="100000"/>
              <a:buChar char="•"/>
            </a:pPr>
            <a:r>
              <a:rPr lang="en-US" sz="1600" dirty="0">
                <a:solidFill>
                  <a:schemeClr val="tx1"/>
                </a:solidFill>
              </a:rPr>
              <a:t>No adaptive adversary</a:t>
            </a:r>
            <a:endParaRPr lang="en-US" sz="1600" dirty="0"/>
          </a:p>
          <a:p>
            <a:pPr marL="203200" indent="-203200">
              <a:spcAft>
                <a:spcPts val="1100"/>
              </a:spcAft>
              <a:buSzPct val="100000"/>
              <a:buChar char="•"/>
            </a:pPr>
            <a:r>
              <a:rPr lang="en-US" sz="1600" dirty="0">
                <a:solidFill>
                  <a:schemeClr val="tx1"/>
                </a:solidFill>
              </a:rPr>
              <a:t>Latency is offline CPU inference, not a deployed monitor</a:t>
            </a:r>
            <a:endParaRPr lang="en-US" sz="1600" dirty="0"/>
          </a:p>
        </p:txBody>
      </p:sp>
      <p:sp>
        <p:nvSpPr>
          <p:cNvPr id="6" name="next"/>
          <p:cNvSpPr/>
          <p:nvPr/>
        </p:nvSpPr>
        <p:spPr>
          <a:xfrm>
            <a:off x="6126480" y="1371600"/>
            <a:ext cx="5486400" cy="4800600"/>
          </a:xfrm>
          <a:prstGeom prst="roundRect">
            <a:avLst>
              <a:gd name="adj" fmla="val 2286"/>
            </a:avLst>
          </a:prstGeom>
          <a:solidFill>
            <a:schemeClr val="bg2"/>
          </a:solidFill>
          <a:ln w="9525">
            <a:solidFill>
              <a:schemeClr val="tx2">
                <a:alpha val="25000"/>
              </a:schemeClr>
            </a:solidFill>
            <a:prstDash val="solid"/>
          </a:ln>
        </p:spPr>
      </p:sp>
      <p:sp>
        <p:nvSpPr>
          <p:cNvPr id="7" name="Text 5"/>
          <p:cNvSpPr txBox="1"/>
          <p:nvPr/>
        </p:nvSpPr>
        <p:spPr>
          <a:xfrm>
            <a:off x="6400800" y="1554480"/>
            <a:ext cx="4572000" cy="320040"/>
          </a:xfrm>
          <a:prstGeom prst="rect">
            <a:avLst/>
          </a:prstGeom>
          <a:noFill/>
          <a:ln/>
        </p:spPr>
        <p:txBody>
          <a:bodyPr wrap="square" lIns="0" tIns="0" rIns="0" bIns="0" rtlCol="0" anchor="ctr"/>
          <a:lstStyle/>
          <a:p>
            <a:pPr indent="0" marL="0">
              <a:buNone/>
            </a:pPr>
            <a:r>
              <a:rPr lang="en-US" sz="1300" b="1" spc="200" kern="0" dirty="0">
                <a:solidFill>
                  <a:srgbClr val="34D399"/>
                </a:solidFill>
              </a:rPr>
              <a:t>NEXT STEPS (NOT IMPLEMENTED)</a:t>
            </a:r>
            <a:endParaRPr lang="en-US" sz="1300" dirty="0"/>
          </a:p>
        </p:txBody>
      </p:sp>
      <p:sp>
        <p:nvSpPr>
          <p:cNvPr id="8" name="Text 6"/>
          <p:cNvSpPr txBox="1"/>
          <p:nvPr/>
        </p:nvSpPr>
        <p:spPr>
          <a:xfrm>
            <a:off x="6400800" y="1965960"/>
            <a:ext cx="4983480" cy="4114800"/>
          </a:xfrm>
          <a:prstGeom prst="rect">
            <a:avLst/>
          </a:prstGeom>
          <a:noFill/>
          <a:ln/>
        </p:spPr>
        <p:txBody>
          <a:bodyPr wrap="square" lIns="0" tIns="0" rIns="0" bIns="0" rtlCol="0" anchor="t"/>
          <a:lstStyle/>
          <a:p>
            <a:pPr marL="203200" indent="-203200">
              <a:spcAft>
                <a:spcPts val="1100"/>
              </a:spcAft>
              <a:buSzPct val="100000"/>
              <a:buChar char="•"/>
            </a:pPr>
            <a:r>
              <a:rPr lang="en-US" sz="1600" dirty="0">
                <a:solidFill>
                  <a:schemeClr val="tx1"/>
                </a:solidFill>
              </a:rPr>
              <a:t>Browser-level capture (CDP, Arcanum-style) instead of self-reporting</a:t>
            </a:r>
            <a:endParaRPr lang="en-US" sz="1600" dirty="0"/>
          </a:p>
          <a:p>
            <a:pPr marL="203200" indent="-203200">
              <a:spcAft>
                <a:spcPts val="1100"/>
              </a:spcAft>
              <a:buSzPct val="100000"/>
              <a:buChar char="•"/>
            </a:pPr>
            <a:r>
              <a:rPr lang="en-US" sz="1600" dirty="0">
                <a:solidFill>
                  <a:schemeClr val="tx1"/>
                </a:solidFill>
              </a:rPr>
              <a:t>A corpus of real extensions</a:t>
            </a:r>
            <a:endParaRPr lang="en-US" sz="1600" dirty="0"/>
          </a:p>
          <a:p>
            <a:pPr marL="203200" indent="-203200">
              <a:spcAft>
                <a:spcPts val="1100"/>
              </a:spcAft>
              <a:buSzPct val="100000"/>
              <a:buChar char="•"/>
            </a:pPr>
            <a:r>
              <a:rPr lang="en-US" sz="1600" dirty="0">
                <a:solidFill>
                  <a:schemeClr val="tx1"/>
                </a:solidFill>
              </a:rPr>
              <a:t>Adversarial and evasion evaluation</a:t>
            </a:r>
            <a:endParaRPr lang="en-US" sz="1600" dirty="0"/>
          </a:p>
          <a:p>
            <a:pPr marL="203200" indent="-203200">
              <a:spcAft>
                <a:spcPts val="1100"/>
              </a:spcAft>
              <a:buSzPct val="100000"/>
              <a:buChar char="•"/>
            </a:pPr>
            <a:r>
              <a:rPr lang="en-US" sz="1600" dirty="0">
                <a:solidFill>
                  <a:schemeClr val="tx1"/>
                </a:solidFill>
              </a:rPr>
              <a:t>Understand and fix R-GCN: longer training, edge-type regularisation</a:t>
            </a:r>
            <a:endParaRPr lang="en-US" sz="1600" dirty="0"/>
          </a:p>
          <a:p>
            <a:pPr marL="203200" indent="-203200">
              <a:spcAft>
                <a:spcPts val="1100"/>
              </a:spcAft>
              <a:buSzPct val="100000"/>
              <a:buChar char="•"/>
            </a:pPr>
            <a:r>
              <a:rPr lang="en-US" sz="1600" dirty="0">
                <a:solidFill>
                  <a:schemeClr val="tx1"/>
                </a:solidFill>
              </a:rPr>
              <a:t>Explanation faithfulness against known flows</a:t>
            </a:r>
            <a:endParaRPr lang="en-US" sz="1600" dirty="0"/>
          </a:p>
          <a:p>
            <a:pPr marL="203200" indent="-203200">
              <a:spcAft>
                <a:spcPts val="1100"/>
              </a:spcAft>
              <a:buSzPct val="100000"/>
              <a:buChar char="•"/>
            </a:pPr>
            <a:r>
              <a:rPr lang="en-US" sz="1600" dirty="0">
                <a:solidFill>
                  <a:schemeClr val="tx1"/>
                </a:solidFill>
              </a:rPr>
              <a:t>Streaming, real-time deployment</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Conclusion</a:t>
            </a:r>
            <a:endParaRPr lang="en-US" sz="3200" dirty="0"/>
          </a:p>
        </p:txBody>
      </p:sp>
      <p:sp>
        <p:nvSpPr>
          <p:cNvPr id="3" name="concl"/>
          <p:cNvSpPr/>
          <p:nvPr/>
        </p:nvSpPr>
        <p:spPr>
          <a:xfrm>
            <a:off x="548640" y="1371600"/>
            <a:ext cx="11064240" cy="1417320"/>
          </a:xfrm>
          <a:prstGeom prst="roundRect">
            <a:avLst>
              <a:gd name="adj" fmla="val 7742"/>
            </a:avLst>
          </a:prstGeom>
          <a:solidFill>
            <a:schemeClr val="bg2"/>
          </a:solidFill>
          <a:ln w="9525">
            <a:solidFill>
              <a:schemeClr val="tx2">
                <a:alpha val="25000"/>
              </a:schemeClr>
            </a:solidFill>
            <a:prstDash val="solid"/>
          </a:ln>
        </p:spPr>
      </p:sp>
      <p:sp>
        <p:nvSpPr>
          <p:cNvPr id="4" name="icon-bg"/>
          <p:cNvSpPr/>
          <p:nvPr/>
        </p:nvSpPr>
        <p:spPr>
          <a:xfrm>
            <a:off x="868680" y="1737360"/>
            <a:ext cx="685800" cy="685800"/>
          </a:xfrm>
          <a:prstGeom prst="ellipse">
            <a:avLst/>
          </a:prstGeom>
          <a:solidFill>
            <a:srgbClr val="22B8CF">
              <a:alpha val="18000"/>
            </a:srgbClr>
          </a:solidFill>
          <a:ln w="15875">
            <a:solidFill>
              <a:srgbClr val="22B8CF"/>
            </a:solidFill>
            <a:prstDash val="solid"/>
          </a:ln>
        </p:spPr>
      </p:sp>
      <p:pic>
        <p:nvPicPr>
          <p:cNvPr id="5" name="icon-bolt" descr="bolt">    </p:cNvPr>
          <p:cNvPicPr>
            <a:picLocks noChangeAspect="1"/>
          </p:cNvPicPr>
          <p:nvPr/>
        </p:nvPicPr>
        <p:blipFill>
          <a:blip r:embed="rId1"/>
          <a:stretch>
            <a:fillRect/>
          </a:stretch>
        </p:blipFill>
        <p:spPr>
          <a:xfrm>
            <a:off x="1005840" y="1874520"/>
            <a:ext cx="411480" cy="411480"/>
          </a:xfrm>
          <a:prstGeom prst="rect">
            <a:avLst/>
          </a:prstGeom>
        </p:spPr>
      </p:pic>
      <p:sp>
        <p:nvSpPr>
          <p:cNvPr id="6" name="Text 3"/>
          <p:cNvSpPr txBox="1"/>
          <p:nvPr/>
        </p:nvSpPr>
        <p:spPr>
          <a:xfrm>
            <a:off x="1828800" y="1508760"/>
            <a:ext cx="9509760" cy="457200"/>
          </a:xfrm>
          <a:prstGeom prst="rect">
            <a:avLst/>
          </a:prstGeom>
          <a:noFill/>
          <a:ln/>
        </p:spPr>
        <p:txBody>
          <a:bodyPr wrap="square" lIns="0" tIns="0" rIns="0" bIns="0" rtlCol="0" anchor="ctr"/>
          <a:lstStyle/>
          <a:p>
            <a:pPr indent="0" marL="0">
              <a:buNone/>
            </a:pPr>
            <a:r>
              <a:rPr lang="en-US" sz="2200" b="1" dirty="0">
                <a:solidFill>
                  <a:schemeClr val="tx1"/>
                </a:solidFill>
              </a:rPr>
              <a:t>It works end to end</a:t>
            </a:r>
            <a:endParaRPr lang="en-US" sz="2200" dirty="0"/>
          </a:p>
        </p:txBody>
      </p:sp>
      <p:sp>
        <p:nvSpPr>
          <p:cNvPr id="7" name="Text 4"/>
          <p:cNvSpPr txBox="1"/>
          <p:nvPr/>
        </p:nvSpPr>
        <p:spPr>
          <a:xfrm>
            <a:off x="1828800" y="2011680"/>
            <a:ext cx="9509760" cy="685800"/>
          </a:xfrm>
          <a:prstGeom prst="rect">
            <a:avLst/>
          </a:prstGeom>
          <a:noFill/>
          <a:ln/>
        </p:spPr>
        <p:txBody>
          <a:bodyPr wrap="square" lIns="0" tIns="0" rIns="0" bIns="0" rtlCol="0" anchor="t"/>
          <a:lstStyle/>
          <a:p>
            <a:pPr indent="0" marL="0">
              <a:buNone/>
            </a:pPr>
            <a:r>
              <a:rPr lang="en-US" sz="1500" dirty="0">
                <a:solidFill>
                  <a:schemeClr val="tx2"/>
                </a:solidFill>
              </a:rPr>
              <a:t>Real browser events become an authentication-aware graph, a verdict, a confidence and an explained path, live.</a:t>
            </a:r>
            <a:endParaRPr lang="en-US" sz="1500" dirty="0"/>
          </a:p>
        </p:txBody>
      </p:sp>
      <p:sp>
        <p:nvSpPr>
          <p:cNvPr id="8" name="concl"/>
          <p:cNvSpPr/>
          <p:nvPr/>
        </p:nvSpPr>
        <p:spPr>
          <a:xfrm>
            <a:off x="548640" y="2971800"/>
            <a:ext cx="11064240" cy="1417320"/>
          </a:xfrm>
          <a:prstGeom prst="roundRect">
            <a:avLst>
              <a:gd name="adj" fmla="val 7742"/>
            </a:avLst>
          </a:prstGeom>
          <a:solidFill>
            <a:schemeClr val="bg2"/>
          </a:solidFill>
          <a:ln w="9525">
            <a:solidFill>
              <a:schemeClr val="tx2">
                <a:alpha val="25000"/>
              </a:schemeClr>
            </a:solidFill>
            <a:prstDash val="solid"/>
          </a:ln>
        </p:spPr>
      </p:sp>
      <p:sp>
        <p:nvSpPr>
          <p:cNvPr id="9" name="icon-bg"/>
          <p:cNvSpPr/>
          <p:nvPr/>
        </p:nvSpPr>
        <p:spPr>
          <a:xfrm>
            <a:off x="868680" y="3337560"/>
            <a:ext cx="685800" cy="685800"/>
          </a:xfrm>
          <a:prstGeom prst="ellipse">
            <a:avLst/>
          </a:prstGeom>
          <a:solidFill>
            <a:srgbClr val="22B8CF">
              <a:alpha val="18000"/>
            </a:srgbClr>
          </a:solidFill>
          <a:ln w="15875">
            <a:solidFill>
              <a:srgbClr val="22B8CF"/>
            </a:solidFill>
            <a:prstDash val="solid"/>
          </a:ln>
        </p:spPr>
      </p:sp>
      <p:pic>
        <p:nvPicPr>
          <p:cNvPr id="10" name="icon-graph" descr="graph">    </p:cNvPr>
          <p:cNvPicPr>
            <a:picLocks noChangeAspect="1"/>
          </p:cNvPicPr>
          <p:nvPr/>
        </p:nvPicPr>
        <p:blipFill>
          <a:blip r:embed="rId2"/>
          <a:stretch>
            <a:fillRect/>
          </a:stretch>
        </p:blipFill>
        <p:spPr>
          <a:xfrm>
            <a:off x="1005840" y="3474720"/>
            <a:ext cx="411480" cy="411480"/>
          </a:xfrm>
          <a:prstGeom prst="rect">
            <a:avLst/>
          </a:prstGeom>
        </p:spPr>
      </p:pic>
      <p:sp>
        <p:nvSpPr>
          <p:cNvPr id="11" name="Text 7"/>
          <p:cNvSpPr txBox="1"/>
          <p:nvPr/>
        </p:nvSpPr>
        <p:spPr>
          <a:xfrm>
            <a:off x="1828800" y="3108960"/>
            <a:ext cx="9509760" cy="457200"/>
          </a:xfrm>
          <a:prstGeom prst="rect">
            <a:avLst/>
          </a:prstGeom>
          <a:noFill/>
          <a:ln/>
        </p:spPr>
        <p:txBody>
          <a:bodyPr wrap="square" lIns="0" tIns="0" rIns="0" bIns="0" rtlCol="0" anchor="ctr"/>
          <a:lstStyle/>
          <a:p>
            <a:pPr indent="0" marL="0">
              <a:buNone/>
            </a:pPr>
            <a:r>
              <a:rPr lang="en-US" sz="2200" b="1" dirty="0">
                <a:solidFill>
                  <a:schemeClr val="tx1"/>
                </a:solidFill>
              </a:rPr>
              <a:t>Structure helps when instrumentation fails</a:t>
            </a:r>
            <a:endParaRPr lang="en-US" sz="2200" dirty="0"/>
          </a:p>
        </p:txBody>
      </p:sp>
      <p:sp>
        <p:nvSpPr>
          <p:cNvPr id="12" name="Text 8"/>
          <p:cNvSpPr txBox="1"/>
          <p:nvPr/>
        </p:nvSpPr>
        <p:spPr>
          <a:xfrm>
            <a:off x="1828800" y="3611880"/>
            <a:ext cx="9509760" cy="685800"/>
          </a:xfrm>
          <a:prstGeom prst="rect">
            <a:avLst/>
          </a:prstGeom>
          <a:noFill/>
          <a:ln/>
        </p:spPr>
        <p:txBody>
          <a:bodyPr wrap="square" lIns="0" tIns="0" rIns="0" bIns="0" rtlCol="0" anchor="t"/>
          <a:lstStyle/>
          <a:p>
            <a:pPr indent="0" marL="0">
              <a:buNone/>
            </a:pPr>
            <a:r>
              <a:rPr lang="en-US" sz="1500" dirty="0">
                <a:solidFill>
                  <a:schemeClr val="tx2"/>
                </a:solidFill>
              </a:rPr>
              <a:t>GraphSAGE caught 100% of the taint-lost Wasm sessions and 0.929 of never-seen Wasm flows. A taint rule caught none of the former.</a:t>
            </a:r>
            <a:endParaRPr lang="en-US" sz="1500" dirty="0"/>
          </a:p>
        </p:txBody>
      </p:sp>
      <p:sp>
        <p:nvSpPr>
          <p:cNvPr id="13" name="concl"/>
          <p:cNvSpPr/>
          <p:nvPr/>
        </p:nvSpPr>
        <p:spPr>
          <a:xfrm>
            <a:off x="548640" y="4572000"/>
            <a:ext cx="11064240" cy="1417320"/>
          </a:xfrm>
          <a:prstGeom prst="roundRect">
            <a:avLst>
              <a:gd name="adj" fmla="val 7742"/>
            </a:avLst>
          </a:prstGeom>
          <a:solidFill>
            <a:schemeClr val="bg2"/>
          </a:solidFill>
          <a:ln w="9525">
            <a:solidFill>
              <a:schemeClr val="tx2">
                <a:alpha val="25000"/>
              </a:schemeClr>
            </a:solidFill>
            <a:prstDash val="solid"/>
          </a:ln>
        </p:spPr>
      </p:sp>
      <p:sp>
        <p:nvSpPr>
          <p:cNvPr id="14" name="icon-bg"/>
          <p:cNvSpPr/>
          <p:nvPr/>
        </p:nvSpPr>
        <p:spPr>
          <a:xfrm>
            <a:off x="868680" y="4937760"/>
            <a:ext cx="685800" cy="685800"/>
          </a:xfrm>
          <a:prstGeom prst="ellipse">
            <a:avLst/>
          </a:prstGeom>
          <a:solidFill>
            <a:srgbClr val="22B8CF">
              <a:alpha val="18000"/>
            </a:srgbClr>
          </a:solidFill>
          <a:ln w="15875">
            <a:solidFill>
              <a:srgbClr val="22B8CF"/>
            </a:solidFill>
            <a:prstDash val="solid"/>
          </a:ln>
        </p:spPr>
      </p:sp>
      <p:pic>
        <p:nvPicPr>
          <p:cNvPr id="15" name="icon-scale" descr="scale">    </p:cNvPr>
          <p:cNvPicPr>
            <a:picLocks noChangeAspect="1"/>
          </p:cNvPicPr>
          <p:nvPr/>
        </p:nvPicPr>
        <p:blipFill>
          <a:blip r:embed="rId3"/>
          <a:stretch>
            <a:fillRect/>
          </a:stretch>
        </p:blipFill>
        <p:spPr>
          <a:xfrm>
            <a:off x="1005840" y="5074920"/>
            <a:ext cx="411480" cy="411480"/>
          </a:xfrm>
          <a:prstGeom prst="rect">
            <a:avLst/>
          </a:prstGeom>
        </p:spPr>
      </p:pic>
      <p:sp>
        <p:nvSpPr>
          <p:cNvPr id="16" name="Text 11"/>
          <p:cNvSpPr txBox="1"/>
          <p:nvPr/>
        </p:nvSpPr>
        <p:spPr>
          <a:xfrm>
            <a:off x="1828800" y="4709160"/>
            <a:ext cx="9509760" cy="457200"/>
          </a:xfrm>
          <a:prstGeom prst="rect">
            <a:avLst/>
          </a:prstGeom>
          <a:noFill/>
          <a:ln/>
        </p:spPr>
        <p:txBody>
          <a:bodyPr wrap="square" lIns="0" tIns="0" rIns="0" bIns="0" rtlCol="0" anchor="ctr"/>
          <a:lstStyle/>
          <a:p>
            <a:pPr indent="0" marL="0">
              <a:buNone/>
            </a:pPr>
            <a:r>
              <a:rPr lang="en-US" sz="2200" b="1" dirty="0">
                <a:solidFill>
                  <a:schemeClr val="tx1"/>
                </a:solidFill>
              </a:rPr>
              <a:t>We report what lost</a:t>
            </a:r>
            <a:endParaRPr lang="en-US" sz="2200" dirty="0"/>
          </a:p>
        </p:txBody>
      </p:sp>
      <p:sp>
        <p:nvSpPr>
          <p:cNvPr id="17" name="Text 12"/>
          <p:cNvSpPr txBox="1"/>
          <p:nvPr/>
        </p:nvSpPr>
        <p:spPr>
          <a:xfrm>
            <a:off x="1828800" y="5212080"/>
            <a:ext cx="9509760" cy="685800"/>
          </a:xfrm>
          <a:prstGeom prst="rect">
            <a:avLst/>
          </a:prstGeom>
          <a:noFill/>
          <a:ln/>
        </p:spPr>
        <p:txBody>
          <a:bodyPr wrap="square" lIns="0" tIns="0" rIns="0" bIns="0" rtlCol="0" anchor="t"/>
          <a:lstStyle/>
          <a:p>
            <a:pPr indent="0" marL="0">
              <a:buNone/>
            </a:pPr>
            <a:r>
              <a:rPr lang="en-US" sz="1500" dirty="0">
                <a:solidFill>
                  <a:schemeClr val="tx2"/>
                </a:solidFill>
              </a:rPr>
              <a:t>R-GCN did not beat GraphSAGE (0.450 vs 0.929). The untuned run, the failed calibrators and the limits are all documented.</a:t>
            </a:r>
            <a:endParaRPr lang="en-US" sz="1500" dirty="0"/>
          </a:p>
        </p:txBody>
      </p:sp>
      <p:sp>
        <p:nvSpPr>
          <p:cNvPr id="18" name="Text 13"/>
          <p:cNvSpPr txBox="1"/>
          <p:nvPr/>
        </p:nvSpPr>
        <p:spPr>
          <a:xfrm>
            <a:off x="548640" y="6172200"/>
            <a:ext cx="11064240" cy="274320"/>
          </a:xfrm>
          <a:prstGeom prst="rect">
            <a:avLst/>
          </a:prstGeom>
          <a:noFill/>
          <a:ln/>
        </p:spPr>
        <p:txBody>
          <a:bodyPr wrap="square" lIns="0" tIns="0" rIns="0" bIns="0" rtlCol="0" anchor="ctr"/>
          <a:lstStyle/>
          <a:p>
            <a:pPr indent="0" marL="0">
              <a:buNone/>
            </a:pPr>
            <a:r>
              <a:rPr lang="en-US" sz="1300" dirty="0">
                <a:solidFill>
                  <a:srgbClr val="22B8CF"/>
                </a:solidFill>
              </a:rPr>
              <a:t>Everything shown is reproducible from the repository; every number comes from an executed run.</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Appendix A: full results, extension-level split</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1005840"/>
                <a:gridCol w="914400"/>
                <a:gridCol w="914400"/>
                <a:gridCol w="1005840"/>
                <a:gridCol w="822960"/>
                <a:gridCol w="1097280"/>
                <a:gridCol w="914400"/>
                <a:gridCol w="914400"/>
              </a:tblGrid>
              <a:tr h="411480">
                <a:tc>
                  <a:txBody>
                    <a:bodyPr/>
                    <a:lstStyle/>
                    <a:p>
                      <a:pPr algn="l" indent="0" marL="0">
                        <a:buNone/>
                      </a:pPr>
                      <a:r>
                        <a:rPr lang="en-US" sz="1300" b="1" dirty="0">
                          <a:solidFill>
                            <a:srgbClr val="22B8CF"/>
                          </a:solidFill>
                        </a:rPr>
                        <a:t>Model</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Precision</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Recall</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F1</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ROC-AUC</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FPR</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Infer ms</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Train s</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b="1" dirty="0">
                          <a:solidFill>
                            <a:srgbClr val="22B8CF"/>
                          </a:solidFill>
                        </a:rPr>
                        <a:t>Params</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dirty="0">
                          <a:solidFill>
                            <a:srgbClr val="E5ECF4"/>
                          </a:solidFill>
                        </a:rPr>
                        <a:t>Rule R1 (co-occurrence)</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0.857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1.000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0.923</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0.917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0.167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0.004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dirty="0">
                          <a:solidFill>
                            <a:srgbClr val="E5ECF4"/>
                          </a:solidFill>
                        </a:rPr>
                        <a:t>Rule R2 (taint)</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1.000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0.896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0.945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0.948</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0.005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dirty="0">
                          <a:solidFill>
                            <a:srgbClr val="E5ECF4"/>
                          </a:solidFill>
                        </a:rPr>
                        <a:t>RF (counts)</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0.976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0.992</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0.984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0.997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0.025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0.304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0.88</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7,086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dirty="0">
                          <a:solidFill>
                            <a:srgbClr val="E5ECF4"/>
                          </a:solidFill>
                        </a:rPr>
                        <a:t>RF (counts+reachability)</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0.955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0.996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0.974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0.996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0.050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0.225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0.69</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5,880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dirty="0">
                          <a:solidFill>
                            <a:srgbClr val="E5ECF4"/>
                          </a:solidFill>
                        </a:rPr>
                        <a:t>MLP (counts)</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0.944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0.971</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0.957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0.993</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0.058</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0.003</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0.12</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6,466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dirty="0">
                          <a:solidFill>
                            <a:srgbClr val="E5ECF4"/>
                          </a:solidFill>
                        </a:rPr>
                        <a:t>GCN</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0.935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0.933</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0.934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0.983</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0.067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0.635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2.67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E5ECF4"/>
                          </a:solidFill>
                        </a:rPr>
                        <a:t>18,306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rgbClr val="22B8CF"/>
                          </a:solidFill>
                        </a:rPr>
                        <a:t>GraphSAGE</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0.984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0.992</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0.988</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1.000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0.017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0.659</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1.35</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22B8CF"/>
                          </a:solidFill>
                        </a:rPr>
                        <a:t>28,034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rgbClr val="A78BFA"/>
                          </a:solidFill>
                        </a:rPr>
                        <a:t>R-GCN</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0.909</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0.904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0.904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0.966</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0.100</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4.974</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4.27</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300" dirty="0">
                          <a:solidFill>
                            <a:srgbClr val="A78BFA"/>
                          </a:solidFill>
                        </a:rPr>
                        <a:t>5,498</a:t>
                      </a:r>
                      <a:endParaRPr lang="en-US" sz="1300" dirty="0"/>
                    </a:p>
                  </a:txBody>
                  <a:tcPr marL="54864" marR="54864" marT="54864" marB="54864"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303520"/>
            <a:ext cx="11064240" cy="640080"/>
          </a:xfrm>
          <a:prstGeom prst="rect">
            <a:avLst/>
          </a:prstGeom>
          <a:noFill/>
          <a:ln/>
        </p:spPr>
        <p:txBody>
          <a:bodyPr wrap="square" lIns="0" tIns="0" rIns="0" bIns="0" rtlCol="0" anchor="t"/>
          <a:lstStyle/>
          <a:p>
            <a:pPr indent="0" marL="0">
              <a:buNone/>
            </a:pPr>
            <a:r>
              <a:rPr lang="en-US" sz="1200" dirty="0">
                <a:solidFill>
                  <a:schemeClr val="tx2"/>
                </a:solidFill>
              </a:rPr>
              <a:t>Mean over 5 extension-level splits, threshold 0.5. Inference is offline, per session graph, batch size 1, CPU; graph construction adds 0.053 ms. Params for RF are tree nodes.</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Appendix B: ROC and precision-recall curves</a:t>
            </a:r>
            <a:endParaRPr lang="en-US" sz="3200" dirty="0"/>
          </a:p>
        </p:txBody>
      </p:sp>
      <p:pic>
        <p:nvPicPr>
          <p:cNvPr id="3" name="roc" descr="roc">    </p:cNvPr>
          <p:cNvPicPr>
            <a:picLocks noChangeAspect="1"/>
          </p:cNvPicPr>
          <p:nvPr/>
        </p:nvPicPr>
        <p:blipFill>
          <a:blip r:embed="rId1"/>
          <a:stretch>
            <a:fillRect/>
          </a:stretch>
        </p:blipFill>
        <p:spPr>
          <a:xfrm>
            <a:off x="548640" y="1406387"/>
            <a:ext cx="5440680" cy="4731026"/>
          </a:xfrm>
          <a:prstGeom prst="rect">
            <a:avLst/>
          </a:prstGeom>
        </p:spPr>
      </p:pic>
      <p:sp>
        <p:nvSpPr>
          <p:cNvPr id="4" name="frame"/>
          <p:cNvSpPr/>
          <p:nvPr/>
        </p:nvSpPr>
        <p:spPr>
          <a:xfrm>
            <a:off x="548640" y="1406387"/>
            <a:ext cx="5440680" cy="4731026"/>
          </a:xfrm>
          <a:prstGeom prst="roundRect">
            <a:avLst>
              <a:gd name="adj" fmla="val 1160"/>
            </a:avLst>
          </a:prstGeom>
          <a:ln w="9525">
            <a:solidFill>
              <a:schemeClr val="tx2">
                <a:alpha val="30000"/>
              </a:schemeClr>
            </a:solidFill>
            <a:prstDash val="solid"/>
          </a:ln>
        </p:spPr>
      </p:sp>
      <p:pic>
        <p:nvPicPr>
          <p:cNvPr id="5" name="pr" descr="pr">    </p:cNvPr>
          <p:cNvPicPr>
            <a:picLocks noChangeAspect="1"/>
          </p:cNvPicPr>
          <p:nvPr/>
        </p:nvPicPr>
        <p:blipFill>
          <a:blip r:embed="rId2"/>
          <a:stretch>
            <a:fillRect/>
          </a:stretch>
        </p:blipFill>
        <p:spPr>
          <a:xfrm>
            <a:off x="6172200" y="1406387"/>
            <a:ext cx="5440680" cy="4731026"/>
          </a:xfrm>
          <a:prstGeom prst="rect">
            <a:avLst/>
          </a:prstGeom>
        </p:spPr>
      </p:pic>
      <p:sp>
        <p:nvSpPr>
          <p:cNvPr id="6" name="frame"/>
          <p:cNvSpPr/>
          <p:nvPr/>
        </p:nvSpPr>
        <p:spPr>
          <a:xfrm>
            <a:off x="6172200" y="1406387"/>
            <a:ext cx="5440680" cy="4731026"/>
          </a:xfrm>
          <a:prstGeom prst="roundRect">
            <a:avLst>
              <a:gd name="adj" fmla="val 1160"/>
            </a:avLst>
          </a:prstGeom>
          <a:ln w="9525">
            <a:solidFill>
              <a:schemeClr val="tx2">
                <a:alpha val="30000"/>
              </a:schemeClr>
            </a:solidFill>
            <a:prstDash val="solid"/>
          </a:ln>
        </p:spPr>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Appendix C: confusion matrices, training curves and latency</a:t>
            </a:r>
            <a:endParaRPr lang="en-US" sz="3200" dirty="0"/>
          </a:p>
        </p:txBody>
      </p:sp>
      <p:pic>
        <p:nvPicPr>
          <p:cNvPr id="3" name="confusion" descr="confusion">    </p:cNvPr>
          <p:cNvPicPr>
            <a:picLocks noChangeAspect="1"/>
          </p:cNvPicPr>
          <p:nvPr/>
        </p:nvPicPr>
        <p:blipFill>
          <a:blip r:embed="rId1"/>
          <a:stretch>
            <a:fillRect/>
          </a:stretch>
        </p:blipFill>
        <p:spPr>
          <a:xfrm>
            <a:off x="620737" y="1280160"/>
            <a:ext cx="10920046" cy="2057400"/>
          </a:xfrm>
          <a:prstGeom prst="rect">
            <a:avLst/>
          </a:prstGeom>
        </p:spPr>
      </p:pic>
      <p:sp>
        <p:nvSpPr>
          <p:cNvPr id="4" name="frame"/>
          <p:cNvSpPr/>
          <p:nvPr/>
        </p:nvSpPr>
        <p:spPr>
          <a:xfrm>
            <a:off x="620737" y="1280160"/>
            <a:ext cx="10920046" cy="2057400"/>
          </a:xfrm>
          <a:prstGeom prst="roundRect">
            <a:avLst>
              <a:gd name="adj" fmla="val 2667"/>
            </a:avLst>
          </a:prstGeom>
          <a:ln w="9525">
            <a:solidFill>
              <a:schemeClr val="tx2">
                <a:alpha val="30000"/>
              </a:schemeClr>
            </a:solidFill>
            <a:prstDash val="solid"/>
          </a:ln>
        </p:spPr>
      </p:sp>
      <p:pic>
        <p:nvPicPr>
          <p:cNvPr id="5" name="training" descr="training">    </p:cNvPr>
          <p:cNvPicPr>
            <a:picLocks noChangeAspect="1"/>
          </p:cNvPicPr>
          <p:nvPr/>
        </p:nvPicPr>
        <p:blipFill>
          <a:blip r:embed="rId2"/>
          <a:stretch>
            <a:fillRect/>
          </a:stretch>
        </p:blipFill>
        <p:spPr>
          <a:xfrm>
            <a:off x="548640" y="3675888"/>
            <a:ext cx="5852160" cy="2340864"/>
          </a:xfrm>
          <a:prstGeom prst="rect">
            <a:avLst/>
          </a:prstGeom>
        </p:spPr>
      </p:pic>
      <p:sp>
        <p:nvSpPr>
          <p:cNvPr id="6" name="frame"/>
          <p:cNvSpPr/>
          <p:nvPr/>
        </p:nvSpPr>
        <p:spPr>
          <a:xfrm>
            <a:off x="548640" y="3675888"/>
            <a:ext cx="5852160" cy="2340864"/>
          </a:xfrm>
          <a:prstGeom prst="roundRect">
            <a:avLst>
              <a:gd name="adj" fmla="val 2344"/>
            </a:avLst>
          </a:prstGeom>
          <a:ln w="9525">
            <a:solidFill>
              <a:schemeClr val="tx2">
                <a:alpha val="30000"/>
              </a:schemeClr>
            </a:solidFill>
            <a:prstDash val="solid"/>
          </a:ln>
        </p:spPr>
      </p:sp>
      <p:pic>
        <p:nvPicPr>
          <p:cNvPr id="7" name="latency" descr="latency">    </p:cNvPr>
          <p:cNvPicPr>
            <a:picLocks noChangeAspect="1"/>
          </p:cNvPicPr>
          <p:nvPr/>
        </p:nvPicPr>
        <p:blipFill>
          <a:blip r:embed="rId3"/>
          <a:stretch>
            <a:fillRect/>
          </a:stretch>
        </p:blipFill>
        <p:spPr>
          <a:xfrm>
            <a:off x="6583680" y="3589020"/>
            <a:ext cx="5029200" cy="2514600"/>
          </a:xfrm>
          <a:prstGeom prst="rect">
            <a:avLst/>
          </a:prstGeom>
        </p:spPr>
      </p:pic>
      <p:sp>
        <p:nvSpPr>
          <p:cNvPr id="8" name="frame"/>
          <p:cNvSpPr/>
          <p:nvPr/>
        </p:nvSpPr>
        <p:spPr>
          <a:xfrm>
            <a:off x="6583680" y="3589020"/>
            <a:ext cx="5029200" cy="2514600"/>
          </a:xfrm>
          <a:prstGeom prst="roundRect">
            <a:avLst>
              <a:gd name="adj" fmla="val 2182"/>
            </a:avLst>
          </a:prstGeom>
          <a:ln w="9525">
            <a:solidFill>
              <a:schemeClr val="tx2">
                <a:alpha val="30000"/>
              </a:schemeClr>
            </a:solidFill>
            <a:prstDash val="solid"/>
          </a:ln>
        </p:spPr>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Appendix D: confidence calibration in detail</a:t>
            </a:r>
            <a:endParaRPr lang="en-US" sz="3200" dirty="0"/>
          </a:p>
        </p:txBody>
      </p:sp>
      <p:sp>
        <p:nvSpPr>
          <p:cNvPr id="3" name="Text 1"/>
          <p:cNvSpPr txBox="1"/>
          <p:nvPr/>
        </p:nvSpPr>
        <p:spPr>
          <a:xfrm>
            <a:off x="548640" y="132588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SCORE BANDS (ENSEMBLE, OUT-OF-FOLD)</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035040" cy="914400"/>
        </p:xfrm>
        <a:graphic>
          <a:graphicData uri="http://schemas.openxmlformats.org/drawingml/2006/table">
            <a:tbl>
              <a:tblPr/>
              <a:tblGrid>
                <a:gridCol w="1097280"/>
                <a:gridCol w="1097280"/>
                <a:gridCol w="914400"/>
                <a:gridCol w="914400"/>
                <a:gridCol w="1005840"/>
                <a:gridCol w="1005840"/>
              </a:tblGrid>
              <a:tr h="329184">
                <a:tc>
                  <a:txBody>
                    <a:bodyPr/>
                    <a:lstStyle/>
                    <a:p>
                      <a:pPr algn="ctr" indent="0" marL="0">
                        <a:buNone/>
                      </a:pPr>
                      <a:r>
                        <a:rPr lang="en-US" sz="1200" b="1" dirty="0">
                          <a:solidFill>
                            <a:srgbClr val="22B8CF"/>
                          </a:solidFill>
                        </a:rPr>
                        <a:t>Detector</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Score band</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Sessions</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Correct</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Accuracy</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95% lower</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22B8CF"/>
                          </a:solidFill>
                        </a:rPr>
                        <a:t>GraphSAGE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50–70%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3</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0.429</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0.158</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22B8CF"/>
                          </a:solidFill>
                        </a:rPr>
                        <a:t>GraphSAGE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70–85%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19</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0.789</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0.567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22B8CF"/>
                          </a:solidFill>
                        </a:rPr>
                        <a:t>GraphSAGE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85–100%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550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550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1.000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0.993</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A78BFA"/>
                          </a:solidFill>
                        </a:rPr>
                        <a:t>R-GCN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50–70%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28</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14</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0.500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0.326</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A78BFA"/>
                          </a:solidFill>
                        </a:rPr>
                        <a:t>R-GCN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70–85%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85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61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0.718</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0.614</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A78BFA"/>
                          </a:solidFill>
                        </a:rPr>
                        <a:t>R-GCN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85–95%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132</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131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0.992</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0.958</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329184">
                <a:tc>
                  <a:txBody>
                    <a:bodyPr/>
                    <a:lstStyle/>
                    <a:p>
                      <a:pPr algn="ctr" indent="0" marL="0">
                        <a:buNone/>
                      </a:pPr>
                      <a:r>
                        <a:rPr lang="en-US" sz="1200" dirty="0">
                          <a:solidFill>
                            <a:srgbClr val="A78BFA"/>
                          </a:solidFill>
                        </a:rPr>
                        <a:t>R-GCN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95–100%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331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330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0.997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0.983</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6903720" y="1325880"/>
            <a:ext cx="475488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SAVED ENSEMBLES ON THEIR TEST SETS</a:t>
            </a:r>
            <a:endParaRPr lang="en-US" sz="13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903720" y="1691640"/>
          <a:ext cx="4709160" cy="914400"/>
        </p:xfrm>
        <a:graphic>
          <a:graphicData uri="http://schemas.openxmlformats.org/drawingml/2006/table">
            <a:tbl>
              <a:tblPr/>
              <a:tblGrid>
                <a:gridCol w="1965960"/>
                <a:gridCol w="457200"/>
                <a:gridCol w="868680"/>
                <a:gridCol w="777240"/>
                <a:gridCol w="640080"/>
              </a:tblGrid>
              <a:tr h="457200">
                <a:tc>
                  <a:txBody>
                    <a:bodyPr/>
                    <a:lstStyle/>
                    <a:p>
                      <a:pPr algn="ctr" indent="0" marL="0">
                        <a:buNone/>
                      </a:pPr>
                      <a:r>
                        <a:rPr lang="en-US" sz="1200" b="1" dirty="0">
                          <a:solidFill>
                            <a:srgbClr val="22B8CF"/>
                          </a:solidFill>
                        </a:rPr>
                        <a:t>Detector · training</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n</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Mean conf.</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Accuracy</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b="1" dirty="0">
                          <a:solidFill>
                            <a:srgbClr val="22B8CF"/>
                          </a:solidFill>
                        </a:rPr>
                        <a:t>ECE</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57200">
                <a:tc>
                  <a:txBody>
                    <a:bodyPr/>
                    <a:lstStyle/>
                    <a:p>
                      <a:pPr algn="ctr" indent="0" marL="0">
                        <a:buNone/>
                      </a:pPr>
                      <a:r>
                        <a:rPr lang="en-US" sz="1200" dirty="0">
                          <a:solidFill>
                            <a:srgbClr val="22B8CF"/>
                          </a:solidFill>
                        </a:rPr>
                        <a:t>GraphSAGE · standard split</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96</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0.990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0.990</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0.014</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57200">
                <a:tc>
                  <a:txBody>
                    <a:bodyPr/>
                    <a:lstStyle/>
                    <a:p>
                      <a:pPr algn="ctr" indent="0" marL="0">
                        <a:buNone/>
                      </a:pPr>
                      <a:r>
                        <a:rPr lang="en-US" sz="1200" dirty="0">
                          <a:solidFill>
                            <a:srgbClr val="22B8CF"/>
                          </a:solidFill>
                        </a:rPr>
                        <a:t>GraphSAGE · Wasm held out</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144</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0.945</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0.972</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0.028</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57200">
                <a:tc>
                  <a:txBody>
                    <a:bodyPr/>
                    <a:lstStyle/>
                    <a:p>
                      <a:pPr algn="ctr" indent="0" marL="0">
                        <a:buNone/>
                      </a:pPr>
                      <a:r>
                        <a:rPr lang="en-US" sz="1200" dirty="0">
                          <a:solidFill>
                            <a:srgbClr val="A78BFA"/>
                          </a:solidFill>
                        </a:rPr>
                        <a:t>R-GCN · standard split</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96</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0.927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0.917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0.076</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r h="457200">
                <a:tc>
                  <a:txBody>
                    <a:bodyPr/>
                    <a:lstStyle/>
                    <a:p>
                      <a:pPr algn="ctr" indent="0" marL="0">
                        <a:buNone/>
                      </a:pPr>
                      <a:r>
                        <a:rPr lang="en-US" sz="1200" dirty="0">
                          <a:solidFill>
                            <a:srgbClr val="A78BFA"/>
                          </a:solidFill>
                        </a:rPr>
                        <a:t>R-GCN · Wasm held out</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144</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0.861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E5ECF4"/>
                          </a:solidFill>
                        </a:rPr>
                        <a:t>0.611</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c>
                  <a:txBody>
                    <a:bodyPr/>
                    <a:lstStyle/>
                    <a:p>
                      <a:pPr algn="ctr" indent="0" marL="0">
                        <a:buNone/>
                      </a:pPr>
                      <a:r>
                        <a:rPr lang="en-US" sz="1200" dirty="0">
                          <a:solidFill>
                            <a:srgbClr val="FF5C5C"/>
                          </a:solidFill>
                        </a:rPr>
                        <a:t>0.287</a:t>
                      </a:r>
                      <a:endParaRPr lang="en-US" sz="1200" dirty="0"/>
                    </a:p>
                  </a:txBody>
                  <a:tcPr marL="36576" marR="36576" marT="36576" marB="36576" anchor="ctr">
                    <a:lnL w="6350" cap="flat" cmpd="sng" algn="ctr">
                      <a:solidFill>
                        <a:srgbClr val="22314A"/>
                      </a:solidFill>
                      <a:prstDash val="solid"/>
                      <a:round/>
                      <a:headEnd type="none" w="med" len="med"/>
                      <a:tailEnd type="none" w="med" len="med"/>
                    </a:lnL>
                    <a:lnR w="6350" cap="flat" cmpd="sng" algn="ctr">
                      <a:solidFill>
                        <a:srgbClr val="22314A"/>
                      </a:solidFill>
                      <a:prstDash val="solid"/>
                      <a:round/>
                      <a:headEnd type="none" w="med" len="med"/>
                      <a:tailEnd type="none" w="med" len="med"/>
                    </a:lnR>
                    <a:lnT w="6350" cap="flat" cmpd="sng" algn="ctr">
                      <a:solidFill>
                        <a:srgbClr val="22314A"/>
                      </a:solidFill>
                      <a:prstDash val="solid"/>
                      <a:round/>
                      <a:headEnd type="none" w="med" len="med"/>
                      <a:tailEnd type="none" w="med" len="med"/>
                    </a:lnT>
                    <a:lnB w="6350" cap="flat" cmpd="sng" algn="ctr">
                      <a:solidFill>
                        <a:srgbClr val="22314A"/>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6903720" y="4297680"/>
            <a:ext cx="4709160" cy="1371600"/>
          </a:xfrm>
          <a:prstGeom prst="rect">
            <a:avLst/>
          </a:prstGeom>
          <a:noFill/>
          <a:ln/>
        </p:spPr>
        <p:txBody>
          <a:bodyPr wrap="square" lIns="0" tIns="0" rIns="0" bIns="0" rtlCol="0" anchor="t"/>
          <a:lstStyle/>
          <a:p>
            <a:pPr indent="0" marL="0">
              <a:buNone/>
            </a:pPr>
            <a:r>
              <a:rPr lang="en-US" sz="1300" dirty="0">
                <a:solidFill>
                  <a:schemeClr val="tx2"/>
                </a:solidFill>
              </a:rPr>
              <a:t>The verdict card quotes the 95% lower bound of the band accuracy. Adjacent bands are pooled so a higher score never shows a lower confidence. ECE above 0.2 means the confidence is not trustworthy for that detector under that shift.</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Appendix E: reproducibility and what is not yet measured</a:t>
            </a:r>
            <a:endParaRPr lang="en-US" sz="3200" dirty="0"/>
          </a:p>
        </p:txBody>
      </p:sp>
      <p:sp>
        <p:nvSpPr>
          <p:cNvPr id="3" name="repro"/>
          <p:cNvSpPr/>
          <p:nvPr/>
        </p:nvSpPr>
        <p:spPr>
          <a:xfrm>
            <a:off x="548640" y="1371600"/>
            <a:ext cx="5486400" cy="4800600"/>
          </a:xfrm>
          <a:prstGeom prst="roundRect">
            <a:avLst>
              <a:gd name="adj" fmla="val 2286"/>
            </a:avLst>
          </a:prstGeom>
          <a:solidFill>
            <a:schemeClr val="bg2"/>
          </a:solidFill>
          <a:ln w="9525">
            <a:solidFill>
              <a:schemeClr val="tx2">
                <a:alpha val="25000"/>
              </a:schemeClr>
            </a:solidFill>
            <a:prstDash val="solid"/>
          </a:ln>
        </p:spPr>
      </p:sp>
      <p:sp>
        <p:nvSpPr>
          <p:cNvPr id="4" name="Text 2"/>
          <p:cNvSpPr txBox="1"/>
          <p:nvPr/>
        </p:nvSpPr>
        <p:spPr>
          <a:xfrm>
            <a:off x="822960" y="1554480"/>
            <a:ext cx="45720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RUN IT</a:t>
            </a:r>
            <a:endParaRPr lang="en-US" sz="1300" dirty="0"/>
          </a:p>
        </p:txBody>
      </p:sp>
      <p:sp>
        <p:nvSpPr>
          <p:cNvPr id="5" name="Text 3"/>
          <p:cNvSpPr txBox="1"/>
          <p:nvPr/>
        </p:nvSpPr>
        <p:spPr>
          <a:xfrm>
            <a:off x="822960" y="1965960"/>
            <a:ext cx="4937760" cy="4023360"/>
          </a:xfrm>
          <a:prstGeom prst="rect">
            <a:avLst/>
          </a:prstGeom>
          <a:noFill/>
          <a:ln/>
        </p:spPr>
        <p:txBody>
          <a:bodyPr wrap="square" lIns="0" tIns="0" rIns="0" bIns="0" rtlCol="0" anchor="t"/>
          <a:lstStyle/>
          <a:p>
            <a:pPr indent="0" marL="0">
              <a:buNone/>
            </a:pPr>
            <a:r>
              <a:rPr lang="en-US" sz="1500" dirty="0">
                <a:solidFill>
                  <a:srgbClr val="22B8CF"/>
                </a:solidFill>
                <a:latin typeface="Consolas" pitchFamily="34" charset="0"/>
                <a:ea typeface="Consolas" pitchFamily="34" charset="-122"/>
                <a:cs typeface="Consolas" pitchFamily="34" charset="-120"/>
              </a:rPr>
              <a:t>./setup.sh</a:t>
            </a:r>
            <a:endParaRPr lang="en-US" sz="1500" dirty="0"/>
          </a:p>
          <a:p>
            <a:pPr indent="0" marL="0">
              <a:buNone/>
            </a:pPr>
            <a:r>
              <a:rPr lang="en-US" sz="1500" dirty="0">
                <a:solidFill>
                  <a:srgbClr val="22B8CF"/>
                </a:solidFill>
                <a:latin typeface="Consolas" pitchFamily="34" charset="0"/>
                <a:ea typeface="Consolas" pitchFamily="34" charset="-122"/>
                <a:cs typeface="Consolas" pitchFamily="34" charset="-120"/>
              </a:rPr>
              <a:t>./run_demo.sh</a:t>
            </a:r>
            <a:endParaRPr lang="en-US" sz="1500" dirty="0"/>
          </a:p>
          <a:p>
            <a:pPr indent="0" marL="0">
              <a:buNone/>
            </a:pPr>
            <a:r>
              <a:rPr lang="en-US" sz="1500" dirty="0">
                <a:solidFill>
                  <a:srgbClr val="000000"/>
                </a:solidFill>
              </a:rPr>
              <a:t> </a:t>
            </a:r>
            <a:endParaRPr lang="en-US" sz="1500" dirty="0"/>
          </a:p>
          <a:p>
            <a:pPr indent="0" marL="0">
              <a:buNone/>
            </a:pPr>
            <a:r>
              <a:rPr lang="en-US" sz="1500" dirty="0">
                <a:solidFill>
                  <a:srgbClr val="22B8CF"/>
                </a:solidFill>
                <a:latin typeface="Consolas" pitchFamily="34" charset="0"/>
                <a:ea typeface="Consolas" pitchFamily="34" charset="-122"/>
                <a:cs typeface="Consolas" pitchFamily="34" charset="-120"/>
              </a:rPr>
              <a:t>streamlit run dashboard.py</a:t>
            </a:r>
            <a:endParaRPr lang="en-US" sz="1500" dirty="0"/>
          </a:p>
          <a:p>
            <a:pPr indent="0" marL="0">
              <a:buNone/>
            </a:pPr>
            <a:r>
              <a:rPr lang="en-US" sz="1500" dirty="0">
                <a:solidFill>
                  <a:srgbClr val="000000"/>
                </a:solidFill>
              </a:rPr>
              <a:t> </a:t>
            </a:r>
            <a:endParaRPr lang="en-US" sz="1500" dirty="0"/>
          </a:p>
          <a:p>
            <a:pPr indent="0" marL="0">
              <a:buNone/>
            </a:pPr>
            <a:r>
              <a:rPr lang="en-US" sz="1500" dirty="0">
                <a:solidFill>
                  <a:srgbClr val="E5ECF4"/>
                </a:solidFill>
              </a:rPr>
              <a:t>Dataset frozen (576 graphs); re-running the lab produces a new random sample. All runs are logged in experiments.csv; the untuned v1 run is kept.</a:t>
            </a:r>
            <a:endParaRPr lang="en-US" sz="1500" dirty="0"/>
          </a:p>
        </p:txBody>
      </p:sp>
      <p:sp>
        <p:nvSpPr>
          <p:cNvPr id="6" name="unmeasured"/>
          <p:cNvSpPr/>
          <p:nvPr/>
        </p:nvSpPr>
        <p:spPr>
          <a:xfrm>
            <a:off x="6126480" y="1371600"/>
            <a:ext cx="5486400" cy="4800600"/>
          </a:xfrm>
          <a:prstGeom prst="roundRect">
            <a:avLst>
              <a:gd name="adj" fmla="val 2286"/>
            </a:avLst>
          </a:prstGeom>
          <a:solidFill>
            <a:schemeClr val="bg2"/>
          </a:solidFill>
          <a:ln w="9525">
            <a:solidFill>
              <a:schemeClr val="tx2">
                <a:alpha val="25000"/>
              </a:schemeClr>
            </a:solidFill>
            <a:prstDash val="solid"/>
          </a:ln>
        </p:spPr>
      </p:sp>
      <p:sp>
        <p:nvSpPr>
          <p:cNvPr id="7" name="Text 5"/>
          <p:cNvSpPr txBox="1"/>
          <p:nvPr/>
        </p:nvSpPr>
        <p:spPr>
          <a:xfrm>
            <a:off x="6400800" y="1554480"/>
            <a:ext cx="4572000" cy="320040"/>
          </a:xfrm>
          <a:prstGeom prst="rect">
            <a:avLst/>
          </a:prstGeom>
          <a:noFill/>
          <a:ln/>
        </p:spPr>
        <p:txBody>
          <a:bodyPr wrap="square" lIns="0" tIns="0" rIns="0" bIns="0" rtlCol="0" anchor="ctr"/>
          <a:lstStyle/>
          <a:p>
            <a:pPr indent="0" marL="0">
              <a:buNone/>
            </a:pPr>
            <a:r>
              <a:rPr lang="en-US" sz="1300" b="1" spc="200" kern="0" dirty="0">
                <a:solidFill>
                  <a:srgbClr val="F2C14E"/>
                </a:solidFill>
              </a:rPr>
              <a:t>NOT YET MEASURED</a:t>
            </a:r>
            <a:endParaRPr lang="en-US" sz="1300" dirty="0"/>
          </a:p>
        </p:txBody>
      </p:sp>
      <p:sp>
        <p:nvSpPr>
          <p:cNvPr id="8" name="Text 6"/>
          <p:cNvSpPr txBox="1"/>
          <p:nvPr/>
        </p:nvSpPr>
        <p:spPr>
          <a:xfrm>
            <a:off x="6400800" y="1965960"/>
            <a:ext cx="4937760" cy="41148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Clean-machine end-to-end re-run</a:t>
            </a:r>
            <a:endParaRPr lang="en-US" sz="1500" dirty="0"/>
          </a:p>
          <a:p>
            <a:pPr marL="203200" indent="-203200">
              <a:spcAft>
                <a:spcPts val="900"/>
              </a:spcAft>
              <a:buSzPct val="100000"/>
              <a:buChar char="•"/>
            </a:pPr>
            <a:r>
              <a:rPr lang="en-US" sz="1500" dirty="0">
                <a:solidFill>
                  <a:schemeClr val="tx1"/>
                </a:solidFill>
              </a:rPr>
              <a:t>Explanation faithfulness</a:t>
            </a:r>
            <a:endParaRPr lang="en-US" sz="1500" dirty="0"/>
          </a:p>
          <a:p>
            <a:pPr marL="203200" indent="-203200">
              <a:spcAft>
                <a:spcPts val="900"/>
              </a:spcAft>
              <a:buSzPct val="100000"/>
              <a:buChar char="•"/>
            </a:pPr>
            <a:r>
              <a:rPr lang="en-US" sz="1500" dirty="0">
                <a:solidFill>
                  <a:schemeClr val="tx1"/>
                </a:solidFill>
              </a:rPr>
              <a:t>Real-extension corpus</a:t>
            </a:r>
            <a:endParaRPr lang="en-US" sz="1500" dirty="0"/>
          </a:p>
          <a:p>
            <a:pPr marL="203200" indent="-203200">
              <a:spcAft>
                <a:spcPts val="900"/>
              </a:spcAft>
              <a:buSzPct val="100000"/>
              <a:buChar char="•"/>
            </a:pPr>
            <a:r>
              <a:rPr lang="en-US" sz="1500" dirty="0">
                <a:solidFill>
                  <a:schemeClr val="tx1"/>
                </a:solidFill>
              </a:rPr>
              <a:t>Adversarial evaluation</a:t>
            </a:r>
            <a:endParaRPr lang="en-US" sz="1500" dirty="0"/>
          </a:p>
          <a:p>
            <a:pPr marL="203200" indent="-203200">
              <a:spcAft>
                <a:spcPts val="900"/>
              </a:spcAft>
              <a:buSzPct val="100000"/>
              <a:buChar char="•"/>
            </a:pPr>
            <a:r>
              <a:rPr lang="en-US" sz="1500" dirty="0">
                <a:solidFill>
                  <a:schemeClr val="tx1"/>
                </a:solidFill>
              </a:rPr>
              <a:t>Browser-level (non-self-reported) telemetry</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Appendix F: references</a:t>
            </a:r>
            <a:endParaRPr lang="en-US" sz="3200" dirty="0"/>
          </a:p>
        </p:txBody>
      </p:sp>
      <p:sp>
        <p:nvSpPr>
          <p:cNvPr id="3" name="Text 1"/>
          <p:cNvSpPr txBox="1"/>
          <p:nvPr/>
        </p:nvSpPr>
        <p:spPr>
          <a:xfrm>
            <a:off x="548640" y="1371600"/>
            <a:ext cx="11064240" cy="4754880"/>
          </a:xfrm>
          <a:prstGeom prst="rect">
            <a:avLst/>
          </a:prstGeom>
          <a:noFill/>
          <a:ln/>
        </p:spPr>
        <p:txBody>
          <a:bodyPr wrap="square" lIns="0" tIns="0" rIns="0" bIns="0" rtlCol="0" anchor="t"/>
          <a:lstStyle/>
          <a:p>
            <a:pPr marL="203200" indent="-203200">
              <a:spcAft>
                <a:spcPts val="1100"/>
              </a:spcAft>
              <a:buSzPct val="100000"/>
              <a:buChar char="•"/>
            </a:pPr>
            <a:r>
              <a:rPr lang="en-US" sz="1500" dirty="0">
                <a:solidFill>
                  <a:schemeClr val="tx1"/>
                </a:solidFill>
              </a:rPr>
              <a:t>Fass, Somé, Backes, Stock. DoubleX: Statically Detecting Vulnerable Data Flows in Browser Extensions at Scale. ACM CCS 2021.</a:t>
            </a:r>
            <a:endParaRPr lang="en-US" sz="1500" dirty="0"/>
          </a:p>
          <a:p>
            <a:pPr marL="203200" indent="-203200">
              <a:spcAft>
                <a:spcPts val="1100"/>
              </a:spcAft>
              <a:buSzPct val="100000"/>
              <a:buChar char="•"/>
            </a:pPr>
            <a:r>
              <a:rPr lang="en-US" sz="1500" dirty="0">
                <a:solidFill>
                  <a:schemeClr val="tx1"/>
                </a:solidFill>
              </a:rPr>
              <a:t>Xie, Kasi Murali, Pearce, Li. Arcanum: Detecting and Evaluating the Privacy Risks of Browser Extensions on Web Pages and Web Content. USENIX Security 2024.</a:t>
            </a:r>
            <a:endParaRPr lang="en-US" sz="1500" dirty="0"/>
          </a:p>
          <a:p>
            <a:pPr marL="203200" indent="-203200">
              <a:spcAft>
                <a:spcPts val="1100"/>
              </a:spcAft>
              <a:buSzPct val="100000"/>
              <a:buChar char="•"/>
            </a:pPr>
            <a:r>
              <a:rPr lang="en-US" sz="1500" dirty="0">
                <a:solidFill>
                  <a:schemeClr val="tx1"/>
                </a:solidFill>
              </a:rPr>
              <a:t>I Spy with My Little Eye: Analysis and Detection of Spying Browser Extensions. arXiv:1612.00766.</a:t>
            </a:r>
            <a:endParaRPr lang="en-US" sz="1500" dirty="0"/>
          </a:p>
          <a:p>
            <a:pPr marL="203200" indent="-203200">
              <a:spcAft>
                <a:spcPts val="1100"/>
              </a:spcAft>
              <a:buSzPct val="100000"/>
              <a:buChar char="•"/>
            </a:pPr>
            <a:r>
              <a:rPr lang="en-US" sz="1500" dirty="0">
                <a:solidFill>
                  <a:schemeClr val="tx1"/>
                </a:solidFill>
              </a:rPr>
              <a:t>The Blind Spot of Extension Security: WebAssembly–JavaScript Collaborative Attacks on Chrome. Electronics, doi:10.3390/electronics15143049 (title only; read before citing).</a:t>
            </a:r>
            <a:endParaRPr lang="en-US" sz="1500" dirty="0"/>
          </a:p>
          <a:p>
            <a:pPr marL="203200" indent="-203200">
              <a:spcAft>
                <a:spcPts val="1100"/>
              </a:spcAft>
              <a:buSzPct val="100000"/>
              <a:buChar char="•"/>
            </a:pPr>
            <a:r>
              <a:rPr lang="en-US" sz="1500" dirty="0">
                <a:solidFill>
                  <a:schemeClr val="tx1"/>
                </a:solidFill>
              </a:rPr>
              <a:t>Kipf and Welling. Semi-Supervised Classification with Graph Convolutional Networks. ICLR 2017.</a:t>
            </a:r>
            <a:endParaRPr lang="en-US" sz="1500" dirty="0"/>
          </a:p>
          <a:p>
            <a:pPr marL="203200" indent="-203200">
              <a:spcAft>
                <a:spcPts val="1100"/>
              </a:spcAft>
              <a:buSzPct val="100000"/>
              <a:buChar char="•"/>
            </a:pPr>
            <a:r>
              <a:rPr lang="en-US" sz="1500" dirty="0">
                <a:solidFill>
                  <a:schemeClr val="tx1"/>
                </a:solidFill>
              </a:rPr>
              <a:t>Hamilton, Ying, Leskovec. Inductive Representation Learning on Large Graphs. NeurIPS 2017.</a:t>
            </a:r>
            <a:endParaRPr lang="en-US" sz="1500" dirty="0"/>
          </a:p>
          <a:p>
            <a:pPr marL="203200" indent="-203200">
              <a:spcAft>
                <a:spcPts val="1100"/>
              </a:spcAft>
              <a:buSzPct val="100000"/>
              <a:buChar char="•"/>
            </a:pPr>
            <a:r>
              <a:rPr lang="en-US" sz="1500" dirty="0">
                <a:solidFill>
                  <a:schemeClr val="tx1"/>
                </a:solidFill>
              </a:rPr>
              <a:t>Schlichtkrull et al. Modeling Relational Data with Graph Convolutional Networks. ESWC 2018.</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AuthGraph Dark">
  <a:themeElements>
    <a:clrScheme name="AuthGraph Dark">
      <a:dk1>
        <a:srgbClr val="E5ECF4"/>
      </a:dk1>
      <a:lt1>
        <a:srgbClr val="0A1220"/>
      </a:lt1>
      <a:dk2>
        <a:srgbClr val="8B9BB4"/>
      </a:dk2>
      <a:lt2>
        <a:srgbClr val="0F1B2D"/>
      </a:lt2>
      <a:accent1>
        <a:srgbClr val="22B8CF"/>
      </a:accent1>
      <a:accent2>
        <a:srgbClr val="34D399"/>
      </a:accent2>
      <a:accent3>
        <a:srgbClr val="F2C14E"/>
      </a:accent3>
      <a:accent4>
        <a:srgbClr val="FF5C5C"/>
      </a:accent4>
      <a:accent5>
        <a:srgbClr val="A78BFA"/>
      </a:accent5>
      <a:accent6>
        <a:srgbClr val="F59E0B"/>
      </a:accent6>
      <a:hlink>
        <a:srgbClr val="22B8CF"/>
      </a:hlink>
      <a:folHlink>
        <a:srgbClr val="A78BFA"/>
      </a:folHlink>
    </a:clrScheme>
    <a:fontScheme name="AuthGraph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AuthGraph: authentication-aware graph learning for credential flows in browser extensions</dc:title>
  <dc:subject>PptxGenJS Presentation</dc:subject>
  <dc:creator>Neranjana</dc:creator>
  <cp:lastModifiedBy>Neranjana</cp:lastModifiedBy>
  <cp:revision>1</cp:revision>
  <dcterms:created xsi:type="dcterms:W3CDTF">2026-10-17T14:38:57Z</dcterms:created>
  <dcterms:modified xsi:type="dcterms:W3CDTF">2026-10-17T14:38:57Z</dcterms:modified>
</cp:coreProperties>
</file>